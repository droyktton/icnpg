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74" r:id="rId2"/>
    <p:sldMasterId id="2147483661" r:id="rId3"/>
  </p:sldMasterIdLst>
  <p:notesMasterIdLst>
    <p:notesMasterId r:id="rId26"/>
  </p:notesMasterIdLst>
  <p:sldIdLst>
    <p:sldId id="256" r:id="rId4"/>
    <p:sldId id="305" r:id="rId5"/>
    <p:sldId id="304" r:id="rId6"/>
    <p:sldId id="289" r:id="rId7"/>
    <p:sldId id="293" r:id="rId8"/>
    <p:sldId id="294" r:id="rId9"/>
    <p:sldId id="295" r:id="rId10"/>
    <p:sldId id="296" r:id="rId11"/>
    <p:sldId id="297" r:id="rId12"/>
    <p:sldId id="299" r:id="rId13"/>
    <p:sldId id="301" r:id="rId14"/>
    <p:sldId id="300" r:id="rId15"/>
    <p:sldId id="306" r:id="rId16"/>
    <p:sldId id="307" r:id="rId17"/>
    <p:sldId id="298" r:id="rId18"/>
    <p:sldId id="308" r:id="rId19"/>
    <p:sldId id="302" r:id="rId20"/>
    <p:sldId id="309" r:id="rId21"/>
    <p:sldId id="310" r:id="rId22"/>
    <p:sldId id="311" r:id="rId23"/>
    <p:sldId id="303" r:id="rId24"/>
    <p:sldId id="312" r:id="rId25"/>
  </p:sldIdLst>
  <p:sldSz cx="10080625" cy="7559675"/>
  <p:notesSz cx="7559675" cy="10691813"/>
  <p:defaultTextStyle>
    <a:defPPr>
      <a:defRPr lang="en-GB"/>
    </a:defPPr>
    <a:lvl1pPr algn="l" defTabSz="449263" rtl="0" fontAlgn="base" hangingPunct="0">
      <a:lnSpc>
        <a:spcPct val="96000"/>
      </a:lnSpc>
      <a:spcBef>
        <a:spcPct val="0"/>
      </a:spcBef>
      <a:spcAft>
        <a:spcPct val="0"/>
      </a:spcAft>
      <a:buClr>
        <a:srgbClr val="000000"/>
      </a:buClr>
      <a:buSzPct val="100000"/>
      <a:buFont typeface="Times New Roman" charset="0"/>
      <a:defRPr kern="1200">
        <a:solidFill>
          <a:schemeClr val="tx1"/>
        </a:solidFill>
        <a:latin typeface="Gill Sans" charset="0"/>
        <a:ea typeface="SimSun" charset="0"/>
        <a:cs typeface="SimSun" charset="0"/>
      </a:defRPr>
    </a:lvl1pPr>
    <a:lvl2pPr marL="742950" indent="-285750" algn="l" defTabSz="449263" rtl="0" fontAlgn="base" hangingPunct="0">
      <a:lnSpc>
        <a:spcPct val="96000"/>
      </a:lnSpc>
      <a:spcBef>
        <a:spcPct val="0"/>
      </a:spcBef>
      <a:spcAft>
        <a:spcPct val="0"/>
      </a:spcAft>
      <a:buClr>
        <a:srgbClr val="000000"/>
      </a:buClr>
      <a:buSzPct val="100000"/>
      <a:buFont typeface="Times New Roman" charset="0"/>
      <a:defRPr kern="1200">
        <a:solidFill>
          <a:schemeClr val="tx1"/>
        </a:solidFill>
        <a:latin typeface="Gill Sans" charset="0"/>
        <a:ea typeface="SimSun" charset="0"/>
        <a:cs typeface="SimSun" charset="0"/>
      </a:defRPr>
    </a:lvl2pPr>
    <a:lvl3pPr marL="1143000" indent="-228600" algn="l" defTabSz="449263" rtl="0" fontAlgn="base" hangingPunct="0">
      <a:lnSpc>
        <a:spcPct val="96000"/>
      </a:lnSpc>
      <a:spcBef>
        <a:spcPct val="0"/>
      </a:spcBef>
      <a:spcAft>
        <a:spcPct val="0"/>
      </a:spcAft>
      <a:buClr>
        <a:srgbClr val="000000"/>
      </a:buClr>
      <a:buSzPct val="100000"/>
      <a:buFont typeface="Times New Roman" charset="0"/>
      <a:defRPr kern="1200">
        <a:solidFill>
          <a:schemeClr val="tx1"/>
        </a:solidFill>
        <a:latin typeface="Gill Sans" charset="0"/>
        <a:ea typeface="SimSun" charset="0"/>
        <a:cs typeface="SimSun" charset="0"/>
      </a:defRPr>
    </a:lvl3pPr>
    <a:lvl4pPr marL="1600200" indent="-228600" algn="l" defTabSz="449263" rtl="0" fontAlgn="base" hangingPunct="0">
      <a:lnSpc>
        <a:spcPct val="96000"/>
      </a:lnSpc>
      <a:spcBef>
        <a:spcPct val="0"/>
      </a:spcBef>
      <a:spcAft>
        <a:spcPct val="0"/>
      </a:spcAft>
      <a:buClr>
        <a:srgbClr val="000000"/>
      </a:buClr>
      <a:buSzPct val="100000"/>
      <a:buFont typeface="Times New Roman" charset="0"/>
      <a:defRPr kern="1200">
        <a:solidFill>
          <a:schemeClr val="tx1"/>
        </a:solidFill>
        <a:latin typeface="Gill Sans" charset="0"/>
        <a:ea typeface="SimSun" charset="0"/>
        <a:cs typeface="SimSun" charset="0"/>
      </a:defRPr>
    </a:lvl4pPr>
    <a:lvl5pPr marL="2057400" indent="-228600" algn="l" defTabSz="449263" rtl="0" fontAlgn="base" hangingPunct="0">
      <a:lnSpc>
        <a:spcPct val="96000"/>
      </a:lnSpc>
      <a:spcBef>
        <a:spcPct val="0"/>
      </a:spcBef>
      <a:spcAft>
        <a:spcPct val="0"/>
      </a:spcAft>
      <a:buClr>
        <a:srgbClr val="000000"/>
      </a:buClr>
      <a:buSzPct val="100000"/>
      <a:buFont typeface="Times New Roman" charset="0"/>
      <a:defRPr kern="1200">
        <a:solidFill>
          <a:schemeClr val="tx1"/>
        </a:solidFill>
        <a:latin typeface="Gill Sans" charset="0"/>
        <a:ea typeface="SimSun" charset="0"/>
        <a:cs typeface="SimSun" charset="0"/>
      </a:defRPr>
    </a:lvl5pPr>
    <a:lvl6pPr marL="2286000" algn="l" defTabSz="457200" rtl="0" eaLnBrk="1" latinLnBrk="0" hangingPunct="1">
      <a:defRPr kern="1200">
        <a:solidFill>
          <a:schemeClr val="tx1"/>
        </a:solidFill>
        <a:latin typeface="Gill Sans" charset="0"/>
        <a:ea typeface="SimSun" charset="0"/>
        <a:cs typeface="SimSun" charset="0"/>
      </a:defRPr>
    </a:lvl6pPr>
    <a:lvl7pPr marL="2743200" algn="l" defTabSz="457200" rtl="0" eaLnBrk="1" latinLnBrk="0" hangingPunct="1">
      <a:defRPr kern="1200">
        <a:solidFill>
          <a:schemeClr val="tx1"/>
        </a:solidFill>
        <a:latin typeface="Gill Sans" charset="0"/>
        <a:ea typeface="SimSun" charset="0"/>
        <a:cs typeface="SimSun" charset="0"/>
      </a:defRPr>
    </a:lvl7pPr>
    <a:lvl8pPr marL="3200400" algn="l" defTabSz="457200" rtl="0" eaLnBrk="1" latinLnBrk="0" hangingPunct="1">
      <a:defRPr kern="1200">
        <a:solidFill>
          <a:schemeClr val="tx1"/>
        </a:solidFill>
        <a:latin typeface="Gill Sans" charset="0"/>
        <a:ea typeface="SimSun" charset="0"/>
        <a:cs typeface="SimSun" charset="0"/>
      </a:defRPr>
    </a:lvl8pPr>
    <a:lvl9pPr marL="3657600" algn="l" defTabSz="457200" rtl="0" eaLnBrk="1" latinLnBrk="0" hangingPunct="1">
      <a:defRPr kern="1200">
        <a:solidFill>
          <a:schemeClr val="tx1"/>
        </a:solidFill>
        <a:latin typeface="Gill Sans" charset="0"/>
        <a:ea typeface="SimSun" charset="0"/>
        <a:cs typeface="SimSun"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9" autoAdjust="0"/>
    <p:restoredTop sz="76661" autoAdjust="0"/>
  </p:normalViewPr>
  <p:slideViewPr>
    <p:cSldViewPr>
      <p:cViewPr varScale="1">
        <p:scale>
          <a:sx n="80" d="100"/>
          <a:sy n="80" d="100"/>
        </p:scale>
        <p:origin x="2280" y="102"/>
      </p:cViewPr>
      <p:guideLst>
        <p:guide orient="horz" pos="2160"/>
        <p:guide pos="2880"/>
      </p:guideLst>
    </p:cSldViewPr>
  </p:slideViewPr>
  <p:outlineViewPr>
    <p:cViewPr varScale="1">
      <p:scale>
        <a:sx n="170" d="200"/>
        <a:sy n="170" d="200"/>
      </p:scale>
      <p:origin x="0" y="18648"/>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p:cNvSpPr>
          <p:nvPr>
            <p:ph type="sldImg"/>
          </p:nvPr>
        </p:nvSpPr>
        <p:spPr bwMode="auto">
          <a:xfrm>
            <a:off x="1106488" y="812800"/>
            <a:ext cx="5343525" cy="4006850"/>
          </a:xfrm>
          <a:prstGeom prst="rect">
            <a:avLst/>
          </a:prstGeom>
          <a:solidFill>
            <a:srgbClr val="FFFFFF"/>
          </a:solidFill>
          <a:ln>
            <a:noFill/>
          </a:ln>
          <a:effectLst/>
          <a:extLs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sp>
      <p:sp>
        <p:nvSpPr>
          <p:cNvPr id="2050" name="Rectangle 2"/>
          <p:cNvSpPr>
            <a:spLocks noGrp="1" noChangeArrowheads="1"/>
          </p:cNvSpPr>
          <p:nvPr>
            <p:ph type="body"/>
          </p:nvPr>
        </p:nvSpPr>
        <p:spPr bwMode="auto">
          <a:xfrm>
            <a:off x="755650" y="5078413"/>
            <a:ext cx="6046788" cy="48101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endParaRPr lang="es-ES"/>
          </a:p>
        </p:txBody>
      </p:sp>
      <p:sp>
        <p:nvSpPr>
          <p:cNvPr id="2051" name="Rectangle 3"/>
          <p:cNvSpPr>
            <a:spLocks noGrp="1" noChangeArrowheads="1"/>
          </p:cNvSpPr>
          <p:nvPr>
            <p:ph type="hdr"/>
          </p:nvPr>
        </p:nvSpPr>
        <p:spPr bwMode="auto">
          <a:xfrm>
            <a:off x="0" y="0"/>
            <a:ext cx="3279775"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 pos="2695575" algn="l"/>
                <a:tab pos="3144838" algn="l"/>
              </a:tabLst>
              <a:defRPr sz="1400">
                <a:solidFill>
                  <a:srgbClr val="000000"/>
                </a:solidFill>
                <a:cs typeface="Tahoma" charset="0"/>
              </a:defRPr>
            </a:lvl1pPr>
          </a:lstStyle>
          <a:p>
            <a:endParaRPr lang="es-AR"/>
          </a:p>
        </p:txBody>
      </p:sp>
      <p:sp>
        <p:nvSpPr>
          <p:cNvPr id="2052" name="Rectangle 4"/>
          <p:cNvSpPr>
            <a:spLocks noGrp="1" noChangeArrowheads="1"/>
          </p:cNvSpPr>
          <p:nvPr>
            <p:ph type="dt"/>
          </p:nvPr>
        </p:nvSpPr>
        <p:spPr bwMode="auto">
          <a:xfrm>
            <a:off x="4278313" y="0"/>
            <a:ext cx="3279775"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 pos="2695575" algn="l"/>
                <a:tab pos="3144838" algn="l"/>
              </a:tabLst>
              <a:defRPr sz="1400">
                <a:solidFill>
                  <a:srgbClr val="000000"/>
                </a:solidFill>
                <a:cs typeface="Tahoma" charset="0"/>
              </a:defRPr>
            </a:lvl1pPr>
          </a:lstStyle>
          <a:p>
            <a:endParaRPr lang="es-AR"/>
          </a:p>
        </p:txBody>
      </p:sp>
      <p:sp>
        <p:nvSpPr>
          <p:cNvPr id="2053" name="Rectangle 5"/>
          <p:cNvSpPr>
            <a:spLocks noGrp="1" noChangeArrowheads="1"/>
          </p:cNvSpPr>
          <p:nvPr>
            <p:ph type="ftr"/>
          </p:nvPr>
        </p:nvSpPr>
        <p:spPr bwMode="auto">
          <a:xfrm>
            <a:off x="0" y="10156825"/>
            <a:ext cx="3279775"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b" anchorCtr="0" compatLnSpc="1">
            <a:prstTxWarp prst="textNoShape">
              <a:avLst/>
            </a:prstTxWarp>
          </a:bodyPr>
          <a:lstStyle>
            <a:lvl1pPr>
              <a:tabLst>
                <a:tab pos="449263" algn="l"/>
                <a:tab pos="898525" algn="l"/>
                <a:tab pos="1347788" algn="l"/>
                <a:tab pos="1797050" algn="l"/>
                <a:tab pos="2246313" algn="l"/>
                <a:tab pos="2695575" algn="l"/>
                <a:tab pos="3144838" algn="l"/>
              </a:tabLst>
              <a:defRPr sz="1400">
                <a:solidFill>
                  <a:srgbClr val="000000"/>
                </a:solidFill>
                <a:cs typeface="Tahoma" charset="0"/>
              </a:defRPr>
            </a:lvl1pPr>
          </a:lstStyle>
          <a:p>
            <a:endParaRPr lang="es-AR"/>
          </a:p>
        </p:txBody>
      </p:sp>
      <p:sp>
        <p:nvSpPr>
          <p:cNvPr id="2054" name="Rectangle 6"/>
          <p:cNvSpPr>
            <a:spLocks noGrp="1" noChangeArrowheads="1"/>
          </p:cNvSpPr>
          <p:nvPr>
            <p:ph type="sldNum"/>
          </p:nvPr>
        </p:nvSpPr>
        <p:spPr bwMode="auto">
          <a:xfrm>
            <a:off x="4278313" y="10156825"/>
            <a:ext cx="3279775"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b" anchorCtr="0" compatLnSpc="1">
            <a:prstTxWarp prst="textNoShape">
              <a:avLst/>
            </a:prstTxWarp>
          </a:bodyPr>
          <a:lstStyle>
            <a:lvl1pPr algn="r">
              <a:tabLst>
                <a:tab pos="449263" algn="l"/>
                <a:tab pos="898525" algn="l"/>
                <a:tab pos="1347788" algn="l"/>
                <a:tab pos="1797050" algn="l"/>
                <a:tab pos="2246313" algn="l"/>
                <a:tab pos="2695575" algn="l"/>
                <a:tab pos="3144838" algn="l"/>
              </a:tabLst>
              <a:defRPr sz="1400">
                <a:solidFill>
                  <a:srgbClr val="000000"/>
                </a:solidFill>
                <a:cs typeface="Tahoma" charset="0"/>
              </a:defRPr>
            </a:lvl1pPr>
          </a:lstStyle>
          <a:p>
            <a:fld id="{FF78C5FE-1AA3-7749-A09C-E950D48D24B4}" type="slidenum">
              <a:rPr lang="es-AR"/>
              <a:pPr/>
              <a:t>‹Nº›</a:t>
            </a:fld>
            <a:endParaRPr lang="es-AR"/>
          </a:p>
        </p:txBody>
      </p:sp>
    </p:spTree>
    <p:extLst>
      <p:ext uri="{BB962C8B-B14F-4D97-AF65-F5344CB8AC3E}">
        <p14:creationId xmlns:p14="http://schemas.microsoft.com/office/powerpoint/2010/main" val="496332341"/>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1pPr>
    <a:lvl2pPr marL="742950" indent="-28575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2pPr>
    <a:lvl3pPr marL="11430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3pPr>
    <a:lvl4pPr marL="16002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4pPr>
    <a:lvl5pPr marL="20574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9C6D0719-CBF1-1E43-BB49-BC4C5857D158}" type="slidenum">
              <a:rPr lang="es-AR"/>
              <a:pPr/>
              <a:t>1</a:t>
            </a:fld>
            <a:endParaRPr lang="es-AR"/>
          </a:p>
        </p:txBody>
      </p:sp>
      <p:sp>
        <p:nvSpPr>
          <p:cNvPr id="8193"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8194"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2639814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smtClean="0">
                <a:solidFill>
                  <a:srgbClr val="000000"/>
                </a:solidFill>
                <a:effectLst/>
                <a:latin typeface="Times New Roman" charset="0"/>
                <a:ea typeface="ＭＳ Ｐゴシック" charset="0"/>
                <a:cs typeface="+mn-cs"/>
              </a:rPr>
              <a:t>Create a </a:t>
            </a:r>
            <a:r>
              <a:rPr lang="en-US" dirty="0" smtClean="0">
                <a:effectLst/>
              </a:rPr>
              <a:t>Module</a:t>
            </a:r>
            <a:r>
              <a:rPr lang="en-US" sz="1200" b="0" i="0" kern="1200" dirty="0" smtClean="0">
                <a:solidFill>
                  <a:srgbClr val="000000"/>
                </a:solidFill>
                <a:effectLst/>
                <a:latin typeface="Times New Roman" charset="0"/>
                <a:ea typeface="ＭＳ Ｐゴシック" charset="0"/>
                <a:cs typeface="+mn-cs"/>
              </a:rPr>
              <a:t> from the CUDA source code </a:t>
            </a:r>
            <a:r>
              <a:rPr lang="en-US" sz="1200" b="0" i="1" kern="1200" dirty="0" smtClean="0">
                <a:solidFill>
                  <a:srgbClr val="000000"/>
                </a:solidFill>
                <a:effectLst/>
                <a:latin typeface="Times New Roman" charset="0"/>
                <a:ea typeface="ＭＳ Ｐゴシック" charset="0"/>
                <a:cs typeface="+mn-cs"/>
              </a:rPr>
              <a:t>source</a:t>
            </a:r>
            <a:r>
              <a:rPr lang="en-US" sz="1200" b="0" i="0" kern="1200" dirty="0" smtClean="0">
                <a:solidFill>
                  <a:srgbClr val="000000"/>
                </a:solidFill>
                <a:effectLst/>
                <a:latin typeface="Times New Roman" charset="0"/>
                <a:ea typeface="ＭＳ Ｐゴシック" charset="0"/>
                <a:cs typeface="+mn-cs"/>
              </a:rPr>
              <a:t>. The </a:t>
            </a:r>
            <a:r>
              <a:rPr lang="en-US" sz="1200" b="0" i="0" kern="1200" dirty="0" err="1" smtClean="0">
                <a:solidFill>
                  <a:srgbClr val="000000"/>
                </a:solidFill>
                <a:effectLst/>
                <a:latin typeface="Times New Roman" charset="0"/>
                <a:ea typeface="ＭＳ Ｐゴシック" charset="0"/>
                <a:cs typeface="+mn-cs"/>
              </a:rPr>
              <a:t>Nvidia</a:t>
            </a:r>
            <a:r>
              <a:rPr lang="en-US" sz="1200" b="0" i="0" kern="1200" dirty="0" smtClean="0">
                <a:solidFill>
                  <a:srgbClr val="000000"/>
                </a:solidFill>
                <a:effectLst/>
                <a:latin typeface="Times New Roman" charset="0"/>
                <a:ea typeface="ＭＳ Ｐゴシック" charset="0"/>
                <a:cs typeface="+mn-cs"/>
              </a:rPr>
              <a:t> compiler </a:t>
            </a:r>
            <a:r>
              <a:rPr lang="en-US" sz="1200" b="0" i="1" kern="1200" dirty="0" err="1" smtClean="0">
                <a:solidFill>
                  <a:srgbClr val="000000"/>
                </a:solidFill>
                <a:effectLst/>
                <a:latin typeface="Times New Roman" charset="0"/>
                <a:ea typeface="ＭＳ Ｐゴシック" charset="0"/>
                <a:cs typeface="+mn-cs"/>
              </a:rPr>
              <a:t>nvcc</a:t>
            </a:r>
            <a:r>
              <a:rPr lang="en-US" sz="1200" b="0" i="0" kern="1200" dirty="0" smtClean="0">
                <a:solidFill>
                  <a:srgbClr val="000000"/>
                </a:solidFill>
                <a:effectLst/>
                <a:latin typeface="Times New Roman" charset="0"/>
                <a:ea typeface="ＭＳ Ｐゴシック" charset="0"/>
                <a:cs typeface="+mn-cs"/>
              </a:rPr>
              <a:t> is assumed to be on the </a:t>
            </a:r>
            <a:r>
              <a:rPr lang="en-US" dirty="0" smtClean="0">
                <a:effectLst/>
              </a:rPr>
              <a:t>PATH</a:t>
            </a:r>
            <a:r>
              <a:rPr lang="en-US" sz="1200" b="0" i="0" kern="1200" dirty="0" smtClean="0">
                <a:solidFill>
                  <a:srgbClr val="000000"/>
                </a:solidFill>
                <a:effectLst/>
                <a:latin typeface="Times New Roman" charset="0"/>
                <a:ea typeface="ＭＳ Ｐゴシック" charset="0"/>
                <a:cs typeface="+mn-cs"/>
              </a:rPr>
              <a:t> if no path to it is specified, and is invoked with </a:t>
            </a:r>
            <a:r>
              <a:rPr lang="en-US" sz="1200" b="0" i="1" kern="1200" dirty="0" smtClean="0">
                <a:solidFill>
                  <a:srgbClr val="000000"/>
                </a:solidFill>
                <a:effectLst/>
                <a:latin typeface="Times New Roman" charset="0"/>
                <a:ea typeface="ＭＳ Ｐゴシック" charset="0"/>
                <a:cs typeface="+mn-cs"/>
              </a:rPr>
              <a:t>options</a:t>
            </a:r>
            <a:r>
              <a:rPr lang="en-US" sz="1200" b="0" i="0" kern="1200" dirty="0" smtClean="0">
                <a:solidFill>
                  <a:srgbClr val="000000"/>
                </a:solidFill>
                <a:effectLst/>
                <a:latin typeface="Times New Roman" charset="0"/>
                <a:ea typeface="ＭＳ Ｐゴシック" charset="0"/>
                <a:cs typeface="+mn-cs"/>
              </a:rPr>
              <a:t> to compile the code. If </a:t>
            </a:r>
            <a:r>
              <a:rPr lang="en-US" sz="1200" b="0" i="1" kern="1200" dirty="0" smtClean="0">
                <a:solidFill>
                  <a:srgbClr val="000000"/>
                </a:solidFill>
                <a:effectLst/>
                <a:latin typeface="Times New Roman" charset="0"/>
                <a:ea typeface="ＭＳ Ｐゴシック" charset="0"/>
                <a:cs typeface="+mn-cs"/>
              </a:rPr>
              <a:t>keep</a:t>
            </a:r>
            <a:r>
              <a:rPr lang="en-US" sz="1200" b="0" i="0" kern="1200" dirty="0" smtClean="0">
                <a:solidFill>
                  <a:srgbClr val="000000"/>
                </a:solidFill>
                <a:effectLst/>
                <a:latin typeface="Times New Roman" charset="0"/>
                <a:ea typeface="ＭＳ Ｐゴシック" charset="0"/>
                <a:cs typeface="+mn-cs"/>
              </a:rPr>
              <a:t> is </a:t>
            </a:r>
            <a:r>
              <a:rPr lang="en-US" sz="1200" b="0" i="1" kern="1200" dirty="0" smtClean="0">
                <a:solidFill>
                  <a:srgbClr val="000000"/>
                </a:solidFill>
                <a:effectLst/>
                <a:latin typeface="Times New Roman" charset="0"/>
                <a:ea typeface="ＭＳ Ｐゴシック" charset="0"/>
                <a:cs typeface="+mn-cs"/>
              </a:rPr>
              <a:t>True</a:t>
            </a:r>
            <a:r>
              <a:rPr lang="en-US" sz="1200" b="0" i="0" kern="1200" dirty="0" smtClean="0">
                <a:solidFill>
                  <a:srgbClr val="000000"/>
                </a:solidFill>
                <a:effectLst/>
                <a:latin typeface="Times New Roman" charset="0"/>
                <a:ea typeface="ＭＳ Ｐゴシック" charset="0"/>
                <a:cs typeface="+mn-cs"/>
              </a:rPr>
              <a:t>, the compiler output directory is kept, and a line indicating its location in the file system is printed for debugging purposes. </a:t>
            </a:r>
          </a:p>
          <a:p>
            <a:endParaRPr lang="en-US" sz="1200" b="0" i="0" kern="1200" dirty="0" smtClean="0">
              <a:solidFill>
                <a:srgbClr val="000000"/>
              </a:solidFill>
              <a:effectLst/>
              <a:latin typeface="Times New Roman" charset="0"/>
              <a:ea typeface="ＭＳ Ｐゴシック" charset="0"/>
              <a:cs typeface="+mn-cs"/>
            </a:endParaRPr>
          </a:p>
          <a:p>
            <a:r>
              <a:rPr lang="en-US" sz="1200" b="0" i="0" kern="1200" dirty="0" smtClean="0">
                <a:solidFill>
                  <a:srgbClr val="000000"/>
                </a:solidFill>
                <a:effectLst/>
                <a:latin typeface="Times New Roman" charset="0"/>
                <a:ea typeface="ＭＳ Ｐゴシック" charset="0"/>
                <a:cs typeface="+mn-cs"/>
              </a:rPr>
              <a:t>Unless </a:t>
            </a:r>
            <a:r>
              <a:rPr lang="en-US" sz="1200" b="0" i="1" kern="1200" dirty="0" err="1" smtClean="0">
                <a:solidFill>
                  <a:srgbClr val="000000"/>
                </a:solidFill>
                <a:effectLst/>
                <a:latin typeface="Times New Roman" charset="0"/>
                <a:ea typeface="ＭＳ Ｐゴシック" charset="0"/>
                <a:cs typeface="+mn-cs"/>
              </a:rPr>
              <a:t>no_extern_c</a:t>
            </a:r>
            <a:r>
              <a:rPr lang="en-US" sz="1200" b="0" i="0" kern="1200" dirty="0" smtClean="0">
                <a:solidFill>
                  <a:srgbClr val="000000"/>
                </a:solidFill>
                <a:effectLst/>
                <a:latin typeface="Times New Roman" charset="0"/>
                <a:ea typeface="ＭＳ Ｐゴシック" charset="0"/>
                <a:cs typeface="+mn-cs"/>
              </a:rPr>
              <a:t> is </a:t>
            </a:r>
            <a:r>
              <a:rPr lang="en-US" sz="1200" b="0" i="1" kern="1200" dirty="0" smtClean="0">
                <a:solidFill>
                  <a:srgbClr val="000000"/>
                </a:solidFill>
                <a:effectLst/>
                <a:latin typeface="Times New Roman" charset="0"/>
                <a:ea typeface="ＭＳ Ｐゴシック" charset="0"/>
                <a:cs typeface="+mn-cs"/>
              </a:rPr>
              <a:t>True</a:t>
            </a:r>
            <a:r>
              <a:rPr lang="en-US" sz="1200" b="0" i="0" kern="1200" dirty="0" smtClean="0">
                <a:solidFill>
                  <a:srgbClr val="000000"/>
                </a:solidFill>
                <a:effectLst/>
                <a:latin typeface="Times New Roman" charset="0"/>
                <a:ea typeface="ＭＳ Ｐゴシック" charset="0"/>
                <a:cs typeface="+mn-cs"/>
              </a:rPr>
              <a:t>, the given source code is wrapped in </a:t>
            </a:r>
            <a:r>
              <a:rPr lang="en-US" sz="1200" b="0" i="1" kern="1200" dirty="0" smtClean="0">
                <a:solidFill>
                  <a:srgbClr val="000000"/>
                </a:solidFill>
                <a:effectLst/>
                <a:latin typeface="Times New Roman" charset="0"/>
                <a:ea typeface="ＭＳ Ｐゴシック" charset="0"/>
                <a:cs typeface="+mn-cs"/>
              </a:rPr>
              <a:t>extern “C” { … }</a:t>
            </a:r>
            <a:r>
              <a:rPr lang="en-US" sz="1200" b="0" i="0" kern="1200" dirty="0" smtClean="0">
                <a:solidFill>
                  <a:srgbClr val="000000"/>
                </a:solidFill>
                <a:effectLst/>
                <a:latin typeface="Times New Roman" charset="0"/>
                <a:ea typeface="ＭＳ Ｐゴシック" charset="0"/>
                <a:cs typeface="+mn-cs"/>
              </a:rPr>
              <a:t> to prevent C++ name mangling.</a:t>
            </a:r>
          </a:p>
          <a:p>
            <a:endParaRPr lang="en-US" sz="1200" b="0" i="0" kern="1200" dirty="0" smtClean="0">
              <a:solidFill>
                <a:srgbClr val="000000"/>
              </a:solidFill>
              <a:effectLst/>
              <a:latin typeface="Times New Roman" charset="0"/>
              <a:ea typeface="ＭＳ Ｐゴシック" charset="0"/>
              <a:cs typeface="+mn-cs"/>
            </a:endParaRPr>
          </a:p>
          <a:p>
            <a:r>
              <a:rPr lang="en-US" sz="1200" b="0" i="1" kern="1200" dirty="0" smtClean="0">
                <a:solidFill>
                  <a:srgbClr val="000000"/>
                </a:solidFill>
                <a:effectLst/>
                <a:latin typeface="Times New Roman" charset="0"/>
                <a:ea typeface="ＭＳ Ｐゴシック" charset="0"/>
                <a:cs typeface="+mn-cs"/>
              </a:rPr>
              <a:t>arch</a:t>
            </a:r>
            <a:r>
              <a:rPr lang="en-US" sz="1200" b="0" i="0" kern="1200" dirty="0" smtClean="0">
                <a:solidFill>
                  <a:srgbClr val="000000"/>
                </a:solidFill>
                <a:effectLst/>
                <a:latin typeface="Times New Roman" charset="0"/>
                <a:ea typeface="ＭＳ Ｐゴシック" charset="0"/>
                <a:cs typeface="+mn-cs"/>
              </a:rPr>
              <a:t> and </a:t>
            </a:r>
            <a:r>
              <a:rPr lang="en-US" sz="1200" b="0" i="1" kern="1200" dirty="0" smtClean="0">
                <a:solidFill>
                  <a:srgbClr val="000000"/>
                </a:solidFill>
                <a:effectLst/>
                <a:latin typeface="Times New Roman" charset="0"/>
                <a:ea typeface="ＭＳ Ｐゴシック" charset="0"/>
                <a:cs typeface="+mn-cs"/>
              </a:rPr>
              <a:t>code</a:t>
            </a:r>
            <a:r>
              <a:rPr lang="en-US" sz="1200" b="0" i="0" kern="1200" dirty="0" smtClean="0">
                <a:solidFill>
                  <a:srgbClr val="000000"/>
                </a:solidFill>
                <a:effectLst/>
                <a:latin typeface="Times New Roman" charset="0"/>
                <a:ea typeface="ＭＳ Ｐゴシック" charset="0"/>
                <a:cs typeface="+mn-cs"/>
              </a:rPr>
              <a:t> specify the values to be passed for the </a:t>
            </a:r>
            <a:r>
              <a:rPr lang="en-US" dirty="0" smtClean="0">
                <a:effectLst/>
              </a:rPr>
              <a:t>-arch</a:t>
            </a:r>
            <a:r>
              <a:rPr lang="en-US" sz="1200" b="0" i="0" kern="1200" dirty="0" smtClean="0">
                <a:solidFill>
                  <a:srgbClr val="000000"/>
                </a:solidFill>
                <a:effectLst/>
                <a:latin typeface="Times New Roman" charset="0"/>
                <a:ea typeface="ＭＳ Ｐゴシック" charset="0"/>
                <a:cs typeface="+mn-cs"/>
              </a:rPr>
              <a:t> and </a:t>
            </a:r>
            <a:r>
              <a:rPr lang="en-US" dirty="0" smtClean="0">
                <a:effectLst/>
              </a:rPr>
              <a:t>-code</a:t>
            </a:r>
            <a:r>
              <a:rPr lang="en-US" sz="1200" b="0" i="0" kern="1200" dirty="0" smtClean="0">
                <a:solidFill>
                  <a:srgbClr val="000000"/>
                </a:solidFill>
                <a:effectLst/>
                <a:latin typeface="Times New Roman" charset="0"/>
                <a:ea typeface="ＭＳ Ｐゴシック" charset="0"/>
                <a:cs typeface="+mn-cs"/>
              </a:rPr>
              <a:t> options on the </a:t>
            </a:r>
            <a:r>
              <a:rPr lang="en-US" sz="1200" b="1" i="0" kern="1200" dirty="0" err="1" smtClean="0">
                <a:solidFill>
                  <a:srgbClr val="000000"/>
                </a:solidFill>
                <a:effectLst/>
                <a:latin typeface="Times New Roman" charset="0"/>
                <a:ea typeface="ＭＳ Ｐゴシック" charset="0"/>
                <a:cs typeface="+mn-cs"/>
              </a:rPr>
              <a:t>nvcc</a:t>
            </a:r>
            <a:r>
              <a:rPr lang="en-US" sz="1200" b="0" i="0" kern="1200" dirty="0" smtClean="0">
                <a:solidFill>
                  <a:srgbClr val="000000"/>
                </a:solidFill>
                <a:effectLst/>
                <a:latin typeface="Times New Roman" charset="0"/>
                <a:ea typeface="ＭＳ Ｐゴシック" charset="0"/>
                <a:cs typeface="+mn-cs"/>
              </a:rPr>
              <a:t> command line. If </a:t>
            </a:r>
            <a:r>
              <a:rPr lang="en-US" sz="1200" b="0" i="1" kern="1200" dirty="0" smtClean="0">
                <a:solidFill>
                  <a:srgbClr val="000000"/>
                </a:solidFill>
                <a:effectLst/>
                <a:latin typeface="Times New Roman" charset="0"/>
                <a:ea typeface="ＭＳ Ｐゴシック" charset="0"/>
                <a:cs typeface="+mn-cs"/>
              </a:rPr>
              <a:t>arch</a:t>
            </a:r>
            <a:r>
              <a:rPr lang="en-US" sz="1200" b="0" i="0" kern="1200" dirty="0" smtClean="0">
                <a:solidFill>
                  <a:srgbClr val="000000"/>
                </a:solidFill>
                <a:effectLst/>
                <a:latin typeface="Times New Roman" charset="0"/>
                <a:ea typeface="ＭＳ Ｐゴシック" charset="0"/>
                <a:cs typeface="+mn-cs"/>
              </a:rPr>
              <a:t> is </a:t>
            </a:r>
            <a:r>
              <a:rPr lang="en-US" sz="1200" b="0" i="1" kern="1200" dirty="0" smtClean="0">
                <a:solidFill>
                  <a:srgbClr val="000000"/>
                </a:solidFill>
                <a:effectLst/>
                <a:latin typeface="Times New Roman" charset="0"/>
                <a:ea typeface="ＭＳ Ｐゴシック" charset="0"/>
                <a:cs typeface="+mn-cs"/>
              </a:rPr>
              <a:t>None</a:t>
            </a:r>
            <a:r>
              <a:rPr lang="en-US" sz="1200" b="0" i="0" kern="1200" dirty="0" smtClean="0">
                <a:solidFill>
                  <a:srgbClr val="000000"/>
                </a:solidFill>
                <a:effectLst/>
                <a:latin typeface="Times New Roman" charset="0"/>
                <a:ea typeface="ＭＳ Ｐゴシック" charset="0"/>
                <a:cs typeface="+mn-cs"/>
              </a:rPr>
              <a:t>, it defaults to the current context’s device’s compute capability. If </a:t>
            </a:r>
            <a:r>
              <a:rPr lang="en-US" sz="1200" b="0" i="1" kern="1200" dirty="0" smtClean="0">
                <a:solidFill>
                  <a:srgbClr val="000000"/>
                </a:solidFill>
                <a:effectLst/>
                <a:latin typeface="Times New Roman" charset="0"/>
                <a:ea typeface="ＭＳ Ｐゴシック" charset="0"/>
                <a:cs typeface="+mn-cs"/>
              </a:rPr>
              <a:t>code</a:t>
            </a:r>
            <a:r>
              <a:rPr lang="en-US" sz="1200" b="0" i="0" kern="1200" dirty="0" smtClean="0">
                <a:solidFill>
                  <a:srgbClr val="000000"/>
                </a:solidFill>
                <a:effectLst/>
                <a:latin typeface="Times New Roman" charset="0"/>
                <a:ea typeface="ＭＳ Ｐゴシック" charset="0"/>
                <a:cs typeface="+mn-cs"/>
              </a:rPr>
              <a:t> is </a:t>
            </a:r>
            <a:r>
              <a:rPr lang="en-US" sz="1200" b="0" i="1" kern="1200" dirty="0" smtClean="0">
                <a:solidFill>
                  <a:srgbClr val="000000"/>
                </a:solidFill>
                <a:effectLst/>
                <a:latin typeface="Times New Roman" charset="0"/>
                <a:ea typeface="ＭＳ Ｐゴシック" charset="0"/>
                <a:cs typeface="+mn-cs"/>
              </a:rPr>
              <a:t>None</a:t>
            </a:r>
            <a:r>
              <a:rPr lang="en-US" sz="1200" b="0" i="0" kern="1200" dirty="0" smtClean="0">
                <a:solidFill>
                  <a:srgbClr val="000000"/>
                </a:solidFill>
                <a:effectLst/>
                <a:latin typeface="Times New Roman" charset="0"/>
                <a:ea typeface="ＭＳ Ｐゴシック" charset="0"/>
                <a:cs typeface="+mn-cs"/>
              </a:rPr>
              <a:t>, it will not be specified.</a:t>
            </a:r>
          </a:p>
          <a:p>
            <a:endParaRPr lang="en-US" sz="1200" b="0" i="0" kern="1200" dirty="0" smtClean="0">
              <a:solidFill>
                <a:srgbClr val="000000"/>
              </a:solidFill>
              <a:effectLst/>
              <a:latin typeface="Times New Roman" charset="0"/>
              <a:ea typeface="ＭＳ Ｐゴシック" charset="0"/>
              <a:cs typeface="+mn-cs"/>
            </a:endParaRPr>
          </a:p>
          <a:p>
            <a:r>
              <a:rPr lang="en-US" sz="1200" b="0" i="1" kern="1200" dirty="0" err="1" smtClean="0">
                <a:solidFill>
                  <a:srgbClr val="000000"/>
                </a:solidFill>
                <a:effectLst/>
                <a:latin typeface="Times New Roman" charset="0"/>
                <a:ea typeface="ＭＳ Ｐゴシック" charset="0"/>
                <a:cs typeface="+mn-cs"/>
              </a:rPr>
              <a:t>cache_dir</a:t>
            </a:r>
            <a:r>
              <a:rPr lang="en-US" sz="1200" b="0" i="0" kern="1200" dirty="0" smtClean="0">
                <a:solidFill>
                  <a:srgbClr val="000000"/>
                </a:solidFill>
                <a:effectLst/>
                <a:latin typeface="Times New Roman" charset="0"/>
                <a:ea typeface="ＭＳ Ｐゴシック" charset="0"/>
                <a:cs typeface="+mn-cs"/>
              </a:rPr>
              <a:t> gives the directory used for compiler caching. If </a:t>
            </a:r>
            <a:r>
              <a:rPr lang="en-US" sz="1200" b="0" i="1" kern="1200" dirty="0" smtClean="0">
                <a:solidFill>
                  <a:srgbClr val="000000"/>
                </a:solidFill>
                <a:effectLst/>
                <a:latin typeface="Times New Roman" charset="0"/>
                <a:ea typeface="ＭＳ Ｐゴシック" charset="0"/>
                <a:cs typeface="+mn-cs"/>
              </a:rPr>
              <a:t>None</a:t>
            </a:r>
            <a:r>
              <a:rPr lang="en-US" sz="1200" b="0" i="0" kern="1200" dirty="0" smtClean="0">
                <a:solidFill>
                  <a:srgbClr val="000000"/>
                </a:solidFill>
                <a:effectLst/>
                <a:latin typeface="Times New Roman" charset="0"/>
                <a:ea typeface="ＭＳ Ｐゴシック" charset="0"/>
                <a:cs typeface="+mn-cs"/>
              </a:rPr>
              <a:t> then </a:t>
            </a:r>
            <a:r>
              <a:rPr lang="en-US" sz="1200" b="0" i="1" kern="1200" dirty="0" err="1" smtClean="0">
                <a:solidFill>
                  <a:srgbClr val="000000"/>
                </a:solidFill>
                <a:effectLst/>
                <a:latin typeface="Times New Roman" charset="0"/>
                <a:ea typeface="ＭＳ Ｐゴシック" charset="0"/>
                <a:cs typeface="+mn-cs"/>
              </a:rPr>
              <a:t>cache_dir</a:t>
            </a:r>
            <a:r>
              <a:rPr lang="en-US" sz="1200" b="0" i="0" kern="1200" dirty="0" smtClean="0">
                <a:solidFill>
                  <a:srgbClr val="000000"/>
                </a:solidFill>
                <a:effectLst/>
                <a:latin typeface="Times New Roman" charset="0"/>
                <a:ea typeface="ＭＳ Ｐゴシック" charset="0"/>
                <a:cs typeface="+mn-cs"/>
              </a:rPr>
              <a:t> is taken to be </a:t>
            </a:r>
            <a:r>
              <a:rPr lang="en-US" dirty="0" smtClean="0">
                <a:effectLst/>
              </a:rPr>
              <a:t>PYCUDA_CACHE_DIR</a:t>
            </a:r>
            <a:r>
              <a:rPr lang="en-US" sz="1200" b="0" i="0" kern="1200" dirty="0" smtClean="0">
                <a:solidFill>
                  <a:srgbClr val="000000"/>
                </a:solidFill>
                <a:effectLst/>
                <a:latin typeface="Times New Roman" charset="0"/>
                <a:ea typeface="ＭＳ Ｐゴシック" charset="0"/>
                <a:cs typeface="+mn-cs"/>
              </a:rPr>
              <a:t> if set or a sensible per-user default. If passed as </a:t>
            </a:r>
            <a:r>
              <a:rPr lang="en-US" sz="1200" b="0" i="1" kern="1200" dirty="0" smtClean="0">
                <a:solidFill>
                  <a:srgbClr val="000000"/>
                </a:solidFill>
                <a:effectLst/>
                <a:latin typeface="Times New Roman" charset="0"/>
                <a:ea typeface="ＭＳ Ｐゴシック" charset="0"/>
                <a:cs typeface="+mn-cs"/>
              </a:rPr>
              <a:t>False</a:t>
            </a:r>
            <a:r>
              <a:rPr lang="en-US" sz="1200" b="0" i="0" kern="1200" dirty="0" smtClean="0">
                <a:solidFill>
                  <a:srgbClr val="000000"/>
                </a:solidFill>
                <a:effectLst/>
                <a:latin typeface="Times New Roman" charset="0"/>
                <a:ea typeface="ＭＳ Ｐゴシック" charset="0"/>
                <a:cs typeface="+mn-cs"/>
              </a:rPr>
              <a:t>, caching is disabled.</a:t>
            </a:r>
            <a:endParaRPr lang="en-US" dirty="0"/>
          </a:p>
        </p:txBody>
      </p:sp>
      <p:sp>
        <p:nvSpPr>
          <p:cNvPr id="4" name="Marcador de número de diapositiva 3"/>
          <p:cNvSpPr>
            <a:spLocks noGrp="1"/>
          </p:cNvSpPr>
          <p:nvPr>
            <p:ph type="sldNum" idx="10"/>
          </p:nvPr>
        </p:nvSpPr>
        <p:spPr/>
        <p:txBody>
          <a:bodyPr/>
          <a:lstStyle/>
          <a:p>
            <a:fld id="{FF78C5FE-1AA3-7749-A09C-E950D48D24B4}" type="slidenum">
              <a:rPr lang="es-AR" smtClean="0"/>
              <a:pPr/>
              <a:t>3</a:t>
            </a:fld>
            <a:endParaRPr lang="es-AR"/>
          </a:p>
        </p:txBody>
      </p:sp>
    </p:spTree>
    <p:extLst>
      <p:ext uri="{BB962C8B-B14F-4D97-AF65-F5344CB8AC3E}">
        <p14:creationId xmlns:p14="http://schemas.microsoft.com/office/powerpoint/2010/main" val="2290911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4</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3175207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5</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dirty="0" err="1" smtClean="0"/>
              <a:t>pycuda.driver.mem_alloc</a:t>
            </a:r>
            <a:r>
              <a:rPr lang="en-US" dirty="0" smtClean="0"/>
              <a:t>(bytes)</a:t>
            </a:r>
          </a:p>
          <a:p>
            <a:r>
              <a:rPr lang="en-US" dirty="0" smtClean="0"/>
              <a:t>Return a </a:t>
            </a:r>
            <a:r>
              <a:rPr lang="en-US" dirty="0" err="1" smtClean="0"/>
              <a:t>DeviceAllocation</a:t>
            </a:r>
            <a:r>
              <a:rPr lang="en-US" dirty="0" smtClean="0"/>
              <a:t> object representing a linear piece of device memory.</a:t>
            </a:r>
            <a:endParaRPr lang="es-ES" dirty="0"/>
          </a:p>
        </p:txBody>
      </p:sp>
    </p:spTree>
    <p:extLst>
      <p:ext uri="{BB962C8B-B14F-4D97-AF65-F5344CB8AC3E}">
        <p14:creationId xmlns:p14="http://schemas.microsoft.com/office/powerpoint/2010/main" val="2651500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6</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dirty="0" smtClean="0"/>
              <a:t>class </a:t>
            </a:r>
            <a:r>
              <a:rPr lang="en-US" dirty="0" err="1" smtClean="0"/>
              <a:t>pycuda.driver.In</a:t>
            </a:r>
            <a:r>
              <a:rPr lang="en-US" dirty="0" smtClean="0"/>
              <a:t>(array)</a:t>
            </a:r>
          </a:p>
          <a:p>
            <a:r>
              <a:rPr lang="en-US" dirty="0" smtClean="0"/>
              <a:t>Inherits from </a:t>
            </a:r>
            <a:r>
              <a:rPr lang="en-US" dirty="0" err="1" smtClean="0"/>
              <a:t>ArgumentHandler</a:t>
            </a:r>
            <a:r>
              <a:rPr lang="en-US" dirty="0" smtClean="0"/>
              <a:t>. Indicates that buffer array should be copied to the compute device before invoking the kernel.</a:t>
            </a:r>
          </a:p>
          <a:p>
            <a:endParaRPr lang="en-US" dirty="0" smtClean="0"/>
          </a:p>
          <a:p>
            <a:r>
              <a:rPr lang="en-US" dirty="0" smtClean="0"/>
              <a:t>class </a:t>
            </a:r>
            <a:r>
              <a:rPr lang="en-US" dirty="0" err="1" smtClean="0"/>
              <a:t>pycuda.driver.Out</a:t>
            </a:r>
            <a:r>
              <a:rPr lang="en-US" dirty="0" smtClean="0"/>
              <a:t>(array)</a:t>
            </a:r>
          </a:p>
          <a:p>
            <a:r>
              <a:rPr lang="en-US" dirty="0" smtClean="0"/>
              <a:t>Inherits from </a:t>
            </a:r>
            <a:r>
              <a:rPr lang="en-US" dirty="0" err="1" smtClean="0"/>
              <a:t>ArgumentHandler</a:t>
            </a:r>
            <a:r>
              <a:rPr lang="en-US" dirty="0" smtClean="0"/>
              <a:t>. Indicates that buffer array should be copied off the compute device after invoking the kernel.</a:t>
            </a:r>
          </a:p>
          <a:p>
            <a:endParaRPr lang="en-US" dirty="0" smtClean="0"/>
          </a:p>
          <a:p>
            <a:r>
              <a:rPr lang="en-US" dirty="0" smtClean="0"/>
              <a:t>class </a:t>
            </a:r>
            <a:r>
              <a:rPr lang="en-US" dirty="0" err="1" smtClean="0"/>
              <a:t>pycuda.driver.InOut</a:t>
            </a:r>
            <a:r>
              <a:rPr lang="en-US" dirty="0" smtClean="0"/>
              <a:t>(array)</a:t>
            </a:r>
          </a:p>
          <a:p>
            <a:r>
              <a:rPr lang="en-US" dirty="0" smtClean="0"/>
              <a:t>Inherits from </a:t>
            </a:r>
            <a:r>
              <a:rPr lang="en-US" dirty="0" err="1" smtClean="0"/>
              <a:t>ArgumentHandler</a:t>
            </a:r>
            <a:r>
              <a:rPr lang="en-US" dirty="0" smtClean="0"/>
              <a:t>. Indicates that buffer array should be copied both onto the compute device before invoking the kernel, and off it afterwards.</a:t>
            </a:r>
            <a:endParaRPr lang="es-ES" dirty="0"/>
          </a:p>
        </p:txBody>
      </p:sp>
    </p:spTree>
    <p:extLst>
      <p:ext uri="{BB962C8B-B14F-4D97-AF65-F5344CB8AC3E}">
        <p14:creationId xmlns:p14="http://schemas.microsoft.com/office/powerpoint/2010/main" val="2460285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7</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283988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8</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2718494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9</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1923859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10</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2556145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11</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730228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12</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1642433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13</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3693952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14</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1789438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15</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304735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smtClean="0">
                <a:solidFill>
                  <a:srgbClr val="000000"/>
                </a:solidFill>
                <a:effectLst/>
                <a:latin typeface="Times New Roman" charset="0"/>
                <a:ea typeface="ＭＳ Ｐゴシック" charset="0"/>
                <a:cs typeface="+mn-cs"/>
              </a:rPr>
              <a:t>Generate a kernel that takes a number of scalar or vector arguments and performs the scalar operation on each entry of its arguments, if that argument is a vector.</a:t>
            </a:r>
          </a:p>
          <a:p>
            <a:endParaRPr lang="en-US" sz="1200" b="0" i="0" kern="1200" dirty="0" smtClean="0">
              <a:solidFill>
                <a:srgbClr val="000000"/>
              </a:solidFill>
              <a:effectLst/>
              <a:latin typeface="Times New Roman" charset="0"/>
              <a:ea typeface="ＭＳ Ｐゴシック" charset="0"/>
              <a:cs typeface="+mn-cs"/>
            </a:endParaRPr>
          </a:p>
          <a:p>
            <a:r>
              <a:rPr lang="en-US" sz="1200" b="0" i="0" kern="1200" dirty="0" smtClean="0">
                <a:solidFill>
                  <a:srgbClr val="000000"/>
                </a:solidFill>
                <a:effectLst/>
                <a:latin typeface="Times New Roman" charset="0"/>
                <a:ea typeface="ＭＳ Ｐゴシック" charset="0"/>
                <a:cs typeface="+mn-cs"/>
              </a:rPr>
              <a:t>arguments is specified as a string formatted as a C argument list. operation is specified as a C assignment statement, without a semicolon. Vectors in operation should be indexed by the variable </a:t>
            </a:r>
            <a:r>
              <a:rPr lang="en-US" sz="1200" b="0" i="0" kern="1200" dirty="0" err="1" smtClean="0">
                <a:solidFill>
                  <a:srgbClr val="000000"/>
                </a:solidFill>
                <a:effectLst/>
                <a:latin typeface="Times New Roman" charset="0"/>
                <a:ea typeface="ＭＳ Ｐゴシック" charset="0"/>
                <a:cs typeface="+mn-cs"/>
              </a:rPr>
              <a:t>i</a:t>
            </a:r>
            <a:r>
              <a:rPr lang="en-US" sz="1200" b="0" i="0" kern="1200" dirty="0" smtClean="0">
                <a:solidFill>
                  <a:srgbClr val="000000"/>
                </a:solidFill>
                <a:effectLst/>
                <a:latin typeface="Times New Roman" charset="0"/>
                <a:ea typeface="ＭＳ Ｐゴシック" charset="0"/>
                <a:cs typeface="+mn-cs"/>
              </a:rPr>
              <a:t>.</a:t>
            </a:r>
          </a:p>
          <a:p>
            <a:endParaRPr lang="en-US" sz="1200" b="0" i="0" kern="1200" dirty="0" smtClean="0">
              <a:solidFill>
                <a:srgbClr val="000000"/>
              </a:solidFill>
              <a:effectLst/>
              <a:latin typeface="Times New Roman" charset="0"/>
              <a:ea typeface="ＭＳ Ｐゴシック" charset="0"/>
              <a:cs typeface="+mn-cs"/>
            </a:endParaRPr>
          </a:p>
          <a:p>
            <a:r>
              <a:rPr lang="en-US" sz="1200" b="0" i="0" kern="1200" dirty="0" smtClean="0">
                <a:solidFill>
                  <a:srgbClr val="000000"/>
                </a:solidFill>
                <a:effectLst/>
                <a:latin typeface="Times New Roman" charset="0"/>
                <a:ea typeface="ＭＳ Ｐゴシック" charset="0"/>
                <a:cs typeface="+mn-cs"/>
              </a:rPr>
              <a:t>name specifies the name as which the kernel is compiled, keep and options are passed unmodified to </a:t>
            </a:r>
            <a:r>
              <a:rPr lang="en-US" sz="1200" b="0" i="0" kern="1200" dirty="0" err="1" smtClean="0">
                <a:solidFill>
                  <a:srgbClr val="000000"/>
                </a:solidFill>
                <a:effectLst/>
                <a:latin typeface="Times New Roman" charset="0"/>
                <a:ea typeface="ＭＳ Ｐゴシック" charset="0"/>
                <a:cs typeface="+mn-cs"/>
              </a:rPr>
              <a:t>pycuda.compiler.SourceModule</a:t>
            </a:r>
            <a:r>
              <a:rPr lang="en-US" sz="1200" b="0" i="0" kern="1200" dirty="0" smtClean="0">
                <a:solidFill>
                  <a:srgbClr val="000000"/>
                </a:solidFill>
                <a:effectLst/>
                <a:latin typeface="Times New Roman" charset="0"/>
                <a:ea typeface="ＭＳ Ｐゴシック" charset="0"/>
                <a:cs typeface="+mn-cs"/>
              </a:rPr>
              <a:t>.</a:t>
            </a:r>
          </a:p>
          <a:p>
            <a:endParaRPr lang="en-US" sz="1200" b="0" i="0" kern="1200" dirty="0" smtClean="0">
              <a:solidFill>
                <a:srgbClr val="000000"/>
              </a:solidFill>
              <a:effectLst/>
              <a:latin typeface="Times New Roman" charset="0"/>
              <a:ea typeface="ＭＳ Ｐゴシック" charset="0"/>
              <a:cs typeface="+mn-cs"/>
            </a:endParaRPr>
          </a:p>
          <a:p>
            <a:r>
              <a:rPr lang="en-US" sz="1200" b="0" i="0" kern="1200" dirty="0" smtClean="0">
                <a:solidFill>
                  <a:srgbClr val="000000"/>
                </a:solidFill>
                <a:effectLst/>
                <a:latin typeface="Times New Roman" charset="0"/>
                <a:ea typeface="ＭＳ Ｐゴシック" charset="0"/>
                <a:cs typeface="+mn-cs"/>
              </a:rPr>
              <a:t>preamble specifies some source code that is included before the elementwise kernel specification. You may use this to include other files and/or define functions that are used by operation.</a:t>
            </a:r>
            <a:endParaRPr lang="en-US" dirty="0"/>
          </a:p>
        </p:txBody>
      </p:sp>
      <p:sp>
        <p:nvSpPr>
          <p:cNvPr id="4" name="Marcador de número de diapositiva 3"/>
          <p:cNvSpPr>
            <a:spLocks noGrp="1"/>
          </p:cNvSpPr>
          <p:nvPr>
            <p:ph type="sldNum" idx="10"/>
          </p:nvPr>
        </p:nvSpPr>
        <p:spPr/>
        <p:txBody>
          <a:bodyPr/>
          <a:lstStyle/>
          <a:p>
            <a:fld id="{FF78C5FE-1AA3-7749-A09C-E950D48D24B4}" type="slidenum">
              <a:rPr lang="es-AR" smtClean="0"/>
              <a:pPr/>
              <a:t>16</a:t>
            </a:fld>
            <a:endParaRPr lang="es-AR"/>
          </a:p>
        </p:txBody>
      </p:sp>
    </p:spTree>
    <p:extLst>
      <p:ext uri="{BB962C8B-B14F-4D97-AF65-F5344CB8AC3E}">
        <p14:creationId xmlns:p14="http://schemas.microsoft.com/office/powerpoint/2010/main" val="2056531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17</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1233048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18</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4041534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19</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826055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smtClean="0">
                <a:solidFill>
                  <a:srgbClr val="000000"/>
                </a:solidFill>
                <a:effectLst/>
                <a:latin typeface="Times New Roman" charset="0"/>
                <a:ea typeface="ＭＳ Ｐゴシック" charset="0"/>
                <a:cs typeface="+mn-cs"/>
              </a:rPr>
              <a:t>Generate a kernel that takes a number of scalar or vector arguments (at least one vector argument), performs the </a:t>
            </a:r>
            <a:r>
              <a:rPr lang="en-US" sz="1200" b="0" i="0" kern="1200" dirty="0" err="1" smtClean="0">
                <a:solidFill>
                  <a:srgbClr val="000000"/>
                </a:solidFill>
                <a:effectLst/>
                <a:latin typeface="Times New Roman" charset="0"/>
                <a:ea typeface="ＭＳ Ｐゴシック" charset="0"/>
                <a:cs typeface="+mn-cs"/>
              </a:rPr>
              <a:t>map_expr</a:t>
            </a:r>
            <a:r>
              <a:rPr lang="en-US" sz="1200" b="0" i="0" kern="1200" dirty="0" smtClean="0">
                <a:solidFill>
                  <a:srgbClr val="000000"/>
                </a:solidFill>
                <a:effectLst/>
                <a:latin typeface="Times New Roman" charset="0"/>
                <a:ea typeface="ＭＳ Ｐゴシック" charset="0"/>
                <a:cs typeface="+mn-cs"/>
              </a:rPr>
              <a:t> on each entry of the vector argument and then the </a:t>
            </a:r>
            <a:r>
              <a:rPr lang="en-US" sz="1200" b="0" i="0" kern="1200" dirty="0" err="1" smtClean="0">
                <a:solidFill>
                  <a:srgbClr val="000000"/>
                </a:solidFill>
                <a:effectLst/>
                <a:latin typeface="Times New Roman" charset="0"/>
                <a:ea typeface="ＭＳ Ｐゴシック" charset="0"/>
                <a:cs typeface="+mn-cs"/>
              </a:rPr>
              <a:t>reduce_expr</a:t>
            </a:r>
            <a:r>
              <a:rPr lang="en-US" sz="1200" b="0" i="0" kern="1200" dirty="0" smtClean="0">
                <a:solidFill>
                  <a:srgbClr val="000000"/>
                </a:solidFill>
                <a:effectLst/>
                <a:latin typeface="Times New Roman" charset="0"/>
                <a:ea typeface="ＭＳ Ｐゴシック" charset="0"/>
                <a:cs typeface="+mn-cs"/>
              </a:rPr>
              <a:t> on the outcome of that. neutral serves as an initial value. preamble offers the possibility to add preprocessor directives and other code (such as helper functions) to be added before the actual reduction kernel code.</a:t>
            </a:r>
          </a:p>
          <a:p>
            <a:endParaRPr lang="en-US" sz="1200" b="0" i="0" kern="1200" dirty="0" smtClean="0">
              <a:solidFill>
                <a:srgbClr val="000000"/>
              </a:solidFill>
              <a:effectLst/>
              <a:latin typeface="Times New Roman" charset="0"/>
              <a:ea typeface="ＭＳ Ｐゴシック" charset="0"/>
              <a:cs typeface="+mn-cs"/>
            </a:endParaRPr>
          </a:p>
          <a:p>
            <a:r>
              <a:rPr lang="en-US" sz="1200" b="0" i="0" kern="1200" dirty="0" smtClean="0">
                <a:solidFill>
                  <a:srgbClr val="000000"/>
                </a:solidFill>
                <a:effectLst/>
                <a:latin typeface="Times New Roman" charset="0"/>
                <a:ea typeface="ＭＳ Ｐゴシック" charset="0"/>
                <a:cs typeface="+mn-cs"/>
              </a:rPr>
              <a:t>Vectors in </a:t>
            </a:r>
            <a:r>
              <a:rPr lang="en-US" sz="1200" b="0" i="0" kern="1200" dirty="0" err="1" smtClean="0">
                <a:solidFill>
                  <a:srgbClr val="000000"/>
                </a:solidFill>
                <a:effectLst/>
                <a:latin typeface="Times New Roman" charset="0"/>
                <a:ea typeface="ＭＳ Ｐゴシック" charset="0"/>
                <a:cs typeface="+mn-cs"/>
              </a:rPr>
              <a:t>map_expr</a:t>
            </a:r>
            <a:r>
              <a:rPr lang="en-US" sz="1200" b="0" i="0" kern="1200" dirty="0" smtClean="0">
                <a:solidFill>
                  <a:srgbClr val="000000"/>
                </a:solidFill>
                <a:effectLst/>
                <a:latin typeface="Times New Roman" charset="0"/>
                <a:ea typeface="ＭＳ Ｐゴシック" charset="0"/>
                <a:cs typeface="+mn-cs"/>
              </a:rPr>
              <a:t> should be indexed by the variable </a:t>
            </a:r>
            <a:r>
              <a:rPr lang="en-US" sz="1200" b="0" i="0" kern="1200" dirty="0" err="1" smtClean="0">
                <a:solidFill>
                  <a:srgbClr val="000000"/>
                </a:solidFill>
                <a:effectLst/>
                <a:latin typeface="Times New Roman" charset="0"/>
                <a:ea typeface="ＭＳ Ｐゴシック" charset="0"/>
                <a:cs typeface="+mn-cs"/>
              </a:rPr>
              <a:t>i</a:t>
            </a:r>
            <a:r>
              <a:rPr lang="en-US" sz="1200" b="0" i="0" kern="1200" dirty="0" smtClean="0">
                <a:solidFill>
                  <a:srgbClr val="000000"/>
                </a:solidFill>
                <a:effectLst/>
                <a:latin typeface="Times New Roman" charset="0"/>
                <a:ea typeface="ＭＳ Ｐゴシック" charset="0"/>
                <a:cs typeface="+mn-cs"/>
              </a:rPr>
              <a:t>. </a:t>
            </a:r>
            <a:r>
              <a:rPr lang="en-US" sz="1200" b="0" i="0" kern="1200" dirty="0" err="1" smtClean="0">
                <a:solidFill>
                  <a:srgbClr val="000000"/>
                </a:solidFill>
                <a:effectLst/>
                <a:latin typeface="Times New Roman" charset="0"/>
                <a:ea typeface="ＭＳ Ｐゴシック" charset="0"/>
                <a:cs typeface="+mn-cs"/>
              </a:rPr>
              <a:t>reduce_expr</a:t>
            </a:r>
            <a:r>
              <a:rPr lang="en-US" sz="1200" b="0" i="0" kern="1200" dirty="0" smtClean="0">
                <a:solidFill>
                  <a:srgbClr val="000000"/>
                </a:solidFill>
                <a:effectLst/>
                <a:latin typeface="Times New Roman" charset="0"/>
                <a:ea typeface="ＭＳ Ｐゴシック" charset="0"/>
                <a:cs typeface="+mn-cs"/>
              </a:rPr>
              <a:t> uses the formal values “a” and “b” to indicate two operands of a binary reduction operation. If you do not specify a </a:t>
            </a:r>
            <a:r>
              <a:rPr lang="en-US" sz="1200" b="0" i="0" kern="1200" dirty="0" err="1" smtClean="0">
                <a:solidFill>
                  <a:srgbClr val="000000"/>
                </a:solidFill>
                <a:effectLst/>
                <a:latin typeface="Times New Roman" charset="0"/>
                <a:ea typeface="ＭＳ Ｐゴシック" charset="0"/>
                <a:cs typeface="+mn-cs"/>
              </a:rPr>
              <a:t>map_expr</a:t>
            </a:r>
            <a:r>
              <a:rPr lang="en-US" sz="1200" b="0" i="0" kern="1200" dirty="0" smtClean="0">
                <a:solidFill>
                  <a:srgbClr val="000000"/>
                </a:solidFill>
                <a:effectLst/>
                <a:latin typeface="Times New Roman" charset="0"/>
                <a:ea typeface="ＭＳ Ｐゴシック" charset="0"/>
                <a:cs typeface="+mn-cs"/>
              </a:rPr>
              <a:t>, “in[</a:t>
            </a:r>
            <a:r>
              <a:rPr lang="en-US" sz="1200" b="0" i="0" kern="1200" dirty="0" err="1" smtClean="0">
                <a:solidFill>
                  <a:srgbClr val="000000"/>
                </a:solidFill>
                <a:effectLst/>
                <a:latin typeface="Times New Roman" charset="0"/>
                <a:ea typeface="ＭＳ Ｐゴシック" charset="0"/>
                <a:cs typeface="+mn-cs"/>
              </a:rPr>
              <a:t>i</a:t>
            </a:r>
            <a:r>
              <a:rPr lang="en-US" sz="1200" b="0" i="0" kern="1200" dirty="0" smtClean="0">
                <a:solidFill>
                  <a:srgbClr val="000000"/>
                </a:solidFill>
                <a:effectLst/>
                <a:latin typeface="Times New Roman" charset="0"/>
                <a:ea typeface="ＭＳ Ｐゴシック" charset="0"/>
                <a:cs typeface="+mn-cs"/>
              </a:rPr>
              <a:t>]” – and therefore the presence of only one input argument – is automatically assumed.</a:t>
            </a:r>
          </a:p>
          <a:p>
            <a:endParaRPr lang="en-US" sz="1200" b="0" i="0" kern="1200" dirty="0" smtClean="0">
              <a:solidFill>
                <a:srgbClr val="000000"/>
              </a:solidFill>
              <a:effectLst/>
              <a:latin typeface="Times New Roman" charset="0"/>
              <a:ea typeface="ＭＳ Ｐゴシック" charset="0"/>
              <a:cs typeface="+mn-cs"/>
            </a:endParaRPr>
          </a:p>
          <a:p>
            <a:r>
              <a:rPr lang="en-US" sz="1200" b="0" i="0" kern="1200" dirty="0" err="1" smtClean="0">
                <a:solidFill>
                  <a:srgbClr val="000000"/>
                </a:solidFill>
                <a:effectLst/>
                <a:latin typeface="Times New Roman" charset="0"/>
                <a:ea typeface="ＭＳ Ｐゴシック" charset="0"/>
                <a:cs typeface="+mn-cs"/>
              </a:rPr>
              <a:t>dtype_out</a:t>
            </a:r>
            <a:r>
              <a:rPr lang="en-US" sz="1200" b="0" i="0" kern="1200" dirty="0" smtClean="0">
                <a:solidFill>
                  <a:srgbClr val="000000"/>
                </a:solidFill>
                <a:effectLst/>
                <a:latin typeface="Times New Roman" charset="0"/>
                <a:ea typeface="ＭＳ Ｐゴシック" charset="0"/>
                <a:cs typeface="+mn-cs"/>
              </a:rPr>
              <a:t> specifies the </a:t>
            </a:r>
            <a:r>
              <a:rPr lang="en-US" sz="1200" b="0" i="0" kern="1200" dirty="0" err="1" smtClean="0">
                <a:solidFill>
                  <a:srgbClr val="000000"/>
                </a:solidFill>
                <a:effectLst/>
                <a:latin typeface="Times New Roman" charset="0"/>
                <a:ea typeface="ＭＳ Ｐゴシック" charset="0"/>
                <a:cs typeface="+mn-cs"/>
              </a:rPr>
              <a:t>numpy.dtype</a:t>
            </a:r>
            <a:r>
              <a:rPr lang="en-US" sz="1200" b="0" i="0" kern="1200" dirty="0" smtClean="0">
                <a:solidFill>
                  <a:srgbClr val="000000"/>
                </a:solidFill>
                <a:effectLst/>
                <a:latin typeface="Times New Roman" charset="0"/>
                <a:ea typeface="ＭＳ Ｐゴシック" charset="0"/>
                <a:cs typeface="+mn-cs"/>
              </a:rPr>
              <a:t> in which the reduction is performed and in which the result is returned. neutral is specified as float or integer formatted as string. </a:t>
            </a:r>
            <a:r>
              <a:rPr lang="en-US" sz="1200" b="0" i="0" kern="1200" dirty="0" err="1" smtClean="0">
                <a:solidFill>
                  <a:srgbClr val="000000"/>
                </a:solidFill>
                <a:effectLst/>
                <a:latin typeface="Times New Roman" charset="0"/>
                <a:ea typeface="ＭＳ Ｐゴシック" charset="0"/>
                <a:cs typeface="+mn-cs"/>
              </a:rPr>
              <a:t>reduce_expr</a:t>
            </a:r>
            <a:r>
              <a:rPr lang="en-US" sz="1200" b="0" i="0" kern="1200" dirty="0" smtClean="0">
                <a:solidFill>
                  <a:srgbClr val="000000"/>
                </a:solidFill>
                <a:effectLst/>
                <a:latin typeface="Times New Roman" charset="0"/>
                <a:ea typeface="ＭＳ Ｐゴシック" charset="0"/>
                <a:cs typeface="+mn-cs"/>
              </a:rPr>
              <a:t> and </a:t>
            </a:r>
            <a:r>
              <a:rPr lang="en-US" sz="1200" b="0" i="0" kern="1200" dirty="0" err="1" smtClean="0">
                <a:solidFill>
                  <a:srgbClr val="000000"/>
                </a:solidFill>
                <a:effectLst/>
                <a:latin typeface="Times New Roman" charset="0"/>
                <a:ea typeface="ＭＳ Ｐゴシック" charset="0"/>
                <a:cs typeface="+mn-cs"/>
              </a:rPr>
              <a:t>map_expr</a:t>
            </a:r>
            <a:r>
              <a:rPr lang="en-US" sz="1200" b="0" i="0" kern="1200" dirty="0" smtClean="0">
                <a:solidFill>
                  <a:srgbClr val="000000"/>
                </a:solidFill>
                <a:effectLst/>
                <a:latin typeface="Times New Roman" charset="0"/>
                <a:ea typeface="ＭＳ Ｐゴシック" charset="0"/>
                <a:cs typeface="+mn-cs"/>
              </a:rPr>
              <a:t> are specified as string formatted operations and arguments is specified as a string formatted as a C argument list. name specifies the name as which the kernel is compiled, keep and options are passed unmodified to </a:t>
            </a:r>
            <a:r>
              <a:rPr lang="en-US" sz="1200" b="0" i="0" kern="1200" dirty="0" err="1" smtClean="0">
                <a:solidFill>
                  <a:srgbClr val="000000"/>
                </a:solidFill>
                <a:effectLst/>
                <a:latin typeface="Times New Roman" charset="0"/>
                <a:ea typeface="ＭＳ Ｐゴシック" charset="0"/>
                <a:cs typeface="+mn-cs"/>
              </a:rPr>
              <a:t>pycuda.compiler.SourceModule</a:t>
            </a:r>
            <a:r>
              <a:rPr lang="en-US" sz="1200" b="0" i="0" kern="1200" dirty="0" smtClean="0">
                <a:solidFill>
                  <a:srgbClr val="000000"/>
                </a:solidFill>
                <a:effectLst/>
                <a:latin typeface="Times New Roman" charset="0"/>
                <a:ea typeface="ＭＳ Ｐゴシック" charset="0"/>
                <a:cs typeface="+mn-cs"/>
              </a:rPr>
              <a:t>. preamble is specified as a string of code.</a:t>
            </a:r>
            <a:endParaRPr lang="en-US" dirty="0"/>
          </a:p>
        </p:txBody>
      </p:sp>
      <p:sp>
        <p:nvSpPr>
          <p:cNvPr id="4" name="Marcador de número de diapositiva 3"/>
          <p:cNvSpPr>
            <a:spLocks noGrp="1"/>
          </p:cNvSpPr>
          <p:nvPr>
            <p:ph type="sldNum" idx="10"/>
          </p:nvPr>
        </p:nvSpPr>
        <p:spPr/>
        <p:txBody>
          <a:bodyPr/>
          <a:lstStyle/>
          <a:p>
            <a:fld id="{FF78C5FE-1AA3-7749-A09C-E950D48D24B4}" type="slidenum">
              <a:rPr lang="es-AR" smtClean="0"/>
              <a:pPr/>
              <a:t>20</a:t>
            </a:fld>
            <a:endParaRPr lang="es-AR"/>
          </a:p>
        </p:txBody>
      </p:sp>
    </p:spTree>
    <p:extLst>
      <p:ext uri="{BB962C8B-B14F-4D97-AF65-F5344CB8AC3E}">
        <p14:creationId xmlns:p14="http://schemas.microsoft.com/office/powerpoint/2010/main" val="28360851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8474D72C-D999-764E-B7FD-A24988CEAF96}" type="slidenum">
              <a:rPr lang="es-AR"/>
              <a:pPr/>
              <a:t>21</a:t>
            </a:fld>
            <a:endParaRPr lang="es-AR"/>
          </a:p>
        </p:txBody>
      </p:sp>
      <p:sp>
        <p:nvSpPr>
          <p:cNvPr id="10241" name="Text Box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0242" name="Text Box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s-ES" dirty="0"/>
          </a:p>
        </p:txBody>
      </p:sp>
    </p:spTree>
    <p:extLst>
      <p:ext uri="{BB962C8B-B14F-4D97-AF65-F5344CB8AC3E}">
        <p14:creationId xmlns:p14="http://schemas.microsoft.com/office/powerpoint/2010/main" val="8999300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smtClean="0">
                <a:solidFill>
                  <a:srgbClr val="000000"/>
                </a:solidFill>
                <a:effectLst/>
                <a:latin typeface="Times New Roman" charset="0"/>
                <a:ea typeface="ＭＳ Ｐゴシック" charset="0"/>
                <a:cs typeface="+mn-cs"/>
              </a:rPr>
              <a:t>Generate a kernel that takes a number of scalar or vector arguments (at least one vector argument), performs the </a:t>
            </a:r>
            <a:r>
              <a:rPr lang="en-US" sz="1200" b="0" i="0" kern="1200" dirty="0" err="1" smtClean="0">
                <a:solidFill>
                  <a:srgbClr val="000000"/>
                </a:solidFill>
                <a:effectLst/>
                <a:latin typeface="Times New Roman" charset="0"/>
                <a:ea typeface="ＭＳ Ｐゴシック" charset="0"/>
                <a:cs typeface="+mn-cs"/>
              </a:rPr>
              <a:t>map_expr</a:t>
            </a:r>
            <a:r>
              <a:rPr lang="en-US" sz="1200" b="0" i="0" kern="1200" dirty="0" smtClean="0">
                <a:solidFill>
                  <a:srgbClr val="000000"/>
                </a:solidFill>
                <a:effectLst/>
                <a:latin typeface="Times New Roman" charset="0"/>
                <a:ea typeface="ＭＳ Ｐゴシック" charset="0"/>
                <a:cs typeface="+mn-cs"/>
              </a:rPr>
              <a:t> on each entry of the vector argument and then the </a:t>
            </a:r>
            <a:r>
              <a:rPr lang="en-US" sz="1200" b="0" i="0" kern="1200" dirty="0" err="1" smtClean="0">
                <a:solidFill>
                  <a:srgbClr val="000000"/>
                </a:solidFill>
                <a:effectLst/>
                <a:latin typeface="Times New Roman" charset="0"/>
                <a:ea typeface="ＭＳ Ｐゴシック" charset="0"/>
                <a:cs typeface="+mn-cs"/>
              </a:rPr>
              <a:t>reduce_expr</a:t>
            </a:r>
            <a:r>
              <a:rPr lang="en-US" sz="1200" b="0" i="0" kern="1200" dirty="0" smtClean="0">
                <a:solidFill>
                  <a:srgbClr val="000000"/>
                </a:solidFill>
                <a:effectLst/>
                <a:latin typeface="Times New Roman" charset="0"/>
                <a:ea typeface="ＭＳ Ｐゴシック" charset="0"/>
                <a:cs typeface="+mn-cs"/>
              </a:rPr>
              <a:t> on the outcome of that. neutral serves as an initial value. preamble offers the possibility to add preprocessor directives and other code (such as helper functions) to be added before the actual reduction kernel code.</a:t>
            </a:r>
          </a:p>
          <a:p>
            <a:endParaRPr lang="en-US" sz="1200" b="0" i="0" kern="1200" dirty="0" smtClean="0">
              <a:solidFill>
                <a:srgbClr val="000000"/>
              </a:solidFill>
              <a:effectLst/>
              <a:latin typeface="Times New Roman" charset="0"/>
              <a:ea typeface="ＭＳ Ｐゴシック" charset="0"/>
              <a:cs typeface="+mn-cs"/>
            </a:endParaRPr>
          </a:p>
          <a:p>
            <a:r>
              <a:rPr lang="en-US" sz="1200" b="0" i="0" kern="1200" dirty="0" smtClean="0">
                <a:solidFill>
                  <a:srgbClr val="000000"/>
                </a:solidFill>
                <a:effectLst/>
                <a:latin typeface="Times New Roman" charset="0"/>
                <a:ea typeface="ＭＳ Ｐゴシック" charset="0"/>
                <a:cs typeface="+mn-cs"/>
              </a:rPr>
              <a:t>Vectors in </a:t>
            </a:r>
            <a:r>
              <a:rPr lang="en-US" sz="1200" b="0" i="0" kern="1200" dirty="0" err="1" smtClean="0">
                <a:solidFill>
                  <a:srgbClr val="000000"/>
                </a:solidFill>
                <a:effectLst/>
                <a:latin typeface="Times New Roman" charset="0"/>
                <a:ea typeface="ＭＳ Ｐゴシック" charset="0"/>
                <a:cs typeface="+mn-cs"/>
              </a:rPr>
              <a:t>map_expr</a:t>
            </a:r>
            <a:r>
              <a:rPr lang="en-US" sz="1200" b="0" i="0" kern="1200" dirty="0" smtClean="0">
                <a:solidFill>
                  <a:srgbClr val="000000"/>
                </a:solidFill>
                <a:effectLst/>
                <a:latin typeface="Times New Roman" charset="0"/>
                <a:ea typeface="ＭＳ Ｐゴシック" charset="0"/>
                <a:cs typeface="+mn-cs"/>
              </a:rPr>
              <a:t> should be indexed by the variable </a:t>
            </a:r>
            <a:r>
              <a:rPr lang="en-US" sz="1200" b="0" i="0" kern="1200" dirty="0" err="1" smtClean="0">
                <a:solidFill>
                  <a:srgbClr val="000000"/>
                </a:solidFill>
                <a:effectLst/>
                <a:latin typeface="Times New Roman" charset="0"/>
                <a:ea typeface="ＭＳ Ｐゴシック" charset="0"/>
                <a:cs typeface="+mn-cs"/>
              </a:rPr>
              <a:t>i</a:t>
            </a:r>
            <a:r>
              <a:rPr lang="en-US" sz="1200" b="0" i="0" kern="1200" dirty="0" smtClean="0">
                <a:solidFill>
                  <a:srgbClr val="000000"/>
                </a:solidFill>
                <a:effectLst/>
                <a:latin typeface="Times New Roman" charset="0"/>
                <a:ea typeface="ＭＳ Ｐゴシック" charset="0"/>
                <a:cs typeface="+mn-cs"/>
              </a:rPr>
              <a:t>. </a:t>
            </a:r>
            <a:r>
              <a:rPr lang="en-US" sz="1200" b="0" i="0" kern="1200" dirty="0" err="1" smtClean="0">
                <a:solidFill>
                  <a:srgbClr val="000000"/>
                </a:solidFill>
                <a:effectLst/>
                <a:latin typeface="Times New Roman" charset="0"/>
                <a:ea typeface="ＭＳ Ｐゴシック" charset="0"/>
                <a:cs typeface="+mn-cs"/>
              </a:rPr>
              <a:t>reduce_expr</a:t>
            </a:r>
            <a:r>
              <a:rPr lang="en-US" sz="1200" b="0" i="0" kern="1200" dirty="0" smtClean="0">
                <a:solidFill>
                  <a:srgbClr val="000000"/>
                </a:solidFill>
                <a:effectLst/>
                <a:latin typeface="Times New Roman" charset="0"/>
                <a:ea typeface="ＭＳ Ｐゴシック" charset="0"/>
                <a:cs typeface="+mn-cs"/>
              </a:rPr>
              <a:t> uses the formal values “a” and “b” to indicate two operands of a binary reduction operation. If you do not specify a </a:t>
            </a:r>
            <a:r>
              <a:rPr lang="en-US" sz="1200" b="0" i="0" kern="1200" dirty="0" err="1" smtClean="0">
                <a:solidFill>
                  <a:srgbClr val="000000"/>
                </a:solidFill>
                <a:effectLst/>
                <a:latin typeface="Times New Roman" charset="0"/>
                <a:ea typeface="ＭＳ Ｐゴシック" charset="0"/>
                <a:cs typeface="+mn-cs"/>
              </a:rPr>
              <a:t>map_expr</a:t>
            </a:r>
            <a:r>
              <a:rPr lang="en-US" sz="1200" b="0" i="0" kern="1200" dirty="0" smtClean="0">
                <a:solidFill>
                  <a:srgbClr val="000000"/>
                </a:solidFill>
                <a:effectLst/>
                <a:latin typeface="Times New Roman" charset="0"/>
                <a:ea typeface="ＭＳ Ｐゴシック" charset="0"/>
                <a:cs typeface="+mn-cs"/>
              </a:rPr>
              <a:t>, “in[</a:t>
            </a:r>
            <a:r>
              <a:rPr lang="en-US" sz="1200" b="0" i="0" kern="1200" dirty="0" err="1" smtClean="0">
                <a:solidFill>
                  <a:srgbClr val="000000"/>
                </a:solidFill>
                <a:effectLst/>
                <a:latin typeface="Times New Roman" charset="0"/>
                <a:ea typeface="ＭＳ Ｐゴシック" charset="0"/>
                <a:cs typeface="+mn-cs"/>
              </a:rPr>
              <a:t>i</a:t>
            </a:r>
            <a:r>
              <a:rPr lang="en-US" sz="1200" b="0" i="0" kern="1200" dirty="0" smtClean="0">
                <a:solidFill>
                  <a:srgbClr val="000000"/>
                </a:solidFill>
                <a:effectLst/>
                <a:latin typeface="Times New Roman" charset="0"/>
                <a:ea typeface="ＭＳ Ｐゴシック" charset="0"/>
                <a:cs typeface="+mn-cs"/>
              </a:rPr>
              <a:t>]” – and therefore the presence of only one input argument – is automatically assumed.</a:t>
            </a:r>
          </a:p>
          <a:p>
            <a:endParaRPr lang="en-US" sz="1200" b="0" i="0" kern="1200" dirty="0" smtClean="0">
              <a:solidFill>
                <a:srgbClr val="000000"/>
              </a:solidFill>
              <a:effectLst/>
              <a:latin typeface="Times New Roman" charset="0"/>
              <a:ea typeface="ＭＳ Ｐゴシック" charset="0"/>
              <a:cs typeface="+mn-cs"/>
            </a:endParaRPr>
          </a:p>
          <a:p>
            <a:r>
              <a:rPr lang="en-US" sz="1200" b="0" i="0" kern="1200" dirty="0" err="1" smtClean="0">
                <a:solidFill>
                  <a:srgbClr val="000000"/>
                </a:solidFill>
                <a:effectLst/>
                <a:latin typeface="Times New Roman" charset="0"/>
                <a:ea typeface="ＭＳ Ｐゴシック" charset="0"/>
                <a:cs typeface="+mn-cs"/>
              </a:rPr>
              <a:t>dtype_out</a:t>
            </a:r>
            <a:r>
              <a:rPr lang="en-US" sz="1200" b="0" i="0" kern="1200" dirty="0" smtClean="0">
                <a:solidFill>
                  <a:srgbClr val="000000"/>
                </a:solidFill>
                <a:effectLst/>
                <a:latin typeface="Times New Roman" charset="0"/>
                <a:ea typeface="ＭＳ Ｐゴシック" charset="0"/>
                <a:cs typeface="+mn-cs"/>
              </a:rPr>
              <a:t> specifies the </a:t>
            </a:r>
            <a:r>
              <a:rPr lang="en-US" sz="1200" b="0" i="0" kern="1200" dirty="0" err="1" smtClean="0">
                <a:solidFill>
                  <a:srgbClr val="000000"/>
                </a:solidFill>
                <a:effectLst/>
                <a:latin typeface="Times New Roman" charset="0"/>
                <a:ea typeface="ＭＳ Ｐゴシック" charset="0"/>
                <a:cs typeface="+mn-cs"/>
              </a:rPr>
              <a:t>numpy.dtype</a:t>
            </a:r>
            <a:r>
              <a:rPr lang="en-US" sz="1200" b="0" i="0" kern="1200" dirty="0" smtClean="0">
                <a:solidFill>
                  <a:srgbClr val="000000"/>
                </a:solidFill>
                <a:effectLst/>
                <a:latin typeface="Times New Roman" charset="0"/>
                <a:ea typeface="ＭＳ Ｐゴシック" charset="0"/>
                <a:cs typeface="+mn-cs"/>
              </a:rPr>
              <a:t> in which the reduction is performed and in which the result is returned. neutral is specified as float or integer formatted as string. </a:t>
            </a:r>
            <a:r>
              <a:rPr lang="en-US" sz="1200" b="0" i="0" kern="1200" dirty="0" err="1" smtClean="0">
                <a:solidFill>
                  <a:srgbClr val="000000"/>
                </a:solidFill>
                <a:effectLst/>
                <a:latin typeface="Times New Roman" charset="0"/>
                <a:ea typeface="ＭＳ Ｐゴシック" charset="0"/>
                <a:cs typeface="+mn-cs"/>
              </a:rPr>
              <a:t>reduce_expr</a:t>
            </a:r>
            <a:r>
              <a:rPr lang="en-US" sz="1200" b="0" i="0" kern="1200" dirty="0" smtClean="0">
                <a:solidFill>
                  <a:srgbClr val="000000"/>
                </a:solidFill>
                <a:effectLst/>
                <a:latin typeface="Times New Roman" charset="0"/>
                <a:ea typeface="ＭＳ Ｐゴシック" charset="0"/>
                <a:cs typeface="+mn-cs"/>
              </a:rPr>
              <a:t> and </a:t>
            </a:r>
            <a:r>
              <a:rPr lang="en-US" sz="1200" b="0" i="0" kern="1200" dirty="0" err="1" smtClean="0">
                <a:solidFill>
                  <a:srgbClr val="000000"/>
                </a:solidFill>
                <a:effectLst/>
                <a:latin typeface="Times New Roman" charset="0"/>
                <a:ea typeface="ＭＳ Ｐゴシック" charset="0"/>
                <a:cs typeface="+mn-cs"/>
              </a:rPr>
              <a:t>map_expr</a:t>
            </a:r>
            <a:r>
              <a:rPr lang="en-US" sz="1200" b="0" i="0" kern="1200" dirty="0" smtClean="0">
                <a:solidFill>
                  <a:srgbClr val="000000"/>
                </a:solidFill>
                <a:effectLst/>
                <a:latin typeface="Times New Roman" charset="0"/>
                <a:ea typeface="ＭＳ Ｐゴシック" charset="0"/>
                <a:cs typeface="+mn-cs"/>
              </a:rPr>
              <a:t> are specified as string formatted operations and arguments is specified as a string formatted as a C argument list. name specifies the name as which the kernel is compiled, keep and options are passed unmodified to </a:t>
            </a:r>
            <a:r>
              <a:rPr lang="en-US" sz="1200" b="0" i="0" kern="1200" dirty="0" err="1" smtClean="0">
                <a:solidFill>
                  <a:srgbClr val="000000"/>
                </a:solidFill>
                <a:effectLst/>
                <a:latin typeface="Times New Roman" charset="0"/>
                <a:ea typeface="ＭＳ Ｐゴシック" charset="0"/>
                <a:cs typeface="+mn-cs"/>
              </a:rPr>
              <a:t>pycuda.compiler.SourceModule</a:t>
            </a:r>
            <a:r>
              <a:rPr lang="en-US" sz="1200" b="0" i="0" kern="1200" dirty="0" smtClean="0">
                <a:solidFill>
                  <a:srgbClr val="000000"/>
                </a:solidFill>
                <a:effectLst/>
                <a:latin typeface="Times New Roman" charset="0"/>
                <a:ea typeface="ＭＳ Ｐゴシック" charset="0"/>
                <a:cs typeface="+mn-cs"/>
              </a:rPr>
              <a:t>. preamble is specified as a string of code.</a:t>
            </a:r>
            <a:endParaRPr lang="en-US" dirty="0"/>
          </a:p>
        </p:txBody>
      </p:sp>
      <p:sp>
        <p:nvSpPr>
          <p:cNvPr id="4" name="Marcador de número de diapositiva 3"/>
          <p:cNvSpPr>
            <a:spLocks noGrp="1"/>
          </p:cNvSpPr>
          <p:nvPr>
            <p:ph type="sldNum" idx="10"/>
          </p:nvPr>
        </p:nvSpPr>
        <p:spPr/>
        <p:txBody>
          <a:bodyPr/>
          <a:lstStyle/>
          <a:p>
            <a:fld id="{FF78C5FE-1AA3-7749-A09C-E950D48D24B4}" type="slidenum">
              <a:rPr lang="es-AR" smtClean="0"/>
              <a:pPr/>
              <a:t>22</a:t>
            </a:fld>
            <a:endParaRPr lang="es-AR"/>
          </a:p>
        </p:txBody>
      </p:sp>
    </p:spTree>
    <p:extLst>
      <p:ext uri="{BB962C8B-B14F-4D97-AF65-F5344CB8AC3E}">
        <p14:creationId xmlns:p14="http://schemas.microsoft.com/office/powerpoint/2010/main" val="3417047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755650" y="2347913"/>
            <a:ext cx="8569325" cy="1620837"/>
          </a:xfrm>
        </p:spPr>
        <p:txBody>
          <a:bodyPr/>
          <a:lstStyle/>
          <a:p>
            <a:r>
              <a:rPr lang="x-none" smtClean="0"/>
              <a:t>Clic para editar título</a:t>
            </a:r>
            <a:endParaRPr lang="es-ES"/>
          </a:p>
        </p:txBody>
      </p:sp>
      <p:sp>
        <p:nvSpPr>
          <p:cNvPr id="3" name="Subtítulo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x-none" smtClean="0"/>
              <a:t>Haga clic para modificar el estilo de subtítulo del patrón</a:t>
            </a:r>
            <a:endParaRPr lang="es-ES"/>
          </a:p>
        </p:txBody>
      </p:sp>
      <p:sp>
        <p:nvSpPr>
          <p:cNvPr id="4" name="Marcador de fecha 3"/>
          <p:cNvSpPr>
            <a:spLocks noGrp="1"/>
          </p:cNvSpPr>
          <p:nvPr>
            <p:ph type="dt" idx="10"/>
          </p:nvPr>
        </p:nvSpPr>
        <p:spPr/>
        <p:txBody>
          <a:bodyPr/>
          <a:lstStyle>
            <a:lvl1pPr>
              <a:defRPr/>
            </a:lvl1pPr>
          </a:lstStyle>
          <a:p>
            <a:endParaRPr lang="es-AR"/>
          </a:p>
        </p:txBody>
      </p:sp>
      <p:sp>
        <p:nvSpPr>
          <p:cNvPr id="5" name="Marcador de pie de página 4"/>
          <p:cNvSpPr>
            <a:spLocks noGrp="1"/>
          </p:cNvSpPr>
          <p:nvPr>
            <p:ph type="ftr" idx="11"/>
          </p:nvPr>
        </p:nvSpPr>
        <p:spPr/>
        <p:txBody>
          <a:bodyPr/>
          <a:lstStyle>
            <a:lvl1pPr>
              <a:defRPr/>
            </a:lvl1pPr>
          </a:lstStyle>
          <a:p>
            <a:endParaRPr lang="es-AR"/>
          </a:p>
        </p:txBody>
      </p:sp>
      <p:sp>
        <p:nvSpPr>
          <p:cNvPr id="6" name="Marcador de número de diapositiva 5"/>
          <p:cNvSpPr>
            <a:spLocks noGrp="1"/>
          </p:cNvSpPr>
          <p:nvPr>
            <p:ph type="sldNum" idx="12"/>
          </p:nvPr>
        </p:nvSpPr>
        <p:spPr/>
        <p:txBody>
          <a:bodyPr/>
          <a:lstStyle>
            <a:lvl1pPr>
              <a:defRPr/>
            </a:lvl1pPr>
          </a:lstStyle>
          <a:p>
            <a:fld id="{9EF74596-5B3F-764D-AF1C-00AD9B2E690E}" type="slidenum">
              <a:rPr lang="es-AR"/>
              <a:pPr/>
              <a:t>‹Nº›</a:t>
            </a:fld>
            <a:endParaRPr lang="es-AR"/>
          </a:p>
        </p:txBody>
      </p:sp>
    </p:spTree>
    <p:extLst>
      <p:ext uri="{BB962C8B-B14F-4D97-AF65-F5344CB8AC3E}">
        <p14:creationId xmlns:p14="http://schemas.microsoft.com/office/powerpoint/2010/main" val="334940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contenido 2"/>
          <p:cNvSpPr>
            <a:spLocks noGrp="1"/>
          </p:cNvSpPr>
          <p:nvPr>
            <p:ph idx="1"/>
          </p:nvPr>
        </p:nvSpPr>
        <p:spPr/>
        <p:txBody>
          <a:body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idx="10"/>
          </p:nvPr>
        </p:nvSpPr>
        <p:spPr/>
        <p:txBody>
          <a:bodyPr/>
          <a:lstStyle>
            <a:lvl1pPr>
              <a:defRPr/>
            </a:lvl1pPr>
          </a:lstStyle>
          <a:p>
            <a:endParaRPr lang="es-AR"/>
          </a:p>
        </p:txBody>
      </p:sp>
      <p:sp>
        <p:nvSpPr>
          <p:cNvPr id="5" name="Marcador de pie de página 4"/>
          <p:cNvSpPr>
            <a:spLocks noGrp="1"/>
          </p:cNvSpPr>
          <p:nvPr>
            <p:ph type="ftr" idx="11"/>
          </p:nvPr>
        </p:nvSpPr>
        <p:spPr/>
        <p:txBody>
          <a:bodyPr/>
          <a:lstStyle>
            <a:lvl1pPr>
              <a:defRPr/>
            </a:lvl1pPr>
          </a:lstStyle>
          <a:p>
            <a:endParaRPr lang="es-AR"/>
          </a:p>
        </p:txBody>
      </p:sp>
      <p:sp>
        <p:nvSpPr>
          <p:cNvPr id="6" name="Marcador de número de diapositiva 5"/>
          <p:cNvSpPr>
            <a:spLocks noGrp="1"/>
          </p:cNvSpPr>
          <p:nvPr>
            <p:ph type="sldNum" idx="12"/>
          </p:nvPr>
        </p:nvSpPr>
        <p:spPr/>
        <p:txBody>
          <a:bodyPr/>
          <a:lstStyle>
            <a:lvl1pPr>
              <a:defRPr/>
            </a:lvl1pPr>
          </a:lstStyle>
          <a:p>
            <a:fld id="{AA9EAF0F-ECFE-CD4E-BEA4-03979E3462ED}" type="slidenum">
              <a:rPr lang="es-AR"/>
              <a:pPr/>
              <a:t>‹Nº›</a:t>
            </a:fld>
            <a:endParaRPr lang="es-AR"/>
          </a:p>
        </p:txBody>
      </p:sp>
    </p:spTree>
    <p:extLst>
      <p:ext uri="{BB962C8B-B14F-4D97-AF65-F5344CB8AC3E}">
        <p14:creationId xmlns:p14="http://schemas.microsoft.com/office/powerpoint/2010/main" val="2772294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96925" y="4857750"/>
            <a:ext cx="8567738" cy="1501775"/>
          </a:xfrm>
        </p:spPr>
        <p:txBody>
          <a:bodyPr anchor="t"/>
          <a:lstStyle>
            <a:lvl1pPr algn="l">
              <a:defRPr sz="4000" b="1" cap="all"/>
            </a:lvl1pPr>
          </a:lstStyle>
          <a:p>
            <a:r>
              <a:rPr lang="x-none" smtClean="0"/>
              <a:t>Clic para editar título</a:t>
            </a:r>
            <a:endParaRPr lang="es-ES"/>
          </a:p>
        </p:txBody>
      </p:sp>
      <p:sp>
        <p:nvSpPr>
          <p:cNvPr id="3" name="Marcador de texto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x-none" smtClean="0"/>
              <a:t>Haga clic para modificar el estilo de texto del patrón</a:t>
            </a:r>
          </a:p>
        </p:txBody>
      </p:sp>
      <p:sp>
        <p:nvSpPr>
          <p:cNvPr id="4" name="Marcador de fecha 3"/>
          <p:cNvSpPr>
            <a:spLocks noGrp="1"/>
          </p:cNvSpPr>
          <p:nvPr>
            <p:ph type="dt" idx="10"/>
          </p:nvPr>
        </p:nvSpPr>
        <p:spPr/>
        <p:txBody>
          <a:bodyPr/>
          <a:lstStyle>
            <a:lvl1pPr>
              <a:defRPr/>
            </a:lvl1pPr>
          </a:lstStyle>
          <a:p>
            <a:endParaRPr lang="es-AR"/>
          </a:p>
        </p:txBody>
      </p:sp>
      <p:sp>
        <p:nvSpPr>
          <p:cNvPr id="5" name="Marcador de pie de página 4"/>
          <p:cNvSpPr>
            <a:spLocks noGrp="1"/>
          </p:cNvSpPr>
          <p:nvPr>
            <p:ph type="ftr" idx="11"/>
          </p:nvPr>
        </p:nvSpPr>
        <p:spPr/>
        <p:txBody>
          <a:bodyPr/>
          <a:lstStyle>
            <a:lvl1pPr>
              <a:defRPr/>
            </a:lvl1pPr>
          </a:lstStyle>
          <a:p>
            <a:endParaRPr lang="es-AR"/>
          </a:p>
        </p:txBody>
      </p:sp>
      <p:sp>
        <p:nvSpPr>
          <p:cNvPr id="6" name="Marcador de número de diapositiva 5"/>
          <p:cNvSpPr>
            <a:spLocks noGrp="1"/>
          </p:cNvSpPr>
          <p:nvPr>
            <p:ph type="sldNum" idx="12"/>
          </p:nvPr>
        </p:nvSpPr>
        <p:spPr/>
        <p:txBody>
          <a:bodyPr/>
          <a:lstStyle>
            <a:lvl1pPr>
              <a:defRPr/>
            </a:lvl1pPr>
          </a:lstStyle>
          <a:p>
            <a:fld id="{B237A277-68BF-9746-95DB-F43F82EECB38}" type="slidenum">
              <a:rPr lang="es-AR"/>
              <a:pPr/>
              <a:t>‹Nº›</a:t>
            </a:fld>
            <a:endParaRPr lang="es-AR"/>
          </a:p>
        </p:txBody>
      </p:sp>
    </p:spTree>
    <p:extLst>
      <p:ext uri="{BB962C8B-B14F-4D97-AF65-F5344CB8AC3E}">
        <p14:creationId xmlns:p14="http://schemas.microsoft.com/office/powerpoint/2010/main" val="2327632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contenido 2"/>
          <p:cNvSpPr>
            <a:spLocks noGrp="1"/>
          </p:cNvSpPr>
          <p:nvPr>
            <p:ph sz="half" idx="1"/>
          </p:nvPr>
        </p:nvSpPr>
        <p:spPr>
          <a:xfrm>
            <a:off x="503238" y="1768475"/>
            <a:ext cx="4457700" cy="4383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contenido 3"/>
          <p:cNvSpPr>
            <a:spLocks noGrp="1"/>
          </p:cNvSpPr>
          <p:nvPr>
            <p:ph sz="half" idx="2"/>
          </p:nvPr>
        </p:nvSpPr>
        <p:spPr>
          <a:xfrm>
            <a:off x="5113338" y="1768475"/>
            <a:ext cx="4459287" cy="4383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5" name="Marcador de fecha 4"/>
          <p:cNvSpPr>
            <a:spLocks noGrp="1"/>
          </p:cNvSpPr>
          <p:nvPr>
            <p:ph type="dt" idx="10"/>
          </p:nvPr>
        </p:nvSpPr>
        <p:spPr/>
        <p:txBody>
          <a:bodyPr/>
          <a:lstStyle>
            <a:lvl1pPr>
              <a:defRPr/>
            </a:lvl1pPr>
          </a:lstStyle>
          <a:p>
            <a:endParaRPr lang="es-AR"/>
          </a:p>
        </p:txBody>
      </p:sp>
      <p:sp>
        <p:nvSpPr>
          <p:cNvPr id="6" name="Marcador de pie de página 5"/>
          <p:cNvSpPr>
            <a:spLocks noGrp="1"/>
          </p:cNvSpPr>
          <p:nvPr>
            <p:ph type="ftr" idx="11"/>
          </p:nvPr>
        </p:nvSpPr>
        <p:spPr/>
        <p:txBody>
          <a:bodyPr/>
          <a:lstStyle>
            <a:lvl1pPr>
              <a:defRPr/>
            </a:lvl1pPr>
          </a:lstStyle>
          <a:p>
            <a:endParaRPr lang="es-AR"/>
          </a:p>
        </p:txBody>
      </p:sp>
      <p:sp>
        <p:nvSpPr>
          <p:cNvPr id="7" name="Marcador de número de diapositiva 6"/>
          <p:cNvSpPr>
            <a:spLocks noGrp="1"/>
          </p:cNvSpPr>
          <p:nvPr>
            <p:ph type="sldNum" idx="12"/>
          </p:nvPr>
        </p:nvSpPr>
        <p:spPr/>
        <p:txBody>
          <a:bodyPr/>
          <a:lstStyle>
            <a:lvl1pPr>
              <a:defRPr/>
            </a:lvl1pPr>
          </a:lstStyle>
          <a:p>
            <a:fld id="{9649662F-1625-5841-A95A-69C704522D6D}" type="slidenum">
              <a:rPr lang="es-AR"/>
              <a:pPr/>
              <a:t>‹Nº›</a:t>
            </a:fld>
            <a:endParaRPr lang="es-AR"/>
          </a:p>
        </p:txBody>
      </p:sp>
    </p:spTree>
    <p:extLst>
      <p:ext uri="{BB962C8B-B14F-4D97-AF65-F5344CB8AC3E}">
        <p14:creationId xmlns:p14="http://schemas.microsoft.com/office/powerpoint/2010/main" val="1261656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504825" y="303213"/>
            <a:ext cx="9072563" cy="1258887"/>
          </a:xfrm>
        </p:spPr>
        <p:txBody>
          <a:bodyPr/>
          <a:lstStyle>
            <a:lvl1pPr>
              <a:defRPr/>
            </a:lvl1pPr>
          </a:lstStyle>
          <a:p>
            <a:r>
              <a:rPr lang="x-none" smtClean="0"/>
              <a:t>Clic para editar título</a:t>
            </a:r>
            <a:endParaRPr lang="es-ES"/>
          </a:p>
        </p:txBody>
      </p:sp>
      <p:sp>
        <p:nvSpPr>
          <p:cNvPr id="3" name="Marcador de texto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Haga clic para modificar el estilo de texto del patrón</a:t>
            </a:r>
          </a:p>
        </p:txBody>
      </p:sp>
      <p:sp>
        <p:nvSpPr>
          <p:cNvPr id="4" name="Marcador de contenido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5" name="Marcador de texto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Haga clic para modificar el estilo de texto del patrón</a:t>
            </a:r>
          </a:p>
        </p:txBody>
      </p:sp>
      <p:sp>
        <p:nvSpPr>
          <p:cNvPr id="6" name="Marcador de contenido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7" name="Marcador de fecha 6"/>
          <p:cNvSpPr>
            <a:spLocks noGrp="1"/>
          </p:cNvSpPr>
          <p:nvPr>
            <p:ph type="dt" idx="10"/>
          </p:nvPr>
        </p:nvSpPr>
        <p:spPr/>
        <p:txBody>
          <a:bodyPr/>
          <a:lstStyle>
            <a:lvl1pPr>
              <a:defRPr/>
            </a:lvl1pPr>
          </a:lstStyle>
          <a:p>
            <a:endParaRPr lang="es-AR"/>
          </a:p>
        </p:txBody>
      </p:sp>
      <p:sp>
        <p:nvSpPr>
          <p:cNvPr id="8" name="Marcador de pie de página 7"/>
          <p:cNvSpPr>
            <a:spLocks noGrp="1"/>
          </p:cNvSpPr>
          <p:nvPr>
            <p:ph type="ftr" idx="11"/>
          </p:nvPr>
        </p:nvSpPr>
        <p:spPr/>
        <p:txBody>
          <a:bodyPr/>
          <a:lstStyle>
            <a:lvl1pPr>
              <a:defRPr/>
            </a:lvl1pPr>
          </a:lstStyle>
          <a:p>
            <a:endParaRPr lang="es-AR"/>
          </a:p>
        </p:txBody>
      </p:sp>
      <p:sp>
        <p:nvSpPr>
          <p:cNvPr id="9" name="Marcador de número de diapositiva 8"/>
          <p:cNvSpPr>
            <a:spLocks noGrp="1"/>
          </p:cNvSpPr>
          <p:nvPr>
            <p:ph type="sldNum" idx="12"/>
          </p:nvPr>
        </p:nvSpPr>
        <p:spPr/>
        <p:txBody>
          <a:bodyPr/>
          <a:lstStyle>
            <a:lvl1pPr>
              <a:defRPr/>
            </a:lvl1pPr>
          </a:lstStyle>
          <a:p>
            <a:fld id="{EA8D7708-AB50-B946-AED2-121D507BB311}" type="slidenum">
              <a:rPr lang="es-AR"/>
              <a:pPr/>
              <a:t>‹Nº›</a:t>
            </a:fld>
            <a:endParaRPr lang="es-AR"/>
          </a:p>
        </p:txBody>
      </p:sp>
    </p:spTree>
    <p:extLst>
      <p:ext uri="{BB962C8B-B14F-4D97-AF65-F5344CB8AC3E}">
        <p14:creationId xmlns:p14="http://schemas.microsoft.com/office/powerpoint/2010/main" val="1100993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fecha 2"/>
          <p:cNvSpPr>
            <a:spLocks noGrp="1"/>
          </p:cNvSpPr>
          <p:nvPr>
            <p:ph type="dt" idx="10"/>
          </p:nvPr>
        </p:nvSpPr>
        <p:spPr/>
        <p:txBody>
          <a:bodyPr/>
          <a:lstStyle>
            <a:lvl1pPr>
              <a:defRPr/>
            </a:lvl1pPr>
          </a:lstStyle>
          <a:p>
            <a:endParaRPr lang="es-AR"/>
          </a:p>
        </p:txBody>
      </p:sp>
      <p:sp>
        <p:nvSpPr>
          <p:cNvPr id="4" name="Marcador de pie de página 3"/>
          <p:cNvSpPr>
            <a:spLocks noGrp="1"/>
          </p:cNvSpPr>
          <p:nvPr>
            <p:ph type="ftr" idx="11"/>
          </p:nvPr>
        </p:nvSpPr>
        <p:spPr/>
        <p:txBody>
          <a:bodyPr/>
          <a:lstStyle>
            <a:lvl1pPr>
              <a:defRPr/>
            </a:lvl1pPr>
          </a:lstStyle>
          <a:p>
            <a:endParaRPr lang="es-AR"/>
          </a:p>
        </p:txBody>
      </p:sp>
      <p:sp>
        <p:nvSpPr>
          <p:cNvPr id="5" name="Marcador de número de diapositiva 4"/>
          <p:cNvSpPr>
            <a:spLocks noGrp="1"/>
          </p:cNvSpPr>
          <p:nvPr>
            <p:ph type="sldNum" idx="12"/>
          </p:nvPr>
        </p:nvSpPr>
        <p:spPr/>
        <p:txBody>
          <a:bodyPr/>
          <a:lstStyle>
            <a:lvl1pPr>
              <a:defRPr/>
            </a:lvl1pPr>
          </a:lstStyle>
          <a:p>
            <a:fld id="{85FEC6B4-67AA-A14A-B309-94F89A384760}" type="slidenum">
              <a:rPr lang="es-AR"/>
              <a:pPr/>
              <a:t>‹Nº›</a:t>
            </a:fld>
            <a:endParaRPr lang="es-AR"/>
          </a:p>
        </p:txBody>
      </p:sp>
    </p:spTree>
    <p:extLst>
      <p:ext uri="{BB962C8B-B14F-4D97-AF65-F5344CB8AC3E}">
        <p14:creationId xmlns:p14="http://schemas.microsoft.com/office/powerpoint/2010/main" val="35277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idx="10"/>
          </p:nvPr>
        </p:nvSpPr>
        <p:spPr/>
        <p:txBody>
          <a:bodyPr/>
          <a:lstStyle>
            <a:lvl1pPr>
              <a:defRPr/>
            </a:lvl1pPr>
          </a:lstStyle>
          <a:p>
            <a:endParaRPr lang="es-AR"/>
          </a:p>
        </p:txBody>
      </p:sp>
      <p:sp>
        <p:nvSpPr>
          <p:cNvPr id="3" name="Marcador de pie de página 2"/>
          <p:cNvSpPr>
            <a:spLocks noGrp="1"/>
          </p:cNvSpPr>
          <p:nvPr>
            <p:ph type="ftr" idx="11"/>
          </p:nvPr>
        </p:nvSpPr>
        <p:spPr/>
        <p:txBody>
          <a:bodyPr/>
          <a:lstStyle>
            <a:lvl1pPr>
              <a:defRPr/>
            </a:lvl1pPr>
          </a:lstStyle>
          <a:p>
            <a:endParaRPr lang="es-AR"/>
          </a:p>
        </p:txBody>
      </p:sp>
      <p:sp>
        <p:nvSpPr>
          <p:cNvPr id="4" name="Marcador de número de diapositiva 3"/>
          <p:cNvSpPr>
            <a:spLocks noGrp="1"/>
          </p:cNvSpPr>
          <p:nvPr>
            <p:ph type="sldNum" idx="12"/>
          </p:nvPr>
        </p:nvSpPr>
        <p:spPr/>
        <p:txBody>
          <a:bodyPr/>
          <a:lstStyle>
            <a:lvl1pPr>
              <a:defRPr/>
            </a:lvl1pPr>
          </a:lstStyle>
          <a:p>
            <a:fld id="{99860FD3-773B-3841-A41A-F737AD26DA90}" type="slidenum">
              <a:rPr lang="es-AR"/>
              <a:pPr/>
              <a:t>‹Nº›</a:t>
            </a:fld>
            <a:endParaRPr lang="es-AR"/>
          </a:p>
        </p:txBody>
      </p:sp>
    </p:spTree>
    <p:extLst>
      <p:ext uri="{BB962C8B-B14F-4D97-AF65-F5344CB8AC3E}">
        <p14:creationId xmlns:p14="http://schemas.microsoft.com/office/powerpoint/2010/main" val="2493119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504825" y="301625"/>
            <a:ext cx="3316288" cy="1279525"/>
          </a:xfrm>
        </p:spPr>
        <p:txBody>
          <a:bodyPr anchor="b"/>
          <a:lstStyle>
            <a:lvl1pPr algn="l">
              <a:defRPr sz="2000" b="1"/>
            </a:lvl1pPr>
          </a:lstStyle>
          <a:p>
            <a:r>
              <a:rPr lang="x-none" smtClean="0"/>
              <a:t>Clic para editar título</a:t>
            </a:r>
            <a:endParaRPr lang="es-ES"/>
          </a:p>
        </p:txBody>
      </p:sp>
      <p:sp>
        <p:nvSpPr>
          <p:cNvPr id="3" name="Marcador de contenido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texto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Haga clic para modificar el estilo de texto del patrón</a:t>
            </a:r>
          </a:p>
        </p:txBody>
      </p:sp>
      <p:sp>
        <p:nvSpPr>
          <p:cNvPr id="5" name="Marcador de fecha 4"/>
          <p:cNvSpPr>
            <a:spLocks noGrp="1"/>
          </p:cNvSpPr>
          <p:nvPr>
            <p:ph type="dt" idx="10"/>
          </p:nvPr>
        </p:nvSpPr>
        <p:spPr/>
        <p:txBody>
          <a:bodyPr/>
          <a:lstStyle>
            <a:lvl1pPr>
              <a:defRPr/>
            </a:lvl1pPr>
          </a:lstStyle>
          <a:p>
            <a:endParaRPr lang="es-AR"/>
          </a:p>
        </p:txBody>
      </p:sp>
      <p:sp>
        <p:nvSpPr>
          <p:cNvPr id="6" name="Marcador de pie de página 5"/>
          <p:cNvSpPr>
            <a:spLocks noGrp="1"/>
          </p:cNvSpPr>
          <p:nvPr>
            <p:ph type="ftr" idx="11"/>
          </p:nvPr>
        </p:nvSpPr>
        <p:spPr/>
        <p:txBody>
          <a:bodyPr/>
          <a:lstStyle>
            <a:lvl1pPr>
              <a:defRPr/>
            </a:lvl1pPr>
          </a:lstStyle>
          <a:p>
            <a:endParaRPr lang="es-AR"/>
          </a:p>
        </p:txBody>
      </p:sp>
      <p:sp>
        <p:nvSpPr>
          <p:cNvPr id="7" name="Marcador de número de diapositiva 6"/>
          <p:cNvSpPr>
            <a:spLocks noGrp="1"/>
          </p:cNvSpPr>
          <p:nvPr>
            <p:ph type="sldNum" idx="12"/>
          </p:nvPr>
        </p:nvSpPr>
        <p:spPr/>
        <p:txBody>
          <a:bodyPr/>
          <a:lstStyle>
            <a:lvl1pPr>
              <a:defRPr/>
            </a:lvl1pPr>
          </a:lstStyle>
          <a:p>
            <a:fld id="{5CFF5DD5-512A-B34A-A611-D6225A5A3DFB}" type="slidenum">
              <a:rPr lang="es-AR"/>
              <a:pPr/>
              <a:t>‹Nº›</a:t>
            </a:fld>
            <a:endParaRPr lang="es-AR"/>
          </a:p>
        </p:txBody>
      </p:sp>
    </p:spTree>
    <p:extLst>
      <p:ext uri="{BB962C8B-B14F-4D97-AF65-F5344CB8AC3E}">
        <p14:creationId xmlns:p14="http://schemas.microsoft.com/office/powerpoint/2010/main" val="378919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976438" y="5291138"/>
            <a:ext cx="6048375" cy="625475"/>
          </a:xfrm>
        </p:spPr>
        <p:txBody>
          <a:bodyPr anchor="b"/>
          <a:lstStyle>
            <a:lvl1pPr algn="l">
              <a:defRPr sz="2000" b="1"/>
            </a:lvl1pPr>
          </a:lstStyle>
          <a:p>
            <a:r>
              <a:rPr lang="x-none" smtClean="0"/>
              <a:t>Clic para editar título</a:t>
            </a:r>
            <a:endParaRPr lang="es-ES"/>
          </a:p>
        </p:txBody>
      </p:sp>
      <p:sp>
        <p:nvSpPr>
          <p:cNvPr id="3" name="Marcador de posición de imagen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Haga clic para modificar el estilo de texto del patrón</a:t>
            </a:r>
          </a:p>
        </p:txBody>
      </p:sp>
      <p:sp>
        <p:nvSpPr>
          <p:cNvPr id="5" name="Marcador de fecha 4"/>
          <p:cNvSpPr>
            <a:spLocks noGrp="1"/>
          </p:cNvSpPr>
          <p:nvPr>
            <p:ph type="dt" idx="10"/>
          </p:nvPr>
        </p:nvSpPr>
        <p:spPr/>
        <p:txBody>
          <a:bodyPr/>
          <a:lstStyle>
            <a:lvl1pPr>
              <a:defRPr/>
            </a:lvl1pPr>
          </a:lstStyle>
          <a:p>
            <a:endParaRPr lang="es-AR"/>
          </a:p>
        </p:txBody>
      </p:sp>
      <p:sp>
        <p:nvSpPr>
          <p:cNvPr id="6" name="Marcador de pie de página 5"/>
          <p:cNvSpPr>
            <a:spLocks noGrp="1"/>
          </p:cNvSpPr>
          <p:nvPr>
            <p:ph type="ftr" idx="11"/>
          </p:nvPr>
        </p:nvSpPr>
        <p:spPr/>
        <p:txBody>
          <a:bodyPr/>
          <a:lstStyle>
            <a:lvl1pPr>
              <a:defRPr/>
            </a:lvl1pPr>
          </a:lstStyle>
          <a:p>
            <a:endParaRPr lang="es-AR"/>
          </a:p>
        </p:txBody>
      </p:sp>
      <p:sp>
        <p:nvSpPr>
          <p:cNvPr id="7" name="Marcador de número de diapositiva 6"/>
          <p:cNvSpPr>
            <a:spLocks noGrp="1"/>
          </p:cNvSpPr>
          <p:nvPr>
            <p:ph type="sldNum" idx="12"/>
          </p:nvPr>
        </p:nvSpPr>
        <p:spPr/>
        <p:txBody>
          <a:bodyPr/>
          <a:lstStyle>
            <a:lvl1pPr>
              <a:defRPr/>
            </a:lvl1pPr>
          </a:lstStyle>
          <a:p>
            <a:fld id="{04060336-3541-AA47-BFC2-A00E45A71429}" type="slidenum">
              <a:rPr lang="es-AR"/>
              <a:pPr/>
              <a:t>‹Nº›</a:t>
            </a:fld>
            <a:endParaRPr lang="es-AR"/>
          </a:p>
        </p:txBody>
      </p:sp>
    </p:spTree>
    <p:extLst>
      <p:ext uri="{BB962C8B-B14F-4D97-AF65-F5344CB8AC3E}">
        <p14:creationId xmlns:p14="http://schemas.microsoft.com/office/powerpoint/2010/main" val="1744580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texto vertical 2"/>
          <p:cNvSpPr>
            <a:spLocks noGrp="1"/>
          </p:cNvSpPr>
          <p:nvPr>
            <p:ph type="body" orient="vert" idx="1"/>
          </p:nvPr>
        </p:nvSpPr>
        <p:spPr/>
        <p:txBody>
          <a:bodyPr vert="eaVert"/>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idx="10"/>
          </p:nvPr>
        </p:nvSpPr>
        <p:spPr/>
        <p:txBody>
          <a:bodyPr/>
          <a:lstStyle>
            <a:lvl1pPr>
              <a:defRPr/>
            </a:lvl1pPr>
          </a:lstStyle>
          <a:p>
            <a:endParaRPr lang="es-AR"/>
          </a:p>
        </p:txBody>
      </p:sp>
      <p:sp>
        <p:nvSpPr>
          <p:cNvPr id="5" name="Marcador de pie de página 4"/>
          <p:cNvSpPr>
            <a:spLocks noGrp="1"/>
          </p:cNvSpPr>
          <p:nvPr>
            <p:ph type="ftr" idx="11"/>
          </p:nvPr>
        </p:nvSpPr>
        <p:spPr/>
        <p:txBody>
          <a:bodyPr/>
          <a:lstStyle>
            <a:lvl1pPr>
              <a:defRPr/>
            </a:lvl1pPr>
          </a:lstStyle>
          <a:p>
            <a:endParaRPr lang="es-AR"/>
          </a:p>
        </p:txBody>
      </p:sp>
      <p:sp>
        <p:nvSpPr>
          <p:cNvPr id="6" name="Marcador de número de diapositiva 5"/>
          <p:cNvSpPr>
            <a:spLocks noGrp="1"/>
          </p:cNvSpPr>
          <p:nvPr>
            <p:ph type="sldNum" idx="12"/>
          </p:nvPr>
        </p:nvSpPr>
        <p:spPr/>
        <p:txBody>
          <a:bodyPr/>
          <a:lstStyle>
            <a:lvl1pPr>
              <a:defRPr/>
            </a:lvl1pPr>
          </a:lstStyle>
          <a:p>
            <a:fld id="{700E7F59-0D57-BD44-981D-0D0EF3C2E003}" type="slidenum">
              <a:rPr lang="es-AR"/>
              <a:pPr/>
              <a:t>‹Nº›</a:t>
            </a:fld>
            <a:endParaRPr lang="es-AR"/>
          </a:p>
        </p:txBody>
      </p:sp>
    </p:spTree>
    <p:extLst>
      <p:ext uri="{BB962C8B-B14F-4D97-AF65-F5344CB8AC3E}">
        <p14:creationId xmlns:p14="http://schemas.microsoft.com/office/powerpoint/2010/main" val="2351859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305675" y="301625"/>
            <a:ext cx="2266950" cy="5849938"/>
          </a:xfrm>
        </p:spPr>
        <p:txBody>
          <a:bodyPr vert="eaVert"/>
          <a:lstStyle/>
          <a:p>
            <a:r>
              <a:rPr lang="x-none" smtClean="0"/>
              <a:t>Clic para editar título</a:t>
            </a:r>
            <a:endParaRPr lang="es-ES"/>
          </a:p>
        </p:txBody>
      </p:sp>
      <p:sp>
        <p:nvSpPr>
          <p:cNvPr id="3" name="Marcador de texto vertical 2"/>
          <p:cNvSpPr>
            <a:spLocks noGrp="1"/>
          </p:cNvSpPr>
          <p:nvPr>
            <p:ph type="body" orient="vert" idx="1"/>
          </p:nvPr>
        </p:nvSpPr>
        <p:spPr>
          <a:xfrm>
            <a:off x="503238" y="301625"/>
            <a:ext cx="6650037" cy="5849938"/>
          </a:xfrm>
        </p:spPr>
        <p:txBody>
          <a:bodyPr vert="eaVert"/>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idx="10"/>
          </p:nvPr>
        </p:nvSpPr>
        <p:spPr/>
        <p:txBody>
          <a:bodyPr/>
          <a:lstStyle>
            <a:lvl1pPr>
              <a:defRPr/>
            </a:lvl1pPr>
          </a:lstStyle>
          <a:p>
            <a:endParaRPr lang="es-AR"/>
          </a:p>
        </p:txBody>
      </p:sp>
      <p:sp>
        <p:nvSpPr>
          <p:cNvPr id="5" name="Marcador de pie de página 4"/>
          <p:cNvSpPr>
            <a:spLocks noGrp="1"/>
          </p:cNvSpPr>
          <p:nvPr>
            <p:ph type="ftr" idx="11"/>
          </p:nvPr>
        </p:nvSpPr>
        <p:spPr/>
        <p:txBody>
          <a:bodyPr/>
          <a:lstStyle>
            <a:lvl1pPr>
              <a:defRPr/>
            </a:lvl1pPr>
          </a:lstStyle>
          <a:p>
            <a:endParaRPr lang="es-AR"/>
          </a:p>
        </p:txBody>
      </p:sp>
      <p:sp>
        <p:nvSpPr>
          <p:cNvPr id="6" name="Marcador de número de diapositiva 5"/>
          <p:cNvSpPr>
            <a:spLocks noGrp="1"/>
          </p:cNvSpPr>
          <p:nvPr>
            <p:ph type="sldNum" idx="12"/>
          </p:nvPr>
        </p:nvSpPr>
        <p:spPr/>
        <p:txBody>
          <a:bodyPr/>
          <a:lstStyle>
            <a:lvl1pPr>
              <a:defRPr/>
            </a:lvl1pPr>
          </a:lstStyle>
          <a:p>
            <a:fld id="{33D6BC1D-73DF-A142-B430-D7E796DFAE40}" type="slidenum">
              <a:rPr lang="es-AR"/>
              <a:pPr/>
              <a:t>‹Nº›</a:t>
            </a:fld>
            <a:endParaRPr lang="es-AR"/>
          </a:p>
        </p:txBody>
      </p:sp>
    </p:spTree>
    <p:extLst>
      <p:ext uri="{BB962C8B-B14F-4D97-AF65-F5344CB8AC3E}">
        <p14:creationId xmlns:p14="http://schemas.microsoft.com/office/powerpoint/2010/main" val="140179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503238" y="301625"/>
            <a:ext cx="9069387" cy="1260475"/>
          </a:xfrm>
        </p:spPr>
        <p:txBody>
          <a:bodyPr/>
          <a:lstStyle/>
          <a:p>
            <a:r>
              <a:rPr lang="x-none" smtClean="0"/>
              <a:t>Clic para editar título</a:t>
            </a:r>
            <a:endParaRPr lang="es-ES"/>
          </a:p>
        </p:txBody>
      </p:sp>
      <p:sp>
        <p:nvSpPr>
          <p:cNvPr id="3" name="Marcador de fecha 2"/>
          <p:cNvSpPr>
            <a:spLocks noGrp="1"/>
          </p:cNvSpPr>
          <p:nvPr>
            <p:ph type="dt" idx="10"/>
          </p:nvPr>
        </p:nvSpPr>
        <p:spPr>
          <a:xfrm>
            <a:off x="503238" y="6886575"/>
            <a:ext cx="2346325" cy="519113"/>
          </a:xfrm>
        </p:spPr>
        <p:txBody>
          <a:bodyPr/>
          <a:lstStyle>
            <a:lvl1pPr>
              <a:defRPr/>
            </a:lvl1pPr>
          </a:lstStyle>
          <a:p>
            <a:endParaRPr lang="es-AR"/>
          </a:p>
        </p:txBody>
      </p:sp>
      <p:sp>
        <p:nvSpPr>
          <p:cNvPr id="4" name="Marcador de pie de página 3"/>
          <p:cNvSpPr>
            <a:spLocks noGrp="1"/>
          </p:cNvSpPr>
          <p:nvPr>
            <p:ph type="ftr" idx="11"/>
          </p:nvPr>
        </p:nvSpPr>
        <p:spPr>
          <a:xfrm>
            <a:off x="3448050" y="6886575"/>
            <a:ext cx="3194050" cy="519113"/>
          </a:xfrm>
        </p:spPr>
        <p:txBody>
          <a:bodyPr/>
          <a:lstStyle>
            <a:lvl1pPr>
              <a:defRPr/>
            </a:lvl1pPr>
          </a:lstStyle>
          <a:p>
            <a:endParaRPr lang="es-AR"/>
          </a:p>
        </p:txBody>
      </p:sp>
      <p:sp>
        <p:nvSpPr>
          <p:cNvPr id="5" name="Marcador de número de diapositiva 4"/>
          <p:cNvSpPr>
            <a:spLocks noGrp="1"/>
          </p:cNvSpPr>
          <p:nvPr>
            <p:ph type="sldNum" idx="12"/>
          </p:nvPr>
        </p:nvSpPr>
        <p:spPr>
          <a:xfrm>
            <a:off x="7227888" y="6886575"/>
            <a:ext cx="2346325" cy="519113"/>
          </a:xfrm>
        </p:spPr>
        <p:txBody>
          <a:bodyPr/>
          <a:lstStyle>
            <a:lvl1pPr>
              <a:defRPr/>
            </a:lvl1pPr>
          </a:lstStyle>
          <a:p>
            <a:fld id="{137899BB-315B-1F46-AF28-5E31C3E01A6F}" type="slidenum">
              <a:rPr lang="es-AR"/>
              <a:pPr/>
              <a:t>‹Nº›</a:t>
            </a:fld>
            <a:endParaRPr lang="es-AR"/>
          </a:p>
        </p:txBody>
      </p:sp>
    </p:spTree>
    <p:extLst>
      <p:ext uri="{BB962C8B-B14F-4D97-AF65-F5344CB8AC3E}">
        <p14:creationId xmlns:p14="http://schemas.microsoft.com/office/powerpoint/2010/main" val="302924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ulo con codigo 16pt">
    <p:spTree>
      <p:nvGrpSpPr>
        <p:cNvPr id="1" name=""/>
        <p:cNvGrpSpPr/>
        <p:nvPr/>
      </p:nvGrpSpPr>
      <p:grpSpPr>
        <a:xfrm>
          <a:off x="0" y="0"/>
          <a:ext cx="0" cy="0"/>
          <a:chOff x="0" y="0"/>
          <a:chExt cx="0" cy="0"/>
        </a:xfrm>
      </p:grpSpPr>
      <p:sp>
        <p:nvSpPr>
          <p:cNvPr id="2" name="Título 1"/>
          <p:cNvSpPr>
            <a:spLocks noGrp="1"/>
          </p:cNvSpPr>
          <p:nvPr>
            <p:ph type="title"/>
          </p:nvPr>
        </p:nvSpPr>
        <p:spPr>
          <a:xfrm>
            <a:off x="503238" y="301626"/>
            <a:ext cx="9069387" cy="741908"/>
          </a:xfrm>
        </p:spPr>
        <p:txBody>
          <a:bodyPr/>
          <a:lstStyle/>
          <a:p>
            <a:r>
              <a:rPr lang="x-none" smtClean="0"/>
              <a:t>Clic para editar título</a:t>
            </a:r>
            <a:endParaRPr lang="es-ES"/>
          </a:p>
        </p:txBody>
      </p:sp>
      <p:sp>
        <p:nvSpPr>
          <p:cNvPr id="7" name="Marcador de texto 6"/>
          <p:cNvSpPr>
            <a:spLocks noGrp="1"/>
          </p:cNvSpPr>
          <p:nvPr>
            <p:ph type="body" sz="quarter" idx="13"/>
          </p:nvPr>
        </p:nvSpPr>
        <p:spPr>
          <a:xfrm>
            <a:off x="503238" y="1187549"/>
            <a:ext cx="9073578" cy="5616624"/>
          </a:xfrm>
        </p:spPr>
        <p:txBody>
          <a:bodyPr/>
          <a:lstStyle>
            <a:lvl1pPr>
              <a:defRPr sz="1600">
                <a:latin typeface="Consolas"/>
              </a:defRPr>
            </a:lvl1pPr>
            <a:lvl2pPr>
              <a:defRPr sz="1600">
                <a:latin typeface="Consolas"/>
              </a:defRPr>
            </a:lvl2pPr>
            <a:lvl3pPr>
              <a:defRPr sz="1600">
                <a:latin typeface="Consolas"/>
              </a:defRPr>
            </a:lvl3pPr>
            <a:lvl4pPr>
              <a:defRPr sz="1600">
                <a:latin typeface="Consolas"/>
              </a:defRPr>
            </a:lvl4pPr>
            <a:lvl5pPr>
              <a:defRPr sz="1600">
                <a:latin typeface="Consolas"/>
              </a:defRPr>
            </a:lvl5pPr>
          </a:lstStyle>
          <a:p>
            <a:pPr lvl="0"/>
            <a:r>
              <a:rPr lang="x-none" dirty="0" smtClean="0"/>
              <a:t>Haga clic para modificar el estilo de texto del patrón</a:t>
            </a:r>
          </a:p>
          <a:p>
            <a:pPr lvl="1"/>
            <a:r>
              <a:rPr lang="x-none" dirty="0" smtClean="0"/>
              <a:t>Segundo nivel</a:t>
            </a:r>
          </a:p>
          <a:p>
            <a:pPr lvl="2"/>
            <a:r>
              <a:rPr lang="x-none" dirty="0" smtClean="0"/>
              <a:t>Tercer nivel</a:t>
            </a:r>
          </a:p>
          <a:p>
            <a:pPr lvl="3"/>
            <a:r>
              <a:rPr lang="x-none" dirty="0" smtClean="0"/>
              <a:t>Cuarto nivel</a:t>
            </a:r>
          </a:p>
          <a:p>
            <a:pPr lvl="4"/>
            <a:r>
              <a:rPr lang="x-none" dirty="0" smtClean="0"/>
              <a:t>Quinto nivel</a:t>
            </a:r>
            <a:endParaRPr lang="es-ES" dirty="0"/>
          </a:p>
        </p:txBody>
      </p:sp>
    </p:spTree>
    <p:extLst>
      <p:ext uri="{BB962C8B-B14F-4D97-AF65-F5344CB8AC3E}">
        <p14:creationId xmlns:p14="http://schemas.microsoft.com/office/powerpoint/2010/main" val="1004740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755650" y="2347913"/>
            <a:ext cx="8569325" cy="1620837"/>
          </a:xfrm>
        </p:spPr>
        <p:txBody>
          <a:bodyPr/>
          <a:lstStyle/>
          <a:p>
            <a:r>
              <a:rPr lang="x-none" smtClean="0"/>
              <a:t>Clic para editar título</a:t>
            </a:r>
            <a:endParaRPr lang="es-ES"/>
          </a:p>
        </p:txBody>
      </p:sp>
      <p:sp>
        <p:nvSpPr>
          <p:cNvPr id="3" name="Subtítulo 2"/>
          <p:cNvSpPr>
            <a:spLocks noGrp="1"/>
          </p:cNvSpPr>
          <p:nvPr>
            <p:ph type="subTitle" idx="1"/>
          </p:nvPr>
        </p:nvSpPr>
        <p:spPr>
          <a:xfrm>
            <a:off x="1512888" y="4283075"/>
            <a:ext cx="7056437" cy="1931988"/>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3636133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contenido 2"/>
          <p:cNvSpPr>
            <a:spLocks noGrp="1"/>
          </p:cNvSpPr>
          <p:nvPr>
            <p:ph idx="1"/>
          </p:nvPr>
        </p:nvSpPr>
        <p:spPr/>
        <p:txBody>
          <a:body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456355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96925" y="4857750"/>
            <a:ext cx="8567738" cy="1501775"/>
          </a:xfrm>
        </p:spPr>
        <p:txBody>
          <a:bodyPr anchor="t"/>
          <a:lstStyle>
            <a:lvl1pPr algn="l">
              <a:defRPr sz="4000" b="1" cap="all"/>
            </a:lvl1pPr>
          </a:lstStyle>
          <a:p>
            <a:r>
              <a:rPr lang="x-none" smtClean="0"/>
              <a:t>Clic para editar título</a:t>
            </a:r>
            <a:endParaRPr lang="es-ES"/>
          </a:p>
        </p:txBody>
      </p:sp>
      <p:sp>
        <p:nvSpPr>
          <p:cNvPr id="3" name="Marcador de texto 2"/>
          <p:cNvSpPr>
            <a:spLocks noGrp="1"/>
          </p:cNvSpPr>
          <p:nvPr>
            <p:ph type="body" idx="1"/>
          </p:nvPr>
        </p:nvSpPr>
        <p:spPr>
          <a:xfrm>
            <a:off x="796925" y="3203575"/>
            <a:ext cx="8567738" cy="1654175"/>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smtClean="0"/>
              <a:t>Haga clic para modificar el estilo de texto del patrón</a:t>
            </a:r>
          </a:p>
        </p:txBody>
      </p:sp>
      <p:sp>
        <p:nvSpPr>
          <p:cNvPr id="4" name="Marcador de fecha 3"/>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7406147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contenido 2"/>
          <p:cNvSpPr>
            <a:spLocks noGrp="1"/>
          </p:cNvSpPr>
          <p:nvPr>
            <p:ph sz="half" idx="1"/>
          </p:nvPr>
        </p:nvSpPr>
        <p:spPr>
          <a:xfrm>
            <a:off x="504825" y="1763713"/>
            <a:ext cx="4459288" cy="4989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contenido 3"/>
          <p:cNvSpPr>
            <a:spLocks noGrp="1"/>
          </p:cNvSpPr>
          <p:nvPr>
            <p:ph sz="half" idx="2"/>
          </p:nvPr>
        </p:nvSpPr>
        <p:spPr>
          <a:xfrm>
            <a:off x="5116513" y="1763713"/>
            <a:ext cx="4460875" cy="4989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5" name="Marcador de fecha 4"/>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7345328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x-none" smtClean="0"/>
              <a:t>Clic para editar título</a:t>
            </a:r>
            <a:endParaRPr lang="es-ES"/>
          </a:p>
        </p:txBody>
      </p:sp>
      <p:sp>
        <p:nvSpPr>
          <p:cNvPr id="3" name="Marcador de texto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Haga clic para modificar el estilo de texto del patrón</a:t>
            </a:r>
          </a:p>
        </p:txBody>
      </p:sp>
      <p:sp>
        <p:nvSpPr>
          <p:cNvPr id="4" name="Marcador de contenido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5" name="Marcador de texto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Haga clic para modificar el estilo de texto del patrón</a:t>
            </a:r>
          </a:p>
        </p:txBody>
      </p:sp>
      <p:sp>
        <p:nvSpPr>
          <p:cNvPr id="6" name="Marcador de contenido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7" name="Marcador de fecha 6"/>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40972949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fecha 2"/>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1589738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4243812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504825" y="301625"/>
            <a:ext cx="3316288" cy="1279525"/>
          </a:xfrm>
        </p:spPr>
        <p:txBody>
          <a:bodyPr anchor="b"/>
          <a:lstStyle>
            <a:lvl1pPr algn="l">
              <a:defRPr sz="2000" b="1"/>
            </a:lvl1pPr>
          </a:lstStyle>
          <a:p>
            <a:r>
              <a:rPr lang="x-none" smtClean="0"/>
              <a:t>Clic para editar título</a:t>
            </a:r>
            <a:endParaRPr lang="es-ES"/>
          </a:p>
        </p:txBody>
      </p:sp>
      <p:sp>
        <p:nvSpPr>
          <p:cNvPr id="3" name="Marcador de contenido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texto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Haga clic para modificar el estilo de texto del patrón</a:t>
            </a:r>
          </a:p>
        </p:txBody>
      </p:sp>
      <p:sp>
        <p:nvSpPr>
          <p:cNvPr id="5" name="Marcador de fecha 4"/>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15930676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976438" y="5291138"/>
            <a:ext cx="6048375" cy="625475"/>
          </a:xfrm>
        </p:spPr>
        <p:txBody>
          <a:bodyPr anchor="b"/>
          <a:lstStyle>
            <a:lvl1pPr algn="l">
              <a:defRPr sz="2000" b="1"/>
            </a:lvl1pPr>
          </a:lstStyle>
          <a:p>
            <a:r>
              <a:rPr lang="x-none" smtClean="0"/>
              <a:t>Clic para editar título</a:t>
            </a:r>
            <a:endParaRPr lang="es-ES"/>
          </a:p>
        </p:txBody>
      </p:sp>
      <p:sp>
        <p:nvSpPr>
          <p:cNvPr id="3" name="Marcador de posición de imagen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Haga clic para modificar el estilo de texto del patrón</a:t>
            </a:r>
          </a:p>
        </p:txBody>
      </p:sp>
      <p:sp>
        <p:nvSpPr>
          <p:cNvPr id="5" name="Marcador de fecha 4"/>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638291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texto vertical 2"/>
          <p:cNvSpPr>
            <a:spLocks noGrp="1"/>
          </p:cNvSpPr>
          <p:nvPr>
            <p:ph type="body" orient="vert" idx="1"/>
          </p:nvPr>
        </p:nvSpPr>
        <p:spPr/>
        <p:txBody>
          <a:bodyPr vert="eaVert"/>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31758600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310438" y="303213"/>
            <a:ext cx="2266950" cy="6450012"/>
          </a:xfrm>
        </p:spPr>
        <p:txBody>
          <a:bodyPr vert="eaVert"/>
          <a:lstStyle/>
          <a:p>
            <a:r>
              <a:rPr lang="x-none" smtClean="0"/>
              <a:t>Clic para editar título</a:t>
            </a:r>
            <a:endParaRPr lang="es-ES"/>
          </a:p>
        </p:txBody>
      </p:sp>
      <p:sp>
        <p:nvSpPr>
          <p:cNvPr id="3" name="Marcador de texto vertical 2"/>
          <p:cNvSpPr>
            <a:spLocks noGrp="1"/>
          </p:cNvSpPr>
          <p:nvPr>
            <p:ph type="body" orient="vert" idx="1"/>
          </p:nvPr>
        </p:nvSpPr>
        <p:spPr>
          <a:xfrm>
            <a:off x="504825" y="303213"/>
            <a:ext cx="6653213" cy="6450012"/>
          </a:xfrm>
        </p:spPr>
        <p:txBody>
          <a:bodyPr vert="eaVert"/>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sz="half" idx="10"/>
          </p:nvPr>
        </p:nvSpPr>
        <p:spPr/>
        <p:txBody>
          <a:bodyPr/>
          <a:lstStyle/>
          <a:p>
            <a:fld id="{D721D60E-1CDA-9642-A3DA-007D87F9A2B2}"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C4D6A72-32D2-704F-8A21-261F0100FB89}" type="slidenum">
              <a:rPr lang="es-ES" smtClean="0"/>
              <a:pPr/>
              <a:t>‹Nº›</a:t>
            </a:fld>
            <a:endParaRPr lang="es-ES"/>
          </a:p>
        </p:txBody>
      </p:sp>
    </p:spTree>
    <p:extLst>
      <p:ext uri="{BB962C8B-B14F-4D97-AF65-F5344CB8AC3E}">
        <p14:creationId xmlns:p14="http://schemas.microsoft.com/office/powerpoint/2010/main" val="1618188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755650" y="2347913"/>
            <a:ext cx="8569325" cy="1620837"/>
          </a:xfrm>
        </p:spPr>
        <p:txBody>
          <a:bodyPr/>
          <a:lstStyle/>
          <a:p>
            <a:r>
              <a:rPr lang="x-none" smtClean="0"/>
              <a:t>Clic para editar título</a:t>
            </a:r>
            <a:endParaRPr lang="es-ES"/>
          </a:p>
        </p:txBody>
      </p:sp>
      <p:sp>
        <p:nvSpPr>
          <p:cNvPr id="3" name="Subtítulo 2"/>
          <p:cNvSpPr>
            <a:spLocks noGrp="1"/>
          </p:cNvSpPr>
          <p:nvPr>
            <p:ph type="subTitle" idx="1"/>
          </p:nvPr>
        </p:nvSpPr>
        <p:spPr>
          <a:xfrm>
            <a:off x="1512888" y="4283075"/>
            <a:ext cx="7056437" cy="1931988"/>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25637863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contenido 2"/>
          <p:cNvSpPr>
            <a:spLocks noGrp="1"/>
          </p:cNvSpPr>
          <p:nvPr>
            <p:ph idx="1"/>
          </p:nvPr>
        </p:nvSpPr>
        <p:spPr/>
        <p:txBody>
          <a:body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36348209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96925" y="4857750"/>
            <a:ext cx="8567738" cy="1501775"/>
          </a:xfrm>
        </p:spPr>
        <p:txBody>
          <a:bodyPr anchor="t"/>
          <a:lstStyle>
            <a:lvl1pPr algn="l">
              <a:defRPr sz="4000" b="1" cap="all"/>
            </a:lvl1pPr>
          </a:lstStyle>
          <a:p>
            <a:r>
              <a:rPr lang="x-none" smtClean="0"/>
              <a:t>Clic para editar título</a:t>
            </a:r>
            <a:endParaRPr lang="es-ES"/>
          </a:p>
        </p:txBody>
      </p:sp>
      <p:sp>
        <p:nvSpPr>
          <p:cNvPr id="3" name="Marcador de texto 2"/>
          <p:cNvSpPr>
            <a:spLocks noGrp="1"/>
          </p:cNvSpPr>
          <p:nvPr>
            <p:ph type="body" idx="1"/>
          </p:nvPr>
        </p:nvSpPr>
        <p:spPr>
          <a:xfrm>
            <a:off x="796925" y="3203575"/>
            <a:ext cx="8567738" cy="1654175"/>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smtClean="0"/>
              <a:t>Haga clic para modificar el estilo de texto del patrón</a:t>
            </a:r>
          </a:p>
        </p:txBody>
      </p:sp>
      <p:sp>
        <p:nvSpPr>
          <p:cNvPr id="4" name="Marcador de fecha 3"/>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38531007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contenido 2"/>
          <p:cNvSpPr>
            <a:spLocks noGrp="1"/>
          </p:cNvSpPr>
          <p:nvPr>
            <p:ph sz="half" idx="1"/>
          </p:nvPr>
        </p:nvSpPr>
        <p:spPr>
          <a:xfrm>
            <a:off x="504825" y="1763713"/>
            <a:ext cx="4459288" cy="4989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contenido 3"/>
          <p:cNvSpPr>
            <a:spLocks noGrp="1"/>
          </p:cNvSpPr>
          <p:nvPr>
            <p:ph sz="half" idx="2"/>
          </p:nvPr>
        </p:nvSpPr>
        <p:spPr>
          <a:xfrm>
            <a:off x="5116513" y="1763713"/>
            <a:ext cx="4460875" cy="4989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5" name="Marcador de fecha 4"/>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19384144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x-none" smtClean="0"/>
              <a:t>Clic para editar título</a:t>
            </a:r>
            <a:endParaRPr lang="es-ES"/>
          </a:p>
        </p:txBody>
      </p:sp>
      <p:sp>
        <p:nvSpPr>
          <p:cNvPr id="3" name="Marcador de texto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Haga clic para modificar el estilo de texto del patrón</a:t>
            </a:r>
          </a:p>
        </p:txBody>
      </p:sp>
      <p:sp>
        <p:nvSpPr>
          <p:cNvPr id="4" name="Marcador de contenido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5" name="Marcador de texto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Haga clic para modificar el estilo de texto del patrón</a:t>
            </a:r>
          </a:p>
        </p:txBody>
      </p:sp>
      <p:sp>
        <p:nvSpPr>
          <p:cNvPr id="6" name="Marcador de contenido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7" name="Marcador de fecha 6"/>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4355934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fecha 2"/>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3987505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17356930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504825" y="301625"/>
            <a:ext cx="3316288" cy="1279525"/>
          </a:xfrm>
        </p:spPr>
        <p:txBody>
          <a:bodyPr anchor="b"/>
          <a:lstStyle>
            <a:lvl1pPr algn="l">
              <a:defRPr sz="2000" b="1"/>
            </a:lvl1pPr>
          </a:lstStyle>
          <a:p>
            <a:r>
              <a:rPr lang="x-none" smtClean="0"/>
              <a:t>Clic para editar título</a:t>
            </a:r>
            <a:endParaRPr lang="es-ES"/>
          </a:p>
        </p:txBody>
      </p:sp>
      <p:sp>
        <p:nvSpPr>
          <p:cNvPr id="3" name="Marcador de contenido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texto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Haga clic para modificar el estilo de texto del patrón</a:t>
            </a:r>
          </a:p>
        </p:txBody>
      </p:sp>
      <p:sp>
        <p:nvSpPr>
          <p:cNvPr id="5" name="Marcador de fecha 4"/>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6469191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976438" y="5291138"/>
            <a:ext cx="6048375" cy="625475"/>
          </a:xfrm>
        </p:spPr>
        <p:txBody>
          <a:bodyPr anchor="b"/>
          <a:lstStyle>
            <a:lvl1pPr algn="l">
              <a:defRPr sz="2000" b="1"/>
            </a:lvl1pPr>
          </a:lstStyle>
          <a:p>
            <a:r>
              <a:rPr lang="x-none" smtClean="0"/>
              <a:t>Clic para editar título</a:t>
            </a:r>
            <a:endParaRPr lang="es-ES"/>
          </a:p>
        </p:txBody>
      </p:sp>
      <p:sp>
        <p:nvSpPr>
          <p:cNvPr id="3" name="Marcador de posición de imagen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Haga clic para modificar el estilo de texto del patrón</a:t>
            </a:r>
          </a:p>
        </p:txBody>
      </p:sp>
      <p:sp>
        <p:nvSpPr>
          <p:cNvPr id="5" name="Marcador de fecha 4"/>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6815359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x-none" smtClean="0"/>
              <a:t>Clic para editar título</a:t>
            </a:r>
            <a:endParaRPr lang="es-ES"/>
          </a:p>
        </p:txBody>
      </p:sp>
      <p:sp>
        <p:nvSpPr>
          <p:cNvPr id="3" name="Marcador de texto vertical 2"/>
          <p:cNvSpPr>
            <a:spLocks noGrp="1"/>
          </p:cNvSpPr>
          <p:nvPr>
            <p:ph type="body" orient="vert" idx="1"/>
          </p:nvPr>
        </p:nvSpPr>
        <p:spPr/>
        <p:txBody>
          <a:bodyPr vert="eaVert"/>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237617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310438" y="303213"/>
            <a:ext cx="2266950" cy="6450012"/>
          </a:xfrm>
        </p:spPr>
        <p:txBody>
          <a:bodyPr vert="eaVert"/>
          <a:lstStyle/>
          <a:p>
            <a:r>
              <a:rPr lang="x-none" smtClean="0"/>
              <a:t>Clic para editar título</a:t>
            </a:r>
            <a:endParaRPr lang="es-ES"/>
          </a:p>
        </p:txBody>
      </p:sp>
      <p:sp>
        <p:nvSpPr>
          <p:cNvPr id="3" name="Marcador de texto vertical 2"/>
          <p:cNvSpPr>
            <a:spLocks noGrp="1"/>
          </p:cNvSpPr>
          <p:nvPr>
            <p:ph type="body" orient="vert" idx="1"/>
          </p:nvPr>
        </p:nvSpPr>
        <p:spPr>
          <a:xfrm>
            <a:off x="504825" y="303213"/>
            <a:ext cx="6653213" cy="6450012"/>
          </a:xfrm>
        </p:spPr>
        <p:txBody>
          <a:bodyPr vert="eaVert"/>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sz="half" idx="10"/>
          </p:nvPr>
        </p:nvSpPr>
        <p:spPr/>
        <p:txBody>
          <a:bodyPr/>
          <a:lstStyle/>
          <a:p>
            <a:fld id="{3426E119-AD7A-0348-B25F-98D69D5E68ED}" type="datetimeFigureOut">
              <a:rPr lang="es-ES" smtClean="0"/>
              <a:pPr/>
              <a:t>30/04/2019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783375A-6D1B-F845-BD7F-4E8E7C31E85A}" type="slidenum">
              <a:rPr lang="es-ES" smtClean="0"/>
              <a:pPr/>
              <a:t>‹Nº›</a:t>
            </a:fld>
            <a:endParaRPr lang="es-ES"/>
          </a:p>
        </p:txBody>
      </p:sp>
    </p:spTree>
    <p:extLst>
      <p:ext uri="{BB962C8B-B14F-4D97-AF65-F5344CB8AC3E}">
        <p14:creationId xmlns:p14="http://schemas.microsoft.com/office/powerpoint/2010/main" val="245014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503238" y="301625"/>
            <a:ext cx="9069387" cy="1260475"/>
          </a:xfrm>
          <a:prstGeom prst="rect">
            <a:avLst/>
          </a:prstGeom>
          <a:solidFill>
            <a:srgbClr val="FFFFFF"/>
          </a:solidFill>
          <a:ln>
            <a:noFill/>
          </a:ln>
          <a:effectLst/>
          <a:extLs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ctr" anchorCtr="0" compatLnSpc="1">
            <a:prstTxWarp prst="textNoShape">
              <a:avLst/>
            </a:prstTxWarp>
          </a:bodyPr>
          <a:lstStyle/>
          <a:p>
            <a:pPr lvl="0"/>
            <a:r>
              <a:rPr lang="en-GB" dirty="0"/>
              <a:t>Click to edit the title text format</a:t>
            </a:r>
          </a:p>
        </p:txBody>
      </p:sp>
      <p:sp>
        <p:nvSpPr>
          <p:cNvPr id="1026" name="Rectangle 2"/>
          <p:cNvSpPr>
            <a:spLocks noGrp="1" noChangeArrowheads="1"/>
          </p:cNvSpPr>
          <p:nvPr>
            <p:ph type="body" idx="1"/>
          </p:nvPr>
        </p:nvSpPr>
        <p:spPr bwMode="auto">
          <a:xfrm>
            <a:off x="503238" y="1768475"/>
            <a:ext cx="9069387" cy="43830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10080" rIns="0" bIns="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p:txBody>
      </p:sp>
      <p:sp>
        <p:nvSpPr>
          <p:cNvPr id="1027" name="Rectangle 3"/>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Lst>
              <a:defRPr sz="1400">
                <a:solidFill>
                  <a:srgbClr val="000000"/>
                </a:solidFill>
                <a:cs typeface="Tahoma" charset="0"/>
              </a:defRPr>
            </a:lvl1pPr>
          </a:lstStyle>
          <a:p>
            <a:endParaRPr lang="es-AR"/>
          </a:p>
        </p:txBody>
      </p:sp>
      <p:sp>
        <p:nvSpPr>
          <p:cNvPr id="1028" name="Rectangle 4"/>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ctr">
              <a:tabLst>
                <a:tab pos="449263" algn="l"/>
                <a:tab pos="898525" algn="l"/>
                <a:tab pos="1347788" algn="l"/>
                <a:tab pos="1797050" algn="l"/>
                <a:tab pos="2246313" algn="l"/>
                <a:tab pos="2695575" algn="l"/>
                <a:tab pos="3144838" algn="l"/>
              </a:tabLst>
              <a:defRPr sz="1400">
                <a:solidFill>
                  <a:srgbClr val="000000"/>
                </a:solidFill>
                <a:cs typeface="Tahoma" charset="0"/>
              </a:defRPr>
            </a:lvl1pPr>
          </a:lstStyle>
          <a:p>
            <a:endParaRPr lang="es-AR"/>
          </a:p>
        </p:txBody>
      </p:sp>
      <p:sp>
        <p:nvSpPr>
          <p:cNvPr id="1029" name="Rectangle 5"/>
          <p:cNvSpPr>
            <a:spLocks noGrp="1" noChangeArrowheads="1"/>
          </p:cNvSpPr>
          <p:nvPr>
            <p:ph type="sldNum"/>
          </p:nvPr>
        </p:nvSpPr>
        <p:spPr bwMode="auto">
          <a:xfrm>
            <a:off x="7227888" y="6886575"/>
            <a:ext cx="2346325"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Lst>
              <a:defRPr sz="1400">
                <a:solidFill>
                  <a:srgbClr val="000000"/>
                </a:solidFill>
                <a:cs typeface="Tahoma" charset="0"/>
              </a:defRPr>
            </a:lvl1pPr>
          </a:lstStyle>
          <a:p>
            <a:fld id="{14CC1B07-D942-854A-A226-658893604AD0}" type="slidenum">
              <a:rPr lang="es-AR"/>
              <a:pPr/>
              <a:t>‹Nº›</a:t>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6" r:id="rId13"/>
  </p:sldLayoutIdLst>
  <p:txStyles>
    <p:titleStyle>
      <a:lvl1pPr algn="l" defTabSz="449263" rtl="0" fontAlgn="base" hangingPunct="0">
        <a:lnSpc>
          <a:spcPct val="96000"/>
        </a:lnSpc>
        <a:spcBef>
          <a:spcPct val="0"/>
        </a:spcBef>
        <a:spcAft>
          <a:spcPct val="0"/>
        </a:spcAft>
        <a:buClr>
          <a:srgbClr val="000000"/>
        </a:buClr>
        <a:buSzPct val="100000"/>
        <a:buFont typeface="Times New Roman" charset="0"/>
        <a:defRPr sz="3600" baseline="0">
          <a:solidFill>
            <a:srgbClr val="000000"/>
          </a:solidFill>
          <a:latin typeface="Gill Sans Light"/>
          <a:ea typeface="+mj-ea"/>
          <a:cs typeface="+mj-cs"/>
        </a:defRPr>
      </a:lvl1pPr>
      <a:lvl2pPr marL="742950" indent="-285750" algn="r" defTabSz="449263" rtl="0" fontAlgn="base" hangingPunct="0">
        <a:lnSpc>
          <a:spcPct val="96000"/>
        </a:lnSpc>
        <a:spcBef>
          <a:spcPct val="0"/>
        </a:spcBef>
        <a:spcAft>
          <a:spcPct val="0"/>
        </a:spcAft>
        <a:buClr>
          <a:srgbClr val="000000"/>
        </a:buClr>
        <a:buSzPct val="100000"/>
        <a:buFont typeface="Times New Roman" charset="0"/>
        <a:defRPr sz="3600">
          <a:solidFill>
            <a:srgbClr val="000000"/>
          </a:solidFill>
          <a:latin typeface="Gill Sans" charset="0"/>
          <a:ea typeface="SimSun" charset="0"/>
          <a:cs typeface="SimSun" charset="0"/>
        </a:defRPr>
      </a:lvl2pPr>
      <a:lvl3pPr marL="1143000" indent="-228600" algn="r" defTabSz="449263" rtl="0" fontAlgn="base" hangingPunct="0">
        <a:lnSpc>
          <a:spcPct val="96000"/>
        </a:lnSpc>
        <a:spcBef>
          <a:spcPct val="0"/>
        </a:spcBef>
        <a:spcAft>
          <a:spcPct val="0"/>
        </a:spcAft>
        <a:buClr>
          <a:srgbClr val="000000"/>
        </a:buClr>
        <a:buSzPct val="100000"/>
        <a:buFont typeface="Times New Roman" charset="0"/>
        <a:defRPr sz="3600">
          <a:solidFill>
            <a:srgbClr val="000000"/>
          </a:solidFill>
          <a:latin typeface="Gill Sans" charset="0"/>
          <a:ea typeface="SimSun" charset="0"/>
          <a:cs typeface="SimSun" charset="0"/>
        </a:defRPr>
      </a:lvl3pPr>
      <a:lvl4pPr marL="1600200" indent="-228600" algn="r" defTabSz="449263" rtl="0" fontAlgn="base" hangingPunct="0">
        <a:lnSpc>
          <a:spcPct val="96000"/>
        </a:lnSpc>
        <a:spcBef>
          <a:spcPct val="0"/>
        </a:spcBef>
        <a:spcAft>
          <a:spcPct val="0"/>
        </a:spcAft>
        <a:buClr>
          <a:srgbClr val="000000"/>
        </a:buClr>
        <a:buSzPct val="100000"/>
        <a:buFont typeface="Times New Roman" charset="0"/>
        <a:defRPr sz="3600">
          <a:solidFill>
            <a:srgbClr val="000000"/>
          </a:solidFill>
          <a:latin typeface="Gill Sans" charset="0"/>
          <a:ea typeface="SimSun" charset="0"/>
          <a:cs typeface="SimSun" charset="0"/>
        </a:defRPr>
      </a:lvl4pPr>
      <a:lvl5pPr marL="2057400" indent="-228600" algn="r" defTabSz="449263" rtl="0" fontAlgn="base" hangingPunct="0">
        <a:lnSpc>
          <a:spcPct val="96000"/>
        </a:lnSpc>
        <a:spcBef>
          <a:spcPct val="0"/>
        </a:spcBef>
        <a:spcAft>
          <a:spcPct val="0"/>
        </a:spcAft>
        <a:buClr>
          <a:srgbClr val="000000"/>
        </a:buClr>
        <a:buSzPct val="100000"/>
        <a:buFont typeface="Times New Roman" charset="0"/>
        <a:defRPr sz="3600">
          <a:solidFill>
            <a:srgbClr val="000000"/>
          </a:solidFill>
          <a:latin typeface="Gill Sans" charset="0"/>
          <a:ea typeface="SimSun" charset="0"/>
          <a:cs typeface="SimSun" charset="0"/>
        </a:defRPr>
      </a:lvl5pPr>
      <a:lvl6pPr marL="2514600" indent="-228600" algn="r" defTabSz="449263" rtl="0" fontAlgn="base" hangingPunct="0">
        <a:lnSpc>
          <a:spcPct val="96000"/>
        </a:lnSpc>
        <a:spcBef>
          <a:spcPct val="0"/>
        </a:spcBef>
        <a:spcAft>
          <a:spcPct val="0"/>
        </a:spcAft>
        <a:buClr>
          <a:srgbClr val="000000"/>
        </a:buClr>
        <a:buSzPct val="100000"/>
        <a:buFont typeface="Times New Roman" charset="0"/>
        <a:defRPr sz="3600">
          <a:solidFill>
            <a:srgbClr val="000000"/>
          </a:solidFill>
          <a:latin typeface="Gill Sans" charset="0"/>
          <a:ea typeface="SimSun" charset="0"/>
          <a:cs typeface="SimSun" charset="0"/>
        </a:defRPr>
      </a:lvl6pPr>
      <a:lvl7pPr marL="2971800" indent="-228600" algn="r" defTabSz="449263" rtl="0" fontAlgn="base" hangingPunct="0">
        <a:lnSpc>
          <a:spcPct val="96000"/>
        </a:lnSpc>
        <a:spcBef>
          <a:spcPct val="0"/>
        </a:spcBef>
        <a:spcAft>
          <a:spcPct val="0"/>
        </a:spcAft>
        <a:buClr>
          <a:srgbClr val="000000"/>
        </a:buClr>
        <a:buSzPct val="100000"/>
        <a:buFont typeface="Times New Roman" charset="0"/>
        <a:defRPr sz="3600">
          <a:solidFill>
            <a:srgbClr val="000000"/>
          </a:solidFill>
          <a:latin typeface="Gill Sans" charset="0"/>
          <a:ea typeface="SimSun" charset="0"/>
          <a:cs typeface="SimSun" charset="0"/>
        </a:defRPr>
      </a:lvl7pPr>
      <a:lvl8pPr marL="3429000" indent="-228600" algn="r" defTabSz="449263" rtl="0" fontAlgn="base" hangingPunct="0">
        <a:lnSpc>
          <a:spcPct val="96000"/>
        </a:lnSpc>
        <a:spcBef>
          <a:spcPct val="0"/>
        </a:spcBef>
        <a:spcAft>
          <a:spcPct val="0"/>
        </a:spcAft>
        <a:buClr>
          <a:srgbClr val="000000"/>
        </a:buClr>
        <a:buSzPct val="100000"/>
        <a:buFont typeface="Times New Roman" charset="0"/>
        <a:defRPr sz="3600">
          <a:solidFill>
            <a:srgbClr val="000000"/>
          </a:solidFill>
          <a:latin typeface="Gill Sans" charset="0"/>
          <a:ea typeface="SimSun" charset="0"/>
          <a:cs typeface="SimSun" charset="0"/>
        </a:defRPr>
      </a:lvl8pPr>
      <a:lvl9pPr marL="3886200" indent="-228600" algn="r" defTabSz="449263" rtl="0" fontAlgn="base" hangingPunct="0">
        <a:lnSpc>
          <a:spcPct val="96000"/>
        </a:lnSpc>
        <a:spcBef>
          <a:spcPct val="0"/>
        </a:spcBef>
        <a:spcAft>
          <a:spcPct val="0"/>
        </a:spcAft>
        <a:buClr>
          <a:srgbClr val="000000"/>
        </a:buClr>
        <a:buSzPct val="100000"/>
        <a:buFont typeface="Times New Roman" charset="0"/>
        <a:defRPr sz="3600">
          <a:solidFill>
            <a:srgbClr val="000000"/>
          </a:solidFill>
          <a:latin typeface="Gill Sans" charset="0"/>
          <a:ea typeface="SimSun" charset="0"/>
          <a:cs typeface="SimSun" charset="0"/>
        </a:defRPr>
      </a:lvl9pPr>
    </p:titleStyle>
    <p:bodyStyle>
      <a:lvl1pPr marL="342900" indent="-342900" algn="l" defTabSz="449263" rtl="0" fontAlgn="base" hangingPunct="0">
        <a:lnSpc>
          <a:spcPct val="96000"/>
        </a:lnSpc>
        <a:spcBef>
          <a:spcPct val="0"/>
        </a:spcBef>
        <a:spcAft>
          <a:spcPts val="875"/>
        </a:spcAft>
        <a:buClr>
          <a:srgbClr val="000000"/>
        </a:buClr>
        <a:buSzPct val="100000"/>
        <a:buFont typeface="Times New Roman" charset="0"/>
        <a:defRPr sz="2000">
          <a:solidFill>
            <a:srgbClr val="000000"/>
          </a:solidFill>
          <a:latin typeface="Gill Sans Light"/>
          <a:ea typeface="+mn-ea"/>
          <a:cs typeface="+mn-cs"/>
        </a:defRPr>
      </a:lvl1pPr>
      <a:lvl2pPr marL="742950" indent="-285750" algn="l" defTabSz="449263" rtl="0" fontAlgn="base" hangingPunct="0">
        <a:lnSpc>
          <a:spcPct val="96000"/>
        </a:lnSpc>
        <a:spcBef>
          <a:spcPct val="0"/>
        </a:spcBef>
        <a:spcAft>
          <a:spcPts val="1138"/>
        </a:spcAft>
        <a:buClr>
          <a:srgbClr val="000000"/>
        </a:buClr>
        <a:buSzPct val="100000"/>
        <a:buFont typeface="Times New Roman" charset="0"/>
        <a:defRPr sz="1600">
          <a:solidFill>
            <a:srgbClr val="000000"/>
          </a:solidFill>
          <a:latin typeface="Gill Sans Light"/>
          <a:ea typeface="+mn-ea"/>
          <a:cs typeface="+mn-cs"/>
        </a:defRPr>
      </a:lvl2pPr>
      <a:lvl3pPr marL="1143000" indent="-228600" algn="l" defTabSz="449263" rtl="0" fontAlgn="base" hangingPunct="0">
        <a:lnSpc>
          <a:spcPct val="96000"/>
        </a:lnSpc>
        <a:spcBef>
          <a:spcPct val="0"/>
        </a:spcBef>
        <a:spcAft>
          <a:spcPts val="850"/>
        </a:spcAft>
        <a:buClr>
          <a:srgbClr val="000000"/>
        </a:buClr>
        <a:buSzPct val="100000"/>
        <a:buFont typeface="Times New Roman" charset="0"/>
        <a:defRPr sz="1600">
          <a:solidFill>
            <a:srgbClr val="000000"/>
          </a:solidFill>
          <a:latin typeface="Gill Sans Light"/>
          <a:ea typeface="+mn-ea"/>
          <a:cs typeface="+mn-cs"/>
        </a:defRPr>
      </a:lvl3pPr>
      <a:lvl4pPr marL="1600200" indent="-228600" algn="l" defTabSz="449263" rtl="0" fontAlgn="base" hangingPunct="0">
        <a:lnSpc>
          <a:spcPct val="96000"/>
        </a:lnSpc>
        <a:spcBef>
          <a:spcPct val="0"/>
        </a:spcBef>
        <a:spcAft>
          <a:spcPts val="575"/>
        </a:spcAft>
        <a:buClr>
          <a:srgbClr val="000000"/>
        </a:buClr>
        <a:buSzPct val="100000"/>
        <a:buFont typeface="Times New Roman" charset="0"/>
        <a:defRPr sz="1400">
          <a:solidFill>
            <a:srgbClr val="000000"/>
          </a:solidFill>
          <a:latin typeface="Gill Sans Light"/>
          <a:ea typeface="+mn-ea"/>
          <a:cs typeface="+mn-cs"/>
        </a:defRPr>
      </a:lvl4pPr>
      <a:lvl5pPr marL="2057400" indent="-228600" algn="l" defTabSz="449263" rtl="0" fontAlgn="base" hangingPunct="0">
        <a:lnSpc>
          <a:spcPct val="96000"/>
        </a:lnSpc>
        <a:spcBef>
          <a:spcPct val="0"/>
        </a:spcBef>
        <a:spcAft>
          <a:spcPts val="288"/>
        </a:spcAft>
        <a:buClr>
          <a:srgbClr val="000000"/>
        </a:buClr>
        <a:buSzPct val="100000"/>
        <a:buFont typeface="Times New Roman" charset="0"/>
        <a:defRPr sz="1200">
          <a:solidFill>
            <a:srgbClr val="000000"/>
          </a:solidFill>
          <a:latin typeface="+mn-lt"/>
          <a:ea typeface="+mn-ea"/>
          <a:cs typeface="+mn-cs"/>
        </a:defRPr>
      </a:lvl5pPr>
      <a:lvl6pPr marL="2514600" indent="-228600" algn="l" defTabSz="449263" rtl="0" fontAlgn="base" hangingPunct="0">
        <a:lnSpc>
          <a:spcPct val="96000"/>
        </a:lnSpc>
        <a:spcBef>
          <a:spcPct val="0"/>
        </a:spcBef>
        <a:spcAft>
          <a:spcPts val="288"/>
        </a:spcAft>
        <a:buClr>
          <a:srgbClr val="000000"/>
        </a:buClr>
        <a:buSzPct val="100000"/>
        <a:buFont typeface="Times New Roman" charset="0"/>
        <a:defRPr sz="1200">
          <a:solidFill>
            <a:srgbClr val="000000"/>
          </a:solidFill>
          <a:latin typeface="+mn-lt"/>
          <a:ea typeface="+mn-ea"/>
          <a:cs typeface="+mn-cs"/>
        </a:defRPr>
      </a:lvl6pPr>
      <a:lvl7pPr marL="2971800" indent="-228600" algn="l" defTabSz="449263" rtl="0" fontAlgn="base" hangingPunct="0">
        <a:lnSpc>
          <a:spcPct val="96000"/>
        </a:lnSpc>
        <a:spcBef>
          <a:spcPct val="0"/>
        </a:spcBef>
        <a:spcAft>
          <a:spcPts val="288"/>
        </a:spcAft>
        <a:buClr>
          <a:srgbClr val="000000"/>
        </a:buClr>
        <a:buSzPct val="100000"/>
        <a:buFont typeface="Times New Roman" charset="0"/>
        <a:defRPr sz="1200">
          <a:solidFill>
            <a:srgbClr val="000000"/>
          </a:solidFill>
          <a:latin typeface="+mn-lt"/>
          <a:ea typeface="+mn-ea"/>
          <a:cs typeface="+mn-cs"/>
        </a:defRPr>
      </a:lvl7pPr>
      <a:lvl8pPr marL="3429000" indent="-228600" algn="l" defTabSz="449263" rtl="0" fontAlgn="base" hangingPunct="0">
        <a:lnSpc>
          <a:spcPct val="96000"/>
        </a:lnSpc>
        <a:spcBef>
          <a:spcPct val="0"/>
        </a:spcBef>
        <a:spcAft>
          <a:spcPts val="288"/>
        </a:spcAft>
        <a:buClr>
          <a:srgbClr val="000000"/>
        </a:buClr>
        <a:buSzPct val="100000"/>
        <a:buFont typeface="Times New Roman" charset="0"/>
        <a:defRPr sz="1200">
          <a:solidFill>
            <a:srgbClr val="000000"/>
          </a:solidFill>
          <a:latin typeface="+mn-lt"/>
          <a:ea typeface="+mn-ea"/>
          <a:cs typeface="+mn-cs"/>
        </a:defRPr>
      </a:lvl8pPr>
      <a:lvl9pPr marL="3886200" indent="-228600" algn="l" defTabSz="449263" rtl="0" fontAlgn="base" hangingPunct="0">
        <a:lnSpc>
          <a:spcPct val="96000"/>
        </a:lnSpc>
        <a:spcBef>
          <a:spcPct val="0"/>
        </a:spcBef>
        <a:spcAft>
          <a:spcPts val="288"/>
        </a:spcAft>
        <a:buClr>
          <a:srgbClr val="000000"/>
        </a:buClr>
        <a:buSzPct val="100000"/>
        <a:buFont typeface="Times New Roman" charset="0"/>
        <a:defRPr sz="1200">
          <a:solidFill>
            <a:srgbClr val="000000"/>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504825" y="303214"/>
            <a:ext cx="9072563" cy="740320"/>
          </a:xfrm>
          <a:prstGeom prst="rect">
            <a:avLst/>
          </a:prstGeom>
        </p:spPr>
        <p:txBody>
          <a:bodyPr vert="horz" lIns="91440" tIns="45720" rIns="91440" bIns="45720" rtlCol="0" anchor="ctr">
            <a:normAutofit/>
          </a:bodyPr>
          <a:lstStyle/>
          <a:p>
            <a:r>
              <a:rPr lang="x-none" dirty="0" smtClean="0"/>
              <a:t>Clic para editar título</a:t>
            </a:r>
            <a:endParaRPr lang="es-ES" dirty="0"/>
          </a:p>
        </p:txBody>
      </p:sp>
      <p:sp>
        <p:nvSpPr>
          <p:cNvPr id="3" name="Marcador de texto 2"/>
          <p:cNvSpPr>
            <a:spLocks noGrp="1"/>
          </p:cNvSpPr>
          <p:nvPr>
            <p:ph type="body" idx="1"/>
          </p:nvPr>
        </p:nvSpPr>
        <p:spPr>
          <a:xfrm>
            <a:off x="504825" y="1763713"/>
            <a:ext cx="9072563" cy="4989512"/>
          </a:xfrm>
          <a:prstGeom prst="rect">
            <a:avLst/>
          </a:prstGeom>
        </p:spPr>
        <p:txBody>
          <a:bodyPr vert="horz" lIns="91440" tIns="45720" rIns="91440" bIns="45720" rtlCol="0">
            <a:normAutofit/>
          </a:body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sz="half" idx="2"/>
          </p:nvPr>
        </p:nvSpPr>
        <p:spPr>
          <a:xfrm>
            <a:off x="504825" y="7007225"/>
            <a:ext cx="2351088" cy="401638"/>
          </a:xfrm>
          <a:prstGeom prst="rect">
            <a:avLst/>
          </a:prstGeom>
        </p:spPr>
        <p:txBody>
          <a:bodyPr vert="horz" lIns="91440" tIns="45720" rIns="91440" bIns="45720" rtlCol="0" anchor="ctr"/>
          <a:lstStyle>
            <a:lvl1pPr algn="l">
              <a:defRPr sz="1200">
                <a:solidFill>
                  <a:schemeClr val="tx1">
                    <a:tint val="75000"/>
                  </a:schemeClr>
                </a:solidFill>
              </a:defRPr>
            </a:lvl1pPr>
          </a:lstStyle>
          <a:p>
            <a:fld id="{D721D60E-1CDA-9642-A3DA-007D87F9A2B2}" type="datetimeFigureOut">
              <a:rPr lang="es-ES" smtClean="0"/>
              <a:pPr/>
              <a:t>30/04/2019</a:t>
            </a:fld>
            <a:endParaRPr lang="es-ES"/>
          </a:p>
        </p:txBody>
      </p:sp>
      <p:sp>
        <p:nvSpPr>
          <p:cNvPr id="5" name="Marcador de pie de página 4"/>
          <p:cNvSpPr>
            <a:spLocks noGrp="1"/>
          </p:cNvSpPr>
          <p:nvPr>
            <p:ph type="ftr" sz="quarter" idx="3"/>
          </p:nvPr>
        </p:nvSpPr>
        <p:spPr>
          <a:xfrm>
            <a:off x="3444875" y="7007225"/>
            <a:ext cx="3190875" cy="40163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7224713" y="7007225"/>
            <a:ext cx="2352675" cy="401638"/>
          </a:xfrm>
          <a:prstGeom prst="rect">
            <a:avLst/>
          </a:prstGeom>
        </p:spPr>
        <p:txBody>
          <a:bodyPr vert="horz" lIns="91440" tIns="45720" rIns="91440" bIns="45720" rtlCol="0" anchor="ctr"/>
          <a:lstStyle>
            <a:lvl1pPr algn="r">
              <a:defRPr sz="1200">
                <a:solidFill>
                  <a:schemeClr val="tx1">
                    <a:tint val="75000"/>
                  </a:schemeClr>
                </a:solidFill>
              </a:defRPr>
            </a:lvl1pPr>
          </a:lstStyle>
          <a:p>
            <a:fld id="{7C4D6A72-32D2-704F-8A21-261F0100FB89}" type="slidenum">
              <a:rPr lang="es-ES" smtClean="0"/>
              <a:pPr/>
              <a:t>‹Nº›</a:t>
            </a:fld>
            <a:endParaRPr lang="es-ES"/>
          </a:p>
        </p:txBody>
      </p:sp>
    </p:spTree>
    <p:extLst>
      <p:ext uri="{BB962C8B-B14F-4D97-AF65-F5344CB8AC3E}">
        <p14:creationId xmlns:p14="http://schemas.microsoft.com/office/powerpoint/2010/main" val="320780466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504825" y="303213"/>
            <a:ext cx="9072563" cy="1258887"/>
          </a:xfrm>
          <a:prstGeom prst="rect">
            <a:avLst/>
          </a:prstGeom>
        </p:spPr>
        <p:txBody>
          <a:bodyPr vert="horz" lIns="91440" tIns="45720" rIns="91440" bIns="45720" rtlCol="0" anchor="ctr">
            <a:normAutofit/>
          </a:bodyPr>
          <a:lstStyle/>
          <a:p>
            <a:r>
              <a:rPr lang="x-none" smtClean="0"/>
              <a:t>Clic para editar título</a:t>
            </a:r>
            <a:endParaRPr lang="es-ES"/>
          </a:p>
        </p:txBody>
      </p:sp>
      <p:sp>
        <p:nvSpPr>
          <p:cNvPr id="3" name="Marcador de texto 2"/>
          <p:cNvSpPr>
            <a:spLocks noGrp="1"/>
          </p:cNvSpPr>
          <p:nvPr>
            <p:ph type="body" idx="1"/>
          </p:nvPr>
        </p:nvSpPr>
        <p:spPr>
          <a:xfrm>
            <a:off x="504825" y="1763713"/>
            <a:ext cx="9072563" cy="4989512"/>
          </a:xfrm>
          <a:prstGeom prst="rect">
            <a:avLst/>
          </a:prstGeom>
        </p:spPr>
        <p:txBody>
          <a:bodyPr vert="horz" lIns="91440" tIns="45720" rIns="91440" bIns="45720" rtlCol="0">
            <a:normAutofit/>
          </a:bodyPr>
          <a:lstStyle/>
          <a:p>
            <a:pPr lvl="0"/>
            <a:r>
              <a:rPr lang="x-none" smtClean="0"/>
              <a:t>Haga clic para modificar el estilo de texto del patrón</a:t>
            </a:r>
          </a:p>
          <a:p>
            <a:pPr lvl="1"/>
            <a:r>
              <a:rPr lang="x-none" smtClean="0"/>
              <a:t>Segundo nivel</a:t>
            </a:r>
          </a:p>
          <a:p>
            <a:pPr lvl="2"/>
            <a:r>
              <a:rPr lang="x-none" smtClean="0"/>
              <a:t>Tercer nivel</a:t>
            </a:r>
          </a:p>
          <a:p>
            <a:pPr lvl="3"/>
            <a:r>
              <a:rPr lang="x-none" smtClean="0"/>
              <a:t>Cuarto nivel</a:t>
            </a:r>
          </a:p>
          <a:p>
            <a:pPr lvl="4"/>
            <a:r>
              <a:rPr lang="x-none" smtClean="0"/>
              <a:t>Quinto nivel</a:t>
            </a:r>
            <a:endParaRPr lang="es-ES"/>
          </a:p>
        </p:txBody>
      </p:sp>
      <p:sp>
        <p:nvSpPr>
          <p:cNvPr id="4" name="Marcador de fecha 3"/>
          <p:cNvSpPr>
            <a:spLocks noGrp="1"/>
          </p:cNvSpPr>
          <p:nvPr>
            <p:ph type="dt" sz="half" idx="2"/>
          </p:nvPr>
        </p:nvSpPr>
        <p:spPr>
          <a:xfrm>
            <a:off x="504825" y="7007225"/>
            <a:ext cx="2351088" cy="401638"/>
          </a:xfrm>
          <a:prstGeom prst="rect">
            <a:avLst/>
          </a:prstGeom>
        </p:spPr>
        <p:txBody>
          <a:bodyPr vert="horz" lIns="91440" tIns="45720" rIns="91440" bIns="45720" rtlCol="0" anchor="ctr"/>
          <a:lstStyle>
            <a:lvl1pPr algn="l">
              <a:defRPr sz="1200">
                <a:solidFill>
                  <a:schemeClr val="tx1">
                    <a:tint val="75000"/>
                  </a:schemeClr>
                </a:solidFill>
              </a:defRPr>
            </a:lvl1pPr>
          </a:lstStyle>
          <a:p>
            <a:fld id="{3426E119-AD7A-0348-B25F-98D69D5E68ED}" type="datetimeFigureOut">
              <a:rPr lang="es-ES" smtClean="0"/>
              <a:pPr/>
              <a:t>30/04/2019</a:t>
            </a:fld>
            <a:endParaRPr lang="es-ES"/>
          </a:p>
        </p:txBody>
      </p:sp>
      <p:sp>
        <p:nvSpPr>
          <p:cNvPr id="5" name="Marcador de pie de página 4"/>
          <p:cNvSpPr>
            <a:spLocks noGrp="1"/>
          </p:cNvSpPr>
          <p:nvPr>
            <p:ph type="ftr" sz="quarter" idx="3"/>
          </p:nvPr>
        </p:nvSpPr>
        <p:spPr>
          <a:xfrm>
            <a:off x="3444875" y="7007225"/>
            <a:ext cx="3190875" cy="40163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7224713" y="7007225"/>
            <a:ext cx="2352675" cy="401638"/>
          </a:xfrm>
          <a:prstGeom prst="rect">
            <a:avLst/>
          </a:prstGeom>
        </p:spPr>
        <p:txBody>
          <a:bodyPr vert="horz" lIns="91440" tIns="45720" rIns="91440" bIns="45720" rtlCol="0" anchor="ctr"/>
          <a:lstStyle>
            <a:lvl1pPr algn="r">
              <a:defRPr sz="1200">
                <a:solidFill>
                  <a:schemeClr val="tx1">
                    <a:tint val="75000"/>
                  </a:schemeClr>
                </a:solidFill>
              </a:defRPr>
            </a:lvl1pPr>
          </a:lstStyle>
          <a:p>
            <a:fld id="{2783375A-6D1B-F845-BD7F-4E8E7C31E85A}" type="slidenum">
              <a:rPr lang="es-ES" smtClean="0"/>
              <a:pPr/>
              <a:t>‹Nº›</a:t>
            </a:fld>
            <a:endParaRPr lang="es-ES"/>
          </a:p>
        </p:txBody>
      </p:sp>
    </p:spTree>
    <p:extLst>
      <p:ext uri="{BB962C8B-B14F-4D97-AF65-F5344CB8AC3E}">
        <p14:creationId xmlns:p14="http://schemas.microsoft.com/office/powerpoint/2010/main" val="184129208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ocumen.tician.de/pycuda/index.html"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documen.tician.de/pycuda"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hyperlink" Target="https://pypi.org/project/reikna/" TargetMode="External"/><Relationship Id="rId4" Type="http://schemas.openxmlformats.org/officeDocument/2006/relationships/hyperlink" Target="http://documen.tician.de/pyopenc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p:cNvPicPr>
            <a:picLocks noChangeAspect="1" noChangeArrowheads="1"/>
          </p:cNvPicPr>
          <p:nvPr/>
        </p:nvPicPr>
        <p:blipFill>
          <a:blip r:embed="rId3">
            <a:extLst>
              <a:ext uri="{28A0092B-C50C-407E-A947-70E740481C1C}">
                <a14:useLocalDpi xmlns:a14="http://schemas.microsoft.com/office/drawing/2010/main" val="0"/>
              </a:ext>
            </a:extLst>
          </a:blip>
          <a:srcRect l="14328" t="9973" r="14880" b="9973"/>
          <a:stretch>
            <a:fillRect/>
          </a:stretch>
        </p:blipFill>
        <p:spPr bwMode="auto">
          <a:xfrm>
            <a:off x="985838" y="6227763"/>
            <a:ext cx="738187" cy="900112"/>
          </a:xfrm>
          <a:prstGeom prst="rect">
            <a:avLst/>
          </a:prstGeom>
          <a:noFill/>
          <a:ln>
            <a:noFill/>
          </a:ln>
          <a:effectLst/>
          <a:extLst>
            <a:ext uri="{909E8E84-426E-40dd-AFC4-6F175D3DCCD1}">
              <a14:hiddenFill xmlns="" xmlns:a14="http://schemas.microsoft.com/office/drawing/2010/main">
                <a:blipFill dpi="0" rotWithShape="0">
                  <a:blip/>
                  <a:srcRect l="14328" t="9973" r="14880" b="9973"/>
                  <a:stretch>
                    <a:fillRect/>
                  </a:stretch>
                </a:blip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3825" y="6227763"/>
            <a:ext cx="2101850" cy="90011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7863" y="6227763"/>
            <a:ext cx="917575" cy="90011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30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1250" y="6227763"/>
            <a:ext cx="658813" cy="90011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3465A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3077" name="Text Box 5"/>
          <p:cNvSpPr txBox="1">
            <a:spLocks noChangeArrowheads="1"/>
          </p:cNvSpPr>
          <p:nvPr/>
        </p:nvSpPr>
        <p:spPr bwMode="auto">
          <a:xfrm>
            <a:off x="606425" y="1879600"/>
            <a:ext cx="8856663" cy="792163"/>
          </a:xfrm>
          <a:prstGeom prst="rect">
            <a:avLst/>
          </a:prstGeom>
          <a:solidFill>
            <a:srgbClr val="76B900"/>
          </a:solidFill>
          <a:ln>
            <a:noFill/>
          </a:ln>
          <a:effectLst/>
          <a:extLst>
            <a:ext uri="{91240B29-F687-4f45-9708-019B960494DF}">
              <a14:hiddenLine xmlns="" xmlns:a14="http://schemas.microsoft.com/office/drawing/2010/main" w="9525" cap="flat">
                <a:solidFill>
                  <a:srgbClr val="FFFFF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61127" rIns="90000" bIns="45000" anchor="ctr" anchorCtr="1"/>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5pPr>
            <a:lvl6pPr marL="25146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6pPr>
            <a:lvl7pPr marL="29718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7pPr>
            <a:lvl8pPr marL="34290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8pPr>
            <a:lvl9pPr marL="38862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9pPr>
          </a:lstStyle>
          <a:p>
            <a:pPr algn="ctr">
              <a:spcBef>
                <a:spcPts val="1200"/>
              </a:spcBef>
              <a:spcAft>
                <a:spcPts val="600"/>
              </a:spcAft>
            </a:pPr>
            <a:r>
              <a:rPr lang="es-AR" sz="3200" dirty="0" smtClean="0">
                <a:solidFill>
                  <a:srgbClr val="FFFFFF"/>
                </a:solidFill>
                <a:latin typeface="Gill Sans Light"/>
                <a:cs typeface="Gill Sans Light"/>
              </a:rPr>
              <a:t>Introducción a </a:t>
            </a:r>
            <a:r>
              <a:rPr lang="es-AR" sz="3200" dirty="0" err="1" smtClean="0">
                <a:solidFill>
                  <a:srgbClr val="FFFFFF"/>
                </a:solidFill>
                <a:latin typeface="Gill Sans Light"/>
                <a:cs typeface="Gill Sans Light"/>
              </a:rPr>
              <a:t>PyCuda</a:t>
            </a:r>
            <a:endParaRPr lang="es-AR" sz="3200" dirty="0">
              <a:solidFill>
                <a:srgbClr val="FFFFFF"/>
              </a:solidFill>
              <a:latin typeface="Gill Sans Light"/>
              <a:cs typeface="Gill Sans Light"/>
            </a:endParaRPr>
          </a:p>
        </p:txBody>
      </p:sp>
      <p:sp>
        <p:nvSpPr>
          <p:cNvPr id="3078" name="Text Box 6"/>
          <p:cNvSpPr txBox="1">
            <a:spLocks noChangeArrowheads="1"/>
          </p:cNvSpPr>
          <p:nvPr/>
        </p:nvSpPr>
        <p:spPr bwMode="auto">
          <a:xfrm>
            <a:off x="606425" y="3543300"/>
            <a:ext cx="8856663" cy="7921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FFFFF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59112" rIns="90000" bIns="45000" anchor="ctr" anchorCtr="1"/>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5pPr>
            <a:lvl6pPr marL="25146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6pPr>
            <a:lvl7pPr marL="29718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7pPr>
            <a:lvl8pPr marL="34290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8pPr>
            <a:lvl9pPr marL="38862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9pPr>
          </a:lstStyle>
          <a:p>
            <a:pPr algn="ctr">
              <a:spcBef>
                <a:spcPts val="1200"/>
              </a:spcBef>
              <a:spcAft>
                <a:spcPts val="600"/>
              </a:spcAft>
            </a:pPr>
            <a:r>
              <a:rPr lang="es-AR" sz="2800" dirty="0">
                <a:latin typeface="Gill Sans Light"/>
                <a:cs typeface="Gill Sans Light"/>
              </a:rPr>
              <a:t>Clase 6</a:t>
            </a:r>
          </a:p>
        </p:txBody>
      </p:sp>
      <p:sp>
        <p:nvSpPr>
          <p:cNvPr id="3079" name="Text Box 7"/>
          <p:cNvSpPr txBox="1">
            <a:spLocks noChangeArrowheads="1"/>
          </p:cNvSpPr>
          <p:nvPr/>
        </p:nvSpPr>
        <p:spPr bwMode="auto">
          <a:xfrm>
            <a:off x="606425" y="4824413"/>
            <a:ext cx="8856663" cy="125968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FFFFF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57096" rIns="90000" bIns="45000" anchor="ctr" anchorCtr="1"/>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5pPr>
            <a:lvl6pPr marL="25146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6pPr>
            <a:lvl7pPr marL="29718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7pPr>
            <a:lvl8pPr marL="34290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8pPr>
            <a:lvl9pPr marL="38862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9pPr>
          </a:lstStyle>
          <a:p>
            <a:pPr algn="ctr">
              <a:spcBef>
                <a:spcPts val="1200"/>
              </a:spcBef>
              <a:spcAft>
                <a:spcPts val="600"/>
              </a:spcAft>
            </a:pPr>
            <a:r>
              <a:rPr lang="es-AR" sz="2400" dirty="0" smtClean="0">
                <a:latin typeface="Gill Sans Light"/>
                <a:cs typeface="Gill Sans Light"/>
              </a:rPr>
              <a:t>Pablo </a:t>
            </a:r>
            <a:r>
              <a:rPr lang="es-AR" sz="2400" dirty="0" err="1" smtClean="0">
                <a:latin typeface="Gill Sans Light"/>
                <a:cs typeface="Gill Sans Light"/>
              </a:rPr>
              <a:t>Cappagli</a:t>
            </a:r>
            <a:endParaRPr lang="es-AR" sz="2400" dirty="0" smtClean="0">
              <a:latin typeface="Gill Sans Light"/>
              <a:cs typeface="Gill Sans Light"/>
            </a:endParaRPr>
          </a:p>
          <a:p>
            <a:pPr algn="ctr">
              <a:spcBef>
                <a:spcPts val="1200"/>
              </a:spcBef>
              <a:spcAft>
                <a:spcPts val="600"/>
              </a:spcAft>
            </a:pPr>
            <a:r>
              <a:rPr lang="es-AR" dirty="0" smtClean="0">
                <a:latin typeface="Gill Sans Light"/>
                <a:cs typeface="Gill Sans Light"/>
              </a:rPr>
              <a:t>pablocappagli@gmail.com</a:t>
            </a:r>
            <a:endParaRPr lang="es-AR" dirty="0">
              <a:solidFill>
                <a:srgbClr val="FFFFFF"/>
              </a:solidFill>
              <a:latin typeface="Gill Sans Light"/>
              <a:cs typeface="Gill Sans Ligh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304008" y="5147989"/>
            <a:ext cx="5832648" cy="358240"/>
          </a:xfrm>
          <a:prstGeom prst="rect">
            <a:avLst/>
          </a:prstGeom>
        </p:spPr>
        <p:txBody>
          <a:bodyPr wrap="square">
            <a:spAutoFit/>
          </a:bodyPr>
          <a:lstStyle/>
          <a:p>
            <a:r>
              <a:rPr lang="en-US" b="1" dirty="0">
                <a:solidFill>
                  <a:srgbClr val="0070C0"/>
                </a:solidFill>
                <a:latin typeface="Consolas" charset="0"/>
                <a:ea typeface="+mn-ea"/>
                <a:cs typeface="Monaco" charset="0"/>
                <a:hlinkClick r:id="rId2"/>
              </a:rPr>
              <a:t>https://documen.tician.de/pycuda/index.html</a:t>
            </a:r>
            <a:endParaRPr lang="en-US" b="1" dirty="0">
              <a:solidFill>
                <a:srgbClr val="0070C0"/>
              </a:solidFill>
              <a:latin typeface="Consolas" charset="0"/>
              <a:ea typeface="+mn-ea"/>
              <a:cs typeface="Monaco" charset="0"/>
            </a:endParaRP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6821" y="1547589"/>
            <a:ext cx="4314974" cy="2448272"/>
          </a:xfrm>
          <a:prstGeom prst="rect">
            <a:avLst/>
          </a:prstGeom>
        </p:spPr>
      </p:pic>
    </p:spTree>
    <p:extLst>
      <p:ext uri="{BB962C8B-B14F-4D97-AF65-F5344CB8AC3E}">
        <p14:creationId xmlns:p14="http://schemas.microsoft.com/office/powerpoint/2010/main" val="594328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59792" y="1835621"/>
            <a:ext cx="8856663" cy="7921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FFFFF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57096" rIns="90000" bIns="45000" anchor="ctr" anchorCtr="1"/>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5pPr>
            <a:lvl6pPr marL="25146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6pPr>
            <a:lvl7pPr marL="29718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7pPr>
            <a:lvl8pPr marL="34290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8pPr>
            <a:lvl9pPr marL="38862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9pPr>
          </a:lstStyle>
          <a:p>
            <a:pPr algn="ctr">
              <a:spcBef>
                <a:spcPts val="1200"/>
              </a:spcBef>
              <a:spcAft>
                <a:spcPts val="600"/>
              </a:spcAft>
            </a:pPr>
            <a:r>
              <a:rPr lang="es-AR" sz="2400" dirty="0" err="1" smtClean="0">
                <a:latin typeface="Gill Sans Light"/>
                <a:cs typeface="Gill Sans Light"/>
              </a:rPr>
              <a:t>pycuda.compiler.SourceModule</a:t>
            </a:r>
            <a:r>
              <a:rPr lang="es-AR" sz="2400" dirty="0" smtClean="0">
                <a:latin typeface="Gill Sans Light"/>
                <a:cs typeface="Gill Sans Light"/>
              </a:rPr>
              <a:t>()</a:t>
            </a:r>
            <a:endParaRPr lang="es-AR" sz="2400" dirty="0">
              <a:solidFill>
                <a:srgbClr val="FFFFFF"/>
              </a:solidFill>
              <a:latin typeface="Gill Sans Light"/>
              <a:cs typeface="Gill Sans Light"/>
            </a:endParaRPr>
          </a:p>
        </p:txBody>
      </p:sp>
      <p:sp>
        <p:nvSpPr>
          <p:cNvPr id="3" name="Rectángulo 2"/>
          <p:cNvSpPr/>
          <p:nvPr/>
        </p:nvSpPr>
        <p:spPr>
          <a:xfrm>
            <a:off x="1439912" y="3203773"/>
            <a:ext cx="7488832" cy="890052"/>
          </a:xfrm>
          <a:prstGeom prst="rect">
            <a:avLst/>
          </a:prstGeom>
        </p:spPr>
        <p:txBody>
          <a:bodyPr wrap="square">
            <a:spAutoFit/>
          </a:bodyPr>
          <a:lstStyle/>
          <a:p>
            <a:r>
              <a:rPr lang="en-US" i="1" dirty="0" smtClean="0"/>
              <a:t>class </a:t>
            </a:r>
            <a:r>
              <a:rPr lang="en-US" dirty="0" err="1"/>
              <a:t>pycuda.compiler.</a:t>
            </a:r>
            <a:r>
              <a:rPr lang="en-US" b="1" dirty="0" err="1"/>
              <a:t>SourceModule</a:t>
            </a:r>
            <a:r>
              <a:rPr lang="en-US" dirty="0"/>
              <a:t>(source, </a:t>
            </a:r>
            <a:r>
              <a:rPr lang="en-US" dirty="0" err="1"/>
              <a:t>nvcc</a:t>
            </a:r>
            <a:r>
              <a:rPr lang="en-US" dirty="0"/>
              <a:t>="</a:t>
            </a:r>
            <a:r>
              <a:rPr lang="en-US" dirty="0" err="1"/>
              <a:t>nvcc</a:t>
            </a:r>
            <a:r>
              <a:rPr lang="en-US" dirty="0"/>
              <a:t>", </a:t>
            </a:r>
            <a:r>
              <a:rPr lang="en-US" dirty="0" smtClean="0"/>
              <a:t>	options=None</a:t>
            </a:r>
            <a:r>
              <a:rPr lang="en-US" dirty="0"/>
              <a:t>, keep=False, </a:t>
            </a:r>
            <a:r>
              <a:rPr lang="en-US" dirty="0" err="1"/>
              <a:t>no_extern_c</a:t>
            </a:r>
            <a:r>
              <a:rPr lang="en-US" dirty="0"/>
              <a:t>=False, arch=None, </a:t>
            </a:r>
            <a:r>
              <a:rPr lang="en-US" dirty="0" smtClean="0"/>
              <a:t>	code=None</a:t>
            </a:r>
            <a:r>
              <a:rPr lang="en-US" dirty="0"/>
              <a:t>, </a:t>
            </a:r>
            <a:r>
              <a:rPr lang="en-US" dirty="0" err="1"/>
              <a:t>cache_dir</a:t>
            </a:r>
            <a:r>
              <a:rPr lang="en-US" dirty="0"/>
              <a:t>=None, </a:t>
            </a:r>
            <a:r>
              <a:rPr lang="en-US" dirty="0" err="1"/>
              <a:t>include_dirs</a:t>
            </a:r>
            <a:r>
              <a:rPr lang="en-US"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05841" y="539477"/>
            <a:ext cx="9070975"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smtClean="0">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np</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pycuda.autoinit</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from</a:t>
            </a:r>
            <a:r>
              <a:rPr lang="es-AR" sz="1800" dirty="0">
                <a:latin typeface="Consolas" charset="0"/>
                <a:cs typeface="Monaco" charset="0"/>
              </a:rPr>
              <a:t> </a:t>
            </a:r>
            <a:r>
              <a:rPr lang="es-AR" sz="1800" b="1" dirty="0" err="1">
                <a:solidFill>
                  <a:srgbClr val="0070C0"/>
                </a:solidFill>
                <a:latin typeface="Consolas" charset="0"/>
                <a:cs typeface="Monaco" charset="0"/>
              </a:rPr>
              <a:t>pycuda.compiler</a:t>
            </a:r>
            <a:r>
              <a:rPr lang="es-AR" sz="1800" dirty="0">
                <a:latin typeface="Consolas" charset="0"/>
                <a:cs typeface="Monaco" charset="0"/>
              </a:rPr>
              <a:t> </a:t>
            </a:r>
            <a:r>
              <a:rPr lang="es-AR" sz="1800" b="1" dirty="0" err="1">
                <a:solidFill>
                  <a:srgbClr val="00B050"/>
                </a:solidFill>
                <a:latin typeface="Consolas" charset="0"/>
                <a:cs typeface="Monaco" charset="0"/>
              </a:rPr>
              <a:t>import</a:t>
            </a:r>
            <a:r>
              <a:rPr lang="es-AR" sz="1800" b="1" dirty="0">
                <a:solidFill>
                  <a:srgbClr val="00B050"/>
                </a:solidFill>
                <a:latin typeface="Consolas" charset="0"/>
                <a:cs typeface="Monaco" charset="0"/>
              </a:rPr>
              <a:t> </a:t>
            </a:r>
            <a:r>
              <a:rPr lang="es-AR" sz="1800" dirty="0" err="1">
                <a:latin typeface="Consolas" charset="0"/>
                <a:cs typeface="Monaco" charset="0"/>
              </a:rPr>
              <a:t>SourceModule</a:t>
            </a:r>
            <a:endParaRPr lang="es-AR" sz="1800" dirty="0">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mod</a:t>
            </a:r>
            <a:r>
              <a:rPr lang="es-AR" sz="1800" dirty="0">
                <a:latin typeface="Consolas" charset="0"/>
                <a:cs typeface="Monaco" charset="0"/>
              </a:rPr>
              <a:t> = </a:t>
            </a:r>
            <a:r>
              <a:rPr lang="es-AR" sz="1800" dirty="0" err="1" smtClean="0">
                <a:latin typeface="Consolas" charset="0"/>
                <a:cs typeface="Monaco" charset="0"/>
              </a:rPr>
              <a:t>SourceModule</a:t>
            </a:r>
            <a:r>
              <a:rPr lang="es-AR" sz="1800" dirty="0" smtClean="0">
                <a:latin typeface="Consolas" charset="0"/>
                <a:cs typeface="Monaco" charset="0"/>
              </a:rPr>
              <a:t>(</a:t>
            </a:r>
            <a:r>
              <a:rPr lang="es-AR" sz="1800" dirty="0" smtClean="0">
                <a:solidFill>
                  <a:schemeClr val="tx1">
                    <a:lumMod val="50000"/>
                    <a:lumOff val="50000"/>
                  </a:schemeClr>
                </a:solidFill>
                <a:latin typeface="Consolas" charset="0"/>
                <a:cs typeface="Monaco" charset="0"/>
              </a:rPr>
              <a:t>"""</a:t>
            </a:r>
            <a:endParaRPr lang="es-AR" sz="1800" dirty="0">
              <a:solidFill>
                <a:schemeClr val="tx1">
                  <a:lumMod val="50000"/>
                  <a:lumOff val="50000"/>
                </a:schemeClr>
              </a:solidFill>
              <a:latin typeface="Consolas" charset="0"/>
              <a:cs typeface="Monaco" charset="0"/>
            </a:endParaRPr>
          </a:p>
          <a:p>
            <a:pPr>
              <a:spcAft>
                <a:spcPts val="400"/>
              </a:spcAft>
            </a:pPr>
            <a:r>
              <a:rPr lang="es-AR" sz="1800" dirty="0">
                <a:solidFill>
                  <a:schemeClr val="tx1">
                    <a:lumMod val="50000"/>
                    <a:lumOff val="50000"/>
                  </a:schemeClr>
                </a:solidFill>
                <a:latin typeface="Consolas" charset="0"/>
                <a:cs typeface="Monaco" charset="0"/>
              </a:rPr>
              <a:t>__global__ </a:t>
            </a:r>
            <a:r>
              <a:rPr lang="es-AR" sz="1800" dirty="0" err="1">
                <a:solidFill>
                  <a:schemeClr val="tx1">
                    <a:lumMod val="50000"/>
                    <a:lumOff val="50000"/>
                  </a:schemeClr>
                </a:solidFill>
                <a:latin typeface="Consolas" charset="0"/>
                <a:cs typeface="Monaco" charset="0"/>
              </a:rPr>
              <a:t>void</a:t>
            </a: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times_two</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int</a:t>
            </a:r>
            <a:r>
              <a:rPr lang="es-AR" sz="1800" dirty="0">
                <a:solidFill>
                  <a:schemeClr val="tx1">
                    <a:lumMod val="50000"/>
                    <a:lumOff val="50000"/>
                  </a:schemeClr>
                </a:solidFill>
                <a:latin typeface="Consolas" charset="0"/>
                <a:cs typeface="Monaco" charset="0"/>
              </a:rPr>
              <a:t> N,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*a)</a:t>
            </a:r>
          </a:p>
          <a:p>
            <a:pPr>
              <a:spcAft>
                <a:spcPts val="400"/>
              </a:spcAft>
            </a:pPr>
            <a:r>
              <a:rPr lang="es-AR" sz="1800" dirty="0">
                <a:solidFill>
                  <a:schemeClr val="tx1">
                    <a:lumMod val="50000"/>
                    <a:lumOff val="50000"/>
                  </a:schemeClr>
                </a:solidFill>
                <a:latin typeface="Consolas" charset="0"/>
                <a:cs typeface="Monaco" charset="0"/>
              </a:rPr>
              <a:t>{</a:t>
            </a:r>
          </a:p>
          <a:p>
            <a:pPr>
              <a:spcAft>
                <a:spcPts val="400"/>
              </a:spcAft>
            </a:pP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int</a:t>
            </a:r>
            <a:r>
              <a:rPr lang="es-AR" sz="1800" dirty="0">
                <a:solidFill>
                  <a:schemeClr val="tx1">
                    <a:lumMod val="50000"/>
                    <a:lumOff val="50000"/>
                  </a:schemeClr>
                </a:solidFill>
                <a:latin typeface="Consolas" charset="0"/>
                <a:cs typeface="Monaco" charset="0"/>
              </a:rPr>
              <a:t> id = </a:t>
            </a:r>
            <a:r>
              <a:rPr lang="es-AR" sz="1800" dirty="0" err="1">
                <a:solidFill>
                  <a:schemeClr val="tx1">
                    <a:lumMod val="50000"/>
                    <a:lumOff val="50000"/>
                  </a:schemeClr>
                </a:solidFill>
                <a:latin typeface="Consolas" charset="0"/>
                <a:cs typeface="Monaco" charset="0"/>
              </a:rPr>
              <a:t>blockIdx.x</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blockDim.x</a:t>
            </a:r>
            <a:r>
              <a:rPr lang="es-AR" sz="1800" dirty="0">
                <a:solidFill>
                  <a:schemeClr val="tx1">
                    <a:lumMod val="50000"/>
                    <a:lumOff val="50000"/>
                  </a:schemeClr>
                </a:solidFill>
                <a:latin typeface="Consolas" charset="0"/>
                <a:cs typeface="Monaco" charset="0"/>
              </a:rPr>
              <a:t> + </a:t>
            </a:r>
            <a:r>
              <a:rPr lang="es-AR" sz="1800" dirty="0" err="1">
                <a:solidFill>
                  <a:schemeClr val="tx1">
                    <a:lumMod val="50000"/>
                    <a:lumOff val="50000"/>
                  </a:schemeClr>
                </a:solidFill>
                <a:latin typeface="Consolas" charset="0"/>
                <a:cs typeface="Monaco" charset="0"/>
              </a:rPr>
              <a:t>threadIdx.x</a:t>
            </a:r>
            <a:r>
              <a:rPr lang="es-AR" sz="1800" dirty="0">
                <a:solidFill>
                  <a:schemeClr val="tx1">
                    <a:lumMod val="50000"/>
                    <a:lumOff val="50000"/>
                  </a:schemeClr>
                </a:solidFill>
                <a:latin typeface="Consolas" charset="0"/>
                <a:cs typeface="Monaco" charset="0"/>
              </a:rPr>
              <a:t>;</a:t>
            </a:r>
          </a:p>
          <a:p>
            <a:pPr>
              <a:spcAft>
                <a:spcPts val="400"/>
              </a:spcAft>
            </a:pP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if</a:t>
            </a:r>
            <a:r>
              <a:rPr lang="es-AR" sz="1800" dirty="0">
                <a:solidFill>
                  <a:schemeClr val="tx1">
                    <a:lumMod val="50000"/>
                    <a:lumOff val="50000"/>
                  </a:schemeClr>
                </a:solidFill>
                <a:latin typeface="Consolas" charset="0"/>
                <a:cs typeface="Monaco" charset="0"/>
              </a:rPr>
              <a:t>(id&lt;N){</a:t>
            </a:r>
          </a:p>
          <a:p>
            <a:pPr>
              <a:spcAft>
                <a:spcPts val="400"/>
              </a:spcAft>
            </a:pPr>
            <a:r>
              <a:rPr lang="es-AR" sz="1800" dirty="0">
                <a:solidFill>
                  <a:schemeClr val="tx1">
                    <a:lumMod val="50000"/>
                    <a:lumOff val="50000"/>
                  </a:schemeClr>
                </a:solidFill>
                <a:latin typeface="Consolas" charset="0"/>
                <a:cs typeface="Monaco" charset="0"/>
              </a:rPr>
              <a:t>			a[id] = 2*a[id];</a:t>
            </a:r>
          </a:p>
          <a:p>
            <a:pPr>
              <a:spcAft>
                <a:spcPts val="400"/>
              </a:spcAft>
            </a:pPr>
            <a:r>
              <a:rPr lang="es-AR" sz="1800" dirty="0">
                <a:solidFill>
                  <a:schemeClr val="tx1">
                    <a:lumMod val="50000"/>
                    <a:lumOff val="50000"/>
                  </a:schemeClr>
                </a:solidFill>
                <a:latin typeface="Consolas" charset="0"/>
                <a:cs typeface="Monaco" charset="0"/>
              </a:rPr>
              <a:t>	}</a:t>
            </a:r>
          </a:p>
          <a:p>
            <a:pPr>
              <a:spcAft>
                <a:spcPts val="400"/>
              </a:spcAft>
            </a:pPr>
            <a:r>
              <a:rPr lang="es-AR" sz="1800" dirty="0">
                <a:solidFill>
                  <a:schemeClr val="tx1">
                    <a:lumMod val="50000"/>
                    <a:lumOff val="50000"/>
                  </a:schemeClr>
                </a:solidFill>
                <a:latin typeface="Consolas" charset="0"/>
                <a:cs typeface="Monaco" charset="0"/>
              </a:rPr>
              <a:t>}</a:t>
            </a:r>
          </a:p>
          <a:p>
            <a:pPr>
              <a:spcAft>
                <a:spcPts val="400"/>
              </a:spcAft>
            </a:pPr>
            <a:r>
              <a:rPr lang="es-AR" sz="1800" dirty="0">
                <a:solidFill>
                  <a:schemeClr val="tx1">
                    <a:lumMod val="50000"/>
                    <a:lumOff val="50000"/>
                  </a:schemeClr>
                </a:solidFill>
                <a:latin typeface="Consolas" charset="0"/>
                <a:cs typeface="Monaco" charset="0"/>
              </a:rPr>
              <a:t>"""</a:t>
            </a:r>
            <a:r>
              <a:rPr lang="es-AR" sz="1800" dirty="0">
                <a:latin typeface="Consolas" charset="0"/>
                <a:cs typeface="Monaco" charset="0"/>
              </a:rPr>
              <a:t>)</a:t>
            </a:r>
          </a:p>
          <a:p>
            <a:pPr>
              <a:spcAft>
                <a:spcPts val="400"/>
              </a:spcAft>
            </a:pPr>
            <a:r>
              <a:rPr lang="es-AR" dirty="0">
                <a:latin typeface="Consolas" charset="0"/>
                <a:cs typeface="Monaco" charset="0"/>
              </a:rPr>
              <a:t/>
            </a:r>
            <a:br>
              <a:rPr lang="es-AR" dirty="0">
                <a:latin typeface="Consolas" charset="0"/>
                <a:cs typeface="Monaco" charset="0"/>
              </a:rPr>
            </a:br>
            <a:endParaRPr lang="es-AR" dirty="0">
              <a:latin typeface="Consolas" charset="0"/>
              <a:cs typeface="Monaco" charset="0"/>
            </a:endParaRPr>
          </a:p>
          <a:p>
            <a:pPr>
              <a:spcAft>
                <a:spcPts val="400"/>
              </a:spcAft>
            </a:pPr>
            <a:r>
              <a:rPr lang="es-AR" dirty="0">
                <a:latin typeface="Consolas" charset="0"/>
                <a:cs typeface="Monaco" charset="0"/>
              </a:rPr>
              <a:t/>
            </a:r>
            <a:br>
              <a:rPr lang="es-AR" dirty="0">
                <a:latin typeface="Consolas" charset="0"/>
                <a:cs typeface="Monaco" charset="0"/>
              </a:rPr>
            </a:br>
            <a:endParaRPr lang="es-AR" dirty="0">
              <a:latin typeface="Consolas" charset="0"/>
              <a:cs typeface="Monaco" charset="0"/>
            </a:endParaRPr>
          </a:p>
        </p:txBody>
      </p:sp>
      <p:sp>
        <p:nvSpPr>
          <p:cNvPr id="3" name="Rectángulo 2"/>
          <p:cNvSpPr/>
          <p:nvPr/>
        </p:nvSpPr>
        <p:spPr>
          <a:xfrm>
            <a:off x="7346718" y="179437"/>
            <a:ext cx="2230098"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ejemplo_double.py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415571330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01000" cy="6626536"/>
          </a:xfrm>
          <a:ln cap="flat">
            <a:solidFill>
              <a:srgbClr val="999999"/>
            </a:solidFill>
            <a:round/>
            <a:headEnd/>
            <a:tailEnd/>
          </a:ln>
        </p:spPr>
        <p:txBody>
          <a:bodyPr lIns="108000" tIns="142272" rIns="108000" bIns="108000"/>
          <a:lstStyle/>
          <a:p>
            <a:pPr>
              <a:spcAft>
                <a:spcPts val="400"/>
              </a:spcAft>
            </a:pPr>
            <a:r>
              <a:rPr lang="es-AR" sz="1800" dirty="0" smtClean="0">
                <a:latin typeface="Consolas" charset="0"/>
                <a:cs typeface="Monaco" charset="0"/>
              </a:rPr>
              <a:t>N = 30000</a:t>
            </a:r>
          </a:p>
          <a:p>
            <a:pPr>
              <a:spcAft>
                <a:spcPts val="400"/>
              </a:spcAft>
            </a:pPr>
            <a:endParaRPr lang="es-AR" sz="1800" dirty="0" smtClean="0">
              <a:latin typeface="Consolas" charset="0"/>
              <a:cs typeface="Monaco" charset="0"/>
            </a:endParaRPr>
          </a:p>
          <a:p>
            <a:pPr>
              <a:spcAft>
                <a:spcPts val="400"/>
              </a:spcAft>
            </a:pPr>
            <a:r>
              <a:rPr lang="es-AR" sz="1800" dirty="0" smtClean="0">
                <a:latin typeface="Consolas" charset="0"/>
                <a:cs typeface="Monaco" charset="0"/>
              </a:rPr>
              <a:t>a = </a:t>
            </a:r>
            <a:r>
              <a:rPr lang="es-AR" sz="1800" dirty="0" err="1" smtClean="0">
                <a:latin typeface="Consolas" charset="0"/>
                <a:cs typeface="Monaco" charset="0"/>
              </a:rPr>
              <a:t>np.ones</a:t>
            </a:r>
            <a:r>
              <a:rPr lang="es-AR" sz="1800" dirty="0" smtClean="0">
                <a:latin typeface="Consolas" charset="0"/>
                <a:cs typeface="Monaco" charset="0"/>
              </a:rPr>
              <a:t>(N).</a:t>
            </a:r>
            <a:r>
              <a:rPr lang="es-AR" sz="1800" dirty="0" err="1" smtClean="0">
                <a:latin typeface="Consolas" charset="0"/>
                <a:cs typeface="Monaco" charset="0"/>
              </a:rPr>
              <a:t>astype</a:t>
            </a:r>
            <a:r>
              <a:rPr lang="es-AR" sz="1800" dirty="0" smtClean="0">
                <a:latin typeface="Consolas" charset="0"/>
                <a:cs typeface="Monaco" charset="0"/>
              </a:rPr>
              <a:t>(np.float32)</a:t>
            </a:r>
          </a:p>
          <a:p>
            <a:pPr>
              <a:spcAft>
                <a:spcPts val="400"/>
              </a:spcAft>
            </a:pPr>
            <a:endParaRPr lang="es-AR" sz="1800" dirty="0" smtClean="0">
              <a:latin typeface="Consolas" charset="0"/>
              <a:cs typeface="Monaco" charset="0"/>
            </a:endParaRPr>
          </a:p>
          <a:p>
            <a:pPr>
              <a:spcAft>
                <a:spcPts val="400"/>
              </a:spcAft>
            </a:pPr>
            <a:r>
              <a:rPr lang="es-AR" sz="1800" dirty="0" err="1" smtClean="0">
                <a:latin typeface="Consolas" charset="0"/>
                <a:cs typeface="Monaco" charset="0"/>
              </a:rPr>
              <a:t>a_gpu</a:t>
            </a:r>
            <a:r>
              <a:rPr lang="es-AR" sz="1800" dirty="0" smtClean="0">
                <a:latin typeface="Consolas" charset="0"/>
                <a:cs typeface="Monaco" charset="0"/>
              </a:rPr>
              <a:t> = </a:t>
            </a:r>
            <a:r>
              <a:rPr lang="es-AR" sz="1800" dirty="0" err="1" smtClean="0">
                <a:latin typeface="Consolas" charset="0"/>
                <a:cs typeface="Monaco" charset="0"/>
              </a:rPr>
              <a:t>cuda.mem_alloc</a:t>
            </a:r>
            <a:r>
              <a:rPr lang="es-AR" sz="1800" dirty="0" smtClean="0">
                <a:latin typeface="Consolas" charset="0"/>
                <a:cs typeface="Monaco" charset="0"/>
              </a:rPr>
              <a:t>(</a:t>
            </a:r>
            <a:r>
              <a:rPr lang="es-AR" sz="1800" dirty="0" err="1" smtClean="0">
                <a:latin typeface="Consolas" charset="0"/>
                <a:cs typeface="Monaco" charset="0"/>
              </a:rPr>
              <a:t>a.nbytes</a:t>
            </a:r>
            <a:r>
              <a:rPr lang="es-AR" sz="1800" dirty="0" smtClean="0">
                <a:latin typeface="Consolas" charset="0"/>
                <a:cs typeface="Monaco" charset="0"/>
              </a:rPr>
              <a:t>)</a:t>
            </a:r>
          </a:p>
          <a:p>
            <a:pPr>
              <a:spcAft>
                <a:spcPts val="400"/>
              </a:spcAft>
            </a:pPr>
            <a:r>
              <a:rPr lang="es-AR" sz="1800" dirty="0" err="1" smtClean="0">
                <a:latin typeface="Consolas" charset="0"/>
                <a:cs typeface="Monaco" charset="0"/>
              </a:rPr>
              <a:t>cuda.memcpy_htod</a:t>
            </a:r>
            <a:r>
              <a:rPr lang="es-AR" sz="1800" dirty="0" smtClean="0">
                <a:latin typeface="Consolas" charset="0"/>
                <a:cs typeface="Monaco" charset="0"/>
              </a:rPr>
              <a:t>(</a:t>
            </a:r>
            <a:r>
              <a:rPr lang="es-AR" sz="1800" dirty="0" err="1" smtClean="0">
                <a:latin typeface="Consolas" charset="0"/>
                <a:cs typeface="Monaco" charset="0"/>
              </a:rPr>
              <a:t>a_gpu</a:t>
            </a:r>
            <a:r>
              <a:rPr lang="es-AR" sz="1800" dirty="0" smtClean="0">
                <a:latin typeface="Consolas" charset="0"/>
                <a:cs typeface="Monaco" charset="0"/>
              </a:rPr>
              <a:t>, a)</a:t>
            </a:r>
          </a:p>
          <a:p>
            <a:pPr>
              <a:spcAft>
                <a:spcPts val="400"/>
              </a:spcAft>
            </a:pPr>
            <a:endParaRPr lang="es-AR" sz="1800" dirty="0" smtClean="0">
              <a:latin typeface="Consolas" charset="0"/>
              <a:cs typeface="Monaco" charset="0"/>
            </a:endParaRPr>
          </a:p>
          <a:p>
            <a:pPr>
              <a:spcAft>
                <a:spcPts val="400"/>
              </a:spcAft>
            </a:pPr>
            <a:r>
              <a:rPr lang="es-AR" sz="1800" dirty="0" err="1" smtClean="0">
                <a:latin typeface="Consolas" charset="0"/>
                <a:cs typeface="Monaco" charset="0"/>
              </a:rPr>
              <a:t>func</a:t>
            </a:r>
            <a:r>
              <a:rPr lang="es-AR" sz="1800" dirty="0" smtClean="0">
                <a:latin typeface="Consolas" charset="0"/>
                <a:cs typeface="Monaco" charset="0"/>
              </a:rPr>
              <a:t> = </a:t>
            </a:r>
            <a:r>
              <a:rPr lang="es-AR" sz="1800" dirty="0" err="1" smtClean="0">
                <a:latin typeface="Consolas" charset="0"/>
                <a:cs typeface="Monaco" charset="0"/>
              </a:rPr>
              <a:t>mod.get_function</a:t>
            </a:r>
            <a:r>
              <a:rPr lang="es-AR" sz="1800" dirty="0" smtClean="0">
                <a:latin typeface="Consolas" charset="0"/>
                <a:cs typeface="Monaco" charset="0"/>
              </a:rPr>
              <a:t>(</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times_two</a:t>
            </a:r>
            <a:r>
              <a:rPr lang="es-AR" sz="1800" dirty="0">
                <a:solidFill>
                  <a:schemeClr val="tx1">
                    <a:lumMod val="50000"/>
                    <a:lumOff val="50000"/>
                  </a:schemeClr>
                </a:solidFill>
                <a:latin typeface="Consolas" charset="0"/>
                <a:cs typeface="Monaco" charset="0"/>
              </a:rPr>
              <a:t>'</a:t>
            </a:r>
            <a:r>
              <a:rPr lang="es-AR" sz="1800" dirty="0" smtClean="0">
                <a:latin typeface="Consolas" charset="0"/>
                <a:cs typeface="Monaco" charset="0"/>
              </a:rPr>
              <a:t>)</a:t>
            </a:r>
          </a:p>
          <a:p>
            <a:pPr>
              <a:spcAft>
                <a:spcPts val="400"/>
              </a:spcAft>
            </a:pPr>
            <a:endParaRPr lang="es-AR" sz="1800" dirty="0" smtClean="0">
              <a:latin typeface="Consolas" charset="0"/>
              <a:cs typeface="Monaco" charset="0"/>
            </a:endParaRPr>
          </a:p>
          <a:p>
            <a:pPr>
              <a:spcAft>
                <a:spcPts val="400"/>
              </a:spcAft>
            </a:pPr>
            <a:r>
              <a:rPr lang="es-AR" sz="1800" dirty="0" err="1" smtClean="0">
                <a:latin typeface="Consolas" charset="0"/>
                <a:cs typeface="Monaco" charset="0"/>
              </a:rPr>
              <a:t>numThreads</a:t>
            </a:r>
            <a:r>
              <a:rPr lang="es-AR" sz="1800" dirty="0" smtClean="0">
                <a:latin typeface="Consolas" charset="0"/>
                <a:cs typeface="Monaco" charset="0"/>
              </a:rPr>
              <a:t> = 128</a:t>
            </a:r>
          </a:p>
          <a:p>
            <a:pPr>
              <a:spcAft>
                <a:spcPts val="400"/>
              </a:spcAft>
            </a:pPr>
            <a:r>
              <a:rPr lang="es-AR" sz="1800" dirty="0" err="1" smtClean="0">
                <a:latin typeface="Consolas" charset="0"/>
                <a:cs typeface="Monaco" charset="0"/>
              </a:rPr>
              <a:t>numBlocks</a:t>
            </a:r>
            <a:r>
              <a:rPr lang="es-AR" sz="1800" dirty="0" smtClean="0">
                <a:latin typeface="Consolas" charset="0"/>
                <a:cs typeface="Monaco" charset="0"/>
              </a:rPr>
              <a:t> = </a:t>
            </a:r>
            <a:r>
              <a:rPr lang="es-AR" sz="1800" dirty="0" err="1" smtClean="0">
                <a:latin typeface="Consolas" charset="0"/>
                <a:cs typeface="Monaco" charset="0"/>
              </a:rPr>
              <a:t>int</a:t>
            </a:r>
            <a:r>
              <a:rPr lang="es-AR" sz="1800" dirty="0" smtClean="0">
                <a:latin typeface="Consolas" charset="0"/>
                <a:cs typeface="Monaco" charset="0"/>
              </a:rPr>
              <a:t>((N + </a:t>
            </a:r>
            <a:r>
              <a:rPr lang="es-AR" sz="1800" dirty="0" err="1" smtClean="0">
                <a:latin typeface="Consolas" charset="0"/>
                <a:cs typeface="Monaco" charset="0"/>
              </a:rPr>
              <a:t>numThreads</a:t>
            </a:r>
            <a:r>
              <a:rPr lang="es-AR" sz="1800" dirty="0" smtClean="0">
                <a:latin typeface="Consolas" charset="0"/>
                <a:cs typeface="Monaco" charset="0"/>
              </a:rPr>
              <a:t> - 1 )/</a:t>
            </a:r>
            <a:r>
              <a:rPr lang="es-AR" sz="1800" dirty="0" err="1" smtClean="0">
                <a:latin typeface="Consolas" charset="0"/>
                <a:cs typeface="Monaco" charset="0"/>
              </a:rPr>
              <a:t>numThreads</a:t>
            </a:r>
            <a:r>
              <a:rPr lang="es-AR" sz="1800" dirty="0" smtClean="0">
                <a:latin typeface="Consolas" charset="0"/>
                <a:cs typeface="Monaco" charset="0"/>
              </a:rPr>
              <a:t>)</a:t>
            </a:r>
          </a:p>
          <a:p>
            <a:pPr>
              <a:spcAft>
                <a:spcPts val="400"/>
              </a:spcAft>
            </a:pPr>
            <a:endParaRPr lang="es-AR" sz="1800" dirty="0" smtClean="0">
              <a:latin typeface="Consolas" charset="0"/>
              <a:cs typeface="Monaco" charset="0"/>
            </a:endParaRPr>
          </a:p>
          <a:p>
            <a:pPr>
              <a:spcAft>
                <a:spcPts val="400"/>
              </a:spcAft>
            </a:pPr>
            <a:r>
              <a:rPr lang="es-AR" sz="1800" dirty="0" err="1" smtClean="0">
                <a:latin typeface="Consolas" charset="0"/>
                <a:cs typeface="Monaco" charset="0"/>
              </a:rPr>
              <a:t>func</a:t>
            </a:r>
            <a:r>
              <a:rPr lang="es-AR" sz="1800" dirty="0" smtClean="0">
                <a:latin typeface="Consolas" charset="0"/>
                <a:cs typeface="Monaco" charset="0"/>
              </a:rPr>
              <a:t>(</a:t>
            </a:r>
            <a:r>
              <a:rPr lang="es-AR" sz="1800" dirty="0" err="1" smtClean="0">
                <a:latin typeface="Consolas" charset="0"/>
                <a:cs typeface="Monaco" charset="0"/>
              </a:rPr>
              <a:t>np.array</a:t>
            </a:r>
            <a:r>
              <a:rPr lang="es-AR" sz="1800" dirty="0" smtClean="0">
                <a:latin typeface="Consolas" charset="0"/>
                <a:cs typeface="Monaco" charset="0"/>
              </a:rPr>
              <a:t>(N), </a:t>
            </a:r>
            <a:r>
              <a:rPr lang="es-AR" sz="1800" dirty="0" err="1" smtClean="0">
                <a:latin typeface="Consolas" charset="0"/>
                <a:cs typeface="Monaco" charset="0"/>
              </a:rPr>
              <a:t>a_gpu</a:t>
            </a:r>
            <a:r>
              <a:rPr lang="es-AR" sz="1800" dirty="0" smtClean="0">
                <a:latin typeface="Consolas" charset="0"/>
                <a:cs typeface="Monaco" charset="0"/>
              </a:rPr>
              <a:t>, block=(numThreads,1,1), </a:t>
            </a:r>
            <a:r>
              <a:rPr lang="es-AR" sz="1800" dirty="0" err="1" smtClean="0">
                <a:latin typeface="Consolas" charset="0"/>
                <a:cs typeface="Monaco" charset="0"/>
              </a:rPr>
              <a:t>grid</a:t>
            </a:r>
            <a:r>
              <a:rPr lang="es-AR" sz="1800" dirty="0" smtClean="0">
                <a:latin typeface="Consolas" charset="0"/>
                <a:cs typeface="Monaco" charset="0"/>
              </a:rPr>
              <a:t>=(numBlocks,1,1))</a:t>
            </a:r>
          </a:p>
          <a:p>
            <a:pPr>
              <a:spcAft>
                <a:spcPts val="400"/>
              </a:spcAft>
            </a:pPr>
            <a:endParaRPr lang="es-AR" sz="1800" dirty="0" smtClean="0">
              <a:latin typeface="Consolas" charset="0"/>
              <a:cs typeface="Monaco" charset="0"/>
            </a:endParaRPr>
          </a:p>
          <a:p>
            <a:pPr>
              <a:spcAft>
                <a:spcPts val="400"/>
              </a:spcAft>
            </a:pPr>
            <a:r>
              <a:rPr lang="es-AR" sz="1800" dirty="0" err="1" smtClean="0">
                <a:latin typeface="Consolas" charset="0"/>
                <a:cs typeface="Monaco" charset="0"/>
              </a:rPr>
              <a:t>a_doubled</a:t>
            </a:r>
            <a:r>
              <a:rPr lang="es-AR" sz="1800" dirty="0" smtClean="0">
                <a:latin typeface="Consolas" charset="0"/>
                <a:cs typeface="Monaco" charset="0"/>
              </a:rPr>
              <a:t> = </a:t>
            </a:r>
            <a:r>
              <a:rPr lang="es-AR" sz="1800" dirty="0" err="1" smtClean="0">
                <a:latin typeface="Consolas" charset="0"/>
                <a:cs typeface="Monaco" charset="0"/>
              </a:rPr>
              <a:t>np.empty_like</a:t>
            </a:r>
            <a:r>
              <a:rPr lang="es-AR" sz="1800" dirty="0" smtClean="0">
                <a:latin typeface="Consolas" charset="0"/>
                <a:cs typeface="Monaco" charset="0"/>
              </a:rPr>
              <a:t>(a)</a:t>
            </a:r>
          </a:p>
          <a:p>
            <a:pPr>
              <a:spcAft>
                <a:spcPts val="400"/>
              </a:spcAft>
            </a:pPr>
            <a:r>
              <a:rPr lang="es-AR" sz="1800" dirty="0" err="1" smtClean="0">
                <a:latin typeface="Consolas" charset="0"/>
                <a:cs typeface="Monaco" charset="0"/>
              </a:rPr>
              <a:t>cuda.memcpy_dtoh</a:t>
            </a:r>
            <a:r>
              <a:rPr lang="es-AR" sz="1800" dirty="0" smtClean="0">
                <a:latin typeface="Consolas" charset="0"/>
                <a:cs typeface="Monaco" charset="0"/>
              </a:rPr>
              <a:t>(</a:t>
            </a:r>
            <a:r>
              <a:rPr lang="es-AR" sz="1800" dirty="0" err="1" smtClean="0">
                <a:latin typeface="Consolas" charset="0"/>
                <a:cs typeface="Monaco" charset="0"/>
              </a:rPr>
              <a:t>a_doubled</a:t>
            </a:r>
            <a:r>
              <a:rPr lang="es-AR" sz="1800" dirty="0" smtClean="0">
                <a:latin typeface="Consolas" charset="0"/>
                <a:cs typeface="Monaco" charset="0"/>
              </a:rPr>
              <a:t>, </a:t>
            </a:r>
            <a:r>
              <a:rPr lang="es-AR" sz="1800" dirty="0" err="1" smtClean="0">
                <a:latin typeface="Consolas" charset="0"/>
                <a:cs typeface="Monaco" charset="0"/>
              </a:rPr>
              <a:t>a_gpu</a:t>
            </a:r>
            <a:r>
              <a:rPr lang="es-AR" sz="1800" dirty="0" smtClean="0">
                <a:latin typeface="Consolas" charset="0"/>
                <a:cs typeface="Monaco" charset="0"/>
              </a:rPr>
              <a:t>)</a:t>
            </a:r>
          </a:p>
          <a:p>
            <a:pPr>
              <a:spcAft>
                <a:spcPts val="400"/>
              </a:spcAft>
            </a:pPr>
            <a:r>
              <a:rPr lang="es-AR" sz="1800" dirty="0" smtClean="0">
                <a:latin typeface="Consolas" charset="0"/>
                <a:cs typeface="Monaco" charset="0"/>
              </a:rPr>
              <a:t/>
            </a:r>
            <a:br>
              <a:rPr lang="es-AR" sz="1800" dirty="0" smtClean="0">
                <a:latin typeface="Consolas" charset="0"/>
                <a:cs typeface="Monaco" charset="0"/>
              </a:rPr>
            </a:br>
            <a:endParaRPr lang="es-AR" sz="1800" dirty="0" smtClean="0">
              <a:latin typeface="Consolas" charset="0"/>
              <a:cs typeface="Monaco" charset="0"/>
            </a:endParaRPr>
          </a:p>
          <a:p>
            <a:pPr>
              <a:spcAft>
                <a:spcPts val="400"/>
              </a:spcAft>
            </a:pPr>
            <a:r>
              <a:rPr lang="es-AR" sz="1800" b="1" dirty="0" err="1">
                <a:solidFill>
                  <a:srgbClr val="00B050"/>
                </a:solidFill>
                <a:latin typeface="Consolas" charset="0"/>
                <a:cs typeface="Monaco" charset="0"/>
              </a:rPr>
              <a:t>p</a:t>
            </a:r>
            <a:r>
              <a:rPr lang="es-AR" sz="1800" b="1" dirty="0" err="1" smtClean="0">
                <a:solidFill>
                  <a:srgbClr val="00B050"/>
                </a:solidFill>
                <a:latin typeface="Consolas" charset="0"/>
                <a:cs typeface="Monaco" charset="0"/>
              </a:rPr>
              <a:t>rint</a:t>
            </a:r>
            <a:r>
              <a:rPr lang="es-AR" sz="1800" dirty="0" smtClean="0">
                <a:latin typeface="Consolas" charset="0"/>
                <a:cs typeface="Monaco" charset="0"/>
              </a:rPr>
              <a:t>(</a:t>
            </a:r>
            <a:r>
              <a:rPr lang="es-AR" sz="1800" dirty="0" err="1" smtClean="0">
                <a:latin typeface="Consolas" charset="0"/>
                <a:cs typeface="Monaco" charset="0"/>
              </a:rPr>
              <a:t>a_doubled</a:t>
            </a:r>
            <a:r>
              <a:rPr lang="es-AR" sz="1800" dirty="0" smtClean="0">
                <a:latin typeface="Consolas" charset="0"/>
                <a:cs typeface="Monaco" charset="0"/>
              </a:rPr>
              <a:t>)</a:t>
            </a:r>
          </a:p>
          <a:p>
            <a:pPr>
              <a:spcAft>
                <a:spcPts val="400"/>
              </a:spcAft>
            </a:pPr>
            <a:r>
              <a:rPr lang="es-AR" sz="1800" b="1" u="sng" dirty="0" err="1">
                <a:solidFill>
                  <a:srgbClr val="00B050"/>
                </a:solidFill>
                <a:latin typeface="Consolas" charset="0"/>
                <a:cs typeface="Monaco" charset="0"/>
              </a:rPr>
              <a:t>p</a:t>
            </a:r>
            <a:r>
              <a:rPr lang="es-AR" sz="1800" b="1" u="sng" dirty="0" err="1" smtClean="0">
                <a:solidFill>
                  <a:srgbClr val="00B050"/>
                </a:solidFill>
                <a:latin typeface="Consolas" charset="0"/>
                <a:cs typeface="Monaco" charset="0"/>
              </a:rPr>
              <a:t>rint</a:t>
            </a:r>
            <a:r>
              <a:rPr lang="es-AR" sz="1800" u="sng" dirty="0" smtClean="0">
                <a:latin typeface="Consolas" charset="0"/>
                <a:cs typeface="Monaco" charset="0"/>
              </a:rPr>
              <a:t>(a</a:t>
            </a:r>
            <a:r>
              <a:rPr lang="es-AR" sz="1800" dirty="0" smtClean="0">
                <a:latin typeface="Consolas" charset="0"/>
                <a:cs typeface="Monaco" charset="0"/>
              </a:rPr>
              <a:t>)</a:t>
            </a:r>
          </a:p>
          <a:p>
            <a:pPr>
              <a:spcAft>
                <a:spcPts val="400"/>
              </a:spcAft>
            </a:pPr>
            <a:r>
              <a:rPr lang="es-AR" sz="1800" dirty="0">
                <a:latin typeface="Consolas" charset="0"/>
                <a:cs typeface="Monaco" charset="0"/>
              </a:rPr>
              <a:t/>
            </a:r>
            <a:br>
              <a:rPr lang="es-AR" sz="1800" dirty="0">
                <a:latin typeface="Consolas" charset="0"/>
                <a:cs typeface="Monaco" charset="0"/>
              </a:rPr>
            </a:br>
            <a:endParaRPr lang="es-AR" sz="1800" dirty="0">
              <a:latin typeface="Consolas" charset="0"/>
              <a:cs typeface="Monaco" charset="0"/>
            </a:endParaRPr>
          </a:p>
        </p:txBody>
      </p:sp>
      <p:sp>
        <p:nvSpPr>
          <p:cNvPr id="4" name="Rectángulo 3"/>
          <p:cNvSpPr/>
          <p:nvPr/>
        </p:nvSpPr>
        <p:spPr>
          <a:xfrm>
            <a:off x="5904408" y="181237"/>
            <a:ext cx="3730508"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ejemplo_double.py - </a:t>
            </a:r>
            <a:r>
              <a:rPr lang="en-US" i="1" dirty="0" err="1" smtClean="0">
                <a:solidFill>
                  <a:srgbClr val="000000"/>
                </a:solidFill>
                <a:latin typeface="Gill Sans Light"/>
                <a:cs typeface="Gill Sans Light"/>
              </a:rPr>
              <a:t>continuación</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39878964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223888" y="1331565"/>
            <a:ext cx="7920880" cy="1924309"/>
          </a:xfrm>
          <a:prstGeom prst="rect">
            <a:avLst/>
          </a:prstGeom>
        </p:spPr>
        <p:txBody>
          <a:bodyPr wrap="square">
            <a:spAutoFit/>
          </a:bodyPr>
          <a:lstStyle/>
          <a:p>
            <a:r>
              <a:rPr lang="en-US" sz="2800" dirty="0" err="1" smtClean="0">
                <a:solidFill>
                  <a:srgbClr val="000000"/>
                </a:solidFill>
                <a:latin typeface="+mj-lt"/>
              </a:rPr>
              <a:t>Transferencia</a:t>
            </a:r>
            <a:r>
              <a:rPr lang="en-US" sz="2800" dirty="0" smtClean="0">
                <a:solidFill>
                  <a:srgbClr val="000000"/>
                </a:solidFill>
                <a:latin typeface="+mj-lt"/>
              </a:rPr>
              <a:t> de </a:t>
            </a:r>
            <a:r>
              <a:rPr lang="en-US" sz="2800" dirty="0" err="1" smtClean="0">
                <a:solidFill>
                  <a:srgbClr val="000000"/>
                </a:solidFill>
                <a:latin typeface="+mj-lt"/>
              </a:rPr>
              <a:t>memoria</a:t>
            </a:r>
            <a:r>
              <a:rPr lang="en-US" sz="2800" dirty="0" smtClean="0">
                <a:solidFill>
                  <a:srgbClr val="000000"/>
                </a:solidFill>
                <a:latin typeface="+mj-lt"/>
              </a:rPr>
              <a:t> </a:t>
            </a:r>
            <a:r>
              <a:rPr lang="en-US" sz="2800" dirty="0" err="1" smtClean="0">
                <a:solidFill>
                  <a:srgbClr val="000000"/>
                </a:solidFill>
                <a:latin typeface="+mj-lt"/>
              </a:rPr>
              <a:t>simplificada</a:t>
            </a:r>
            <a:r>
              <a:rPr lang="en-US" sz="2800" dirty="0" smtClean="0">
                <a:solidFill>
                  <a:srgbClr val="000000"/>
                </a:solidFill>
                <a:latin typeface="+mj-lt"/>
              </a:rPr>
              <a:t>:</a:t>
            </a:r>
          </a:p>
          <a:p>
            <a:endParaRPr lang="en-US" sz="2400" dirty="0">
              <a:solidFill>
                <a:srgbClr val="000000"/>
              </a:solidFill>
              <a:latin typeface="+mj-lt"/>
            </a:endParaRPr>
          </a:p>
          <a:p>
            <a:pPr marL="342900" indent="-342900">
              <a:buFont typeface="Arial" panose="020B0604020202020204" pitchFamily="34" charset="0"/>
              <a:buChar char="•"/>
            </a:pPr>
            <a:r>
              <a:rPr lang="es-AR" sz="2400" dirty="0" err="1" smtClean="0">
                <a:solidFill>
                  <a:srgbClr val="000000"/>
                </a:solidFill>
                <a:latin typeface="+mj-lt"/>
              </a:rPr>
              <a:t>pycuda.driver.In</a:t>
            </a:r>
            <a:r>
              <a:rPr lang="es-AR" sz="2400" dirty="0" smtClean="0">
                <a:solidFill>
                  <a:srgbClr val="000000"/>
                </a:solidFill>
                <a:latin typeface="+mj-lt"/>
              </a:rPr>
              <a:t>()</a:t>
            </a:r>
            <a:endParaRPr lang="es-AR" sz="2400" dirty="0">
              <a:solidFill>
                <a:srgbClr val="000000"/>
              </a:solidFill>
              <a:latin typeface="+mj-lt"/>
            </a:endParaRPr>
          </a:p>
          <a:p>
            <a:pPr marL="342900" indent="-342900">
              <a:buFont typeface="Arial" panose="020B0604020202020204" pitchFamily="34" charset="0"/>
              <a:buChar char="•"/>
            </a:pPr>
            <a:r>
              <a:rPr lang="es-AR" sz="2400" dirty="0" err="1" smtClean="0">
                <a:solidFill>
                  <a:srgbClr val="000000"/>
                </a:solidFill>
                <a:latin typeface="+mj-lt"/>
              </a:rPr>
              <a:t>pycuda.driver.Out</a:t>
            </a:r>
            <a:r>
              <a:rPr lang="es-AR" sz="2400" dirty="0" smtClean="0">
                <a:solidFill>
                  <a:srgbClr val="000000"/>
                </a:solidFill>
              </a:rPr>
              <a:t>()</a:t>
            </a:r>
            <a:endParaRPr lang="es-AR" sz="2400" dirty="0">
              <a:solidFill>
                <a:srgbClr val="000000"/>
              </a:solidFill>
              <a:latin typeface="+mj-lt"/>
            </a:endParaRPr>
          </a:p>
          <a:p>
            <a:pPr marL="342900" indent="-342900">
              <a:buFont typeface="Arial" panose="020B0604020202020204" pitchFamily="34" charset="0"/>
              <a:buChar char="•"/>
            </a:pPr>
            <a:r>
              <a:rPr lang="es-AR" sz="2400" dirty="0" err="1" smtClean="0">
                <a:solidFill>
                  <a:srgbClr val="000000"/>
                </a:solidFill>
                <a:latin typeface="+mj-lt"/>
              </a:rPr>
              <a:t>pycuda.driver.InOut</a:t>
            </a:r>
            <a:r>
              <a:rPr lang="es-AR" sz="2400" dirty="0" smtClean="0">
                <a:solidFill>
                  <a:srgbClr val="000000"/>
                </a:solidFill>
              </a:rPr>
              <a:t>()</a:t>
            </a:r>
            <a:endParaRPr lang="es-AR" sz="2400" dirty="0">
              <a:latin typeface="+mj-lt"/>
            </a:endParaRPr>
          </a:p>
        </p:txBody>
      </p:sp>
    </p:spTree>
    <p:extLst>
      <p:ext uri="{BB962C8B-B14F-4D97-AF65-F5344CB8AC3E}">
        <p14:creationId xmlns:p14="http://schemas.microsoft.com/office/powerpoint/2010/main" val="19919508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05841" y="539477"/>
            <a:ext cx="9070975"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smtClean="0">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np</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pycuda.autoinit</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from</a:t>
            </a:r>
            <a:r>
              <a:rPr lang="es-AR" sz="1800" dirty="0">
                <a:latin typeface="Consolas" charset="0"/>
                <a:cs typeface="Monaco" charset="0"/>
              </a:rPr>
              <a:t> </a:t>
            </a:r>
            <a:r>
              <a:rPr lang="es-AR" sz="1800" b="1" dirty="0" err="1">
                <a:solidFill>
                  <a:srgbClr val="0070C0"/>
                </a:solidFill>
                <a:latin typeface="Consolas" charset="0"/>
                <a:cs typeface="Monaco" charset="0"/>
              </a:rPr>
              <a:t>pycuda.compiler</a:t>
            </a:r>
            <a:r>
              <a:rPr lang="es-AR" sz="1800" dirty="0">
                <a:latin typeface="Consolas" charset="0"/>
                <a:cs typeface="Monaco" charset="0"/>
              </a:rPr>
              <a:t> </a:t>
            </a:r>
            <a:r>
              <a:rPr lang="es-AR" sz="1800" b="1" dirty="0" err="1">
                <a:solidFill>
                  <a:srgbClr val="00B050"/>
                </a:solidFill>
                <a:latin typeface="Consolas" charset="0"/>
                <a:cs typeface="Monaco" charset="0"/>
              </a:rPr>
              <a:t>import</a:t>
            </a:r>
            <a:r>
              <a:rPr lang="es-AR" sz="1800" b="1" dirty="0">
                <a:solidFill>
                  <a:srgbClr val="00B050"/>
                </a:solidFill>
                <a:latin typeface="Consolas" charset="0"/>
                <a:cs typeface="Monaco" charset="0"/>
              </a:rPr>
              <a:t> </a:t>
            </a:r>
            <a:r>
              <a:rPr lang="es-AR" sz="1800" dirty="0" err="1">
                <a:latin typeface="Consolas" charset="0"/>
                <a:cs typeface="Monaco" charset="0"/>
              </a:rPr>
              <a:t>SourceModule</a:t>
            </a:r>
            <a:endParaRPr lang="es-AR" sz="1800" dirty="0">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mod</a:t>
            </a:r>
            <a:r>
              <a:rPr lang="es-AR" sz="1800" dirty="0">
                <a:latin typeface="Consolas" charset="0"/>
                <a:cs typeface="Monaco" charset="0"/>
              </a:rPr>
              <a:t> = </a:t>
            </a:r>
            <a:r>
              <a:rPr lang="es-AR" sz="1800" dirty="0" err="1" smtClean="0">
                <a:latin typeface="Consolas" charset="0"/>
                <a:cs typeface="Monaco" charset="0"/>
              </a:rPr>
              <a:t>SourceModule</a:t>
            </a:r>
            <a:r>
              <a:rPr lang="es-AR" sz="1800" dirty="0" smtClean="0">
                <a:latin typeface="Consolas" charset="0"/>
                <a:cs typeface="Monaco" charset="0"/>
              </a:rPr>
              <a:t>(</a:t>
            </a:r>
            <a:r>
              <a:rPr lang="es-AR" sz="1800" dirty="0" smtClean="0">
                <a:solidFill>
                  <a:schemeClr val="tx1">
                    <a:lumMod val="50000"/>
                    <a:lumOff val="50000"/>
                  </a:schemeClr>
                </a:solidFill>
                <a:latin typeface="Consolas" charset="0"/>
                <a:cs typeface="Monaco" charset="0"/>
              </a:rPr>
              <a:t>"""</a:t>
            </a:r>
            <a:endParaRPr lang="es-AR" sz="1800" dirty="0">
              <a:solidFill>
                <a:schemeClr val="tx1">
                  <a:lumMod val="50000"/>
                  <a:lumOff val="50000"/>
                </a:schemeClr>
              </a:solidFill>
              <a:latin typeface="Consolas" charset="0"/>
              <a:cs typeface="Monaco" charset="0"/>
            </a:endParaRPr>
          </a:p>
          <a:p>
            <a:pPr>
              <a:spcAft>
                <a:spcPts val="400"/>
              </a:spcAft>
            </a:pPr>
            <a:r>
              <a:rPr lang="es-AR" sz="1800" dirty="0">
                <a:solidFill>
                  <a:schemeClr val="tx1">
                    <a:lumMod val="50000"/>
                    <a:lumOff val="50000"/>
                  </a:schemeClr>
                </a:solidFill>
                <a:latin typeface="Consolas" charset="0"/>
                <a:cs typeface="Monaco" charset="0"/>
              </a:rPr>
              <a:t>__global__ </a:t>
            </a:r>
            <a:r>
              <a:rPr lang="es-AR" sz="1800" dirty="0" err="1">
                <a:solidFill>
                  <a:schemeClr val="tx1">
                    <a:lumMod val="50000"/>
                    <a:lumOff val="50000"/>
                  </a:schemeClr>
                </a:solidFill>
                <a:latin typeface="Consolas" charset="0"/>
                <a:cs typeface="Monaco" charset="0"/>
              </a:rPr>
              <a:t>void</a:t>
            </a: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times_two</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int</a:t>
            </a:r>
            <a:r>
              <a:rPr lang="es-AR" sz="1800" dirty="0">
                <a:solidFill>
                  <a:schemeClr val="tx1">
                    <a:lumMod val="50000"/>
                    <a:lumOff val="50000"/>
                  </a:schemeClr>
                </a:solidFill>
                <a:latin typeface="Consolas" charset="0"/>
                <a:cs typeface="Monaco" charset="0"/>
              </a:rPr>
              <a:t> N,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*a)</a:t>
            </a:r>
          </a:p>
          <a:p>
            <a:pPr>
              <a:spcAft>
                <a:spcPts val="400"/>
              </a:spcAft>
            </a:pPr>
            <a:r>
              <a:rPr lang="es-AR" sz="1800" dirty="0">
                <a:solidFill>
                  <a:schemeClr val="tx1">
                    <a:lumMod val="50000"/>
                    <a:lumOff val="50000"/>
                  </a:schemeClr>
                </a:solidFill>
                <a:latin typeface="Consolas" charset="0"/>
                <a:cs typeface="Monaco" charset="0"/>
              </a:rPr>
              <a:t>{</a:t>
            </a:r>
          </a:p>
          <a:p>
            <a:pPr>
              <a:spcAft>
                <a:spcPts val="400"/>
              </a:spcAft>
            </a:pP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int</a:t>
            </a:r>
            <a:r>
              <a:rPr lang="es-AR" sz="1800" dirty="0">
                <a:solidFill>
                  <a:schemeClr val="tx1">
                    <a:lumMod val="50000"/>
                    <a:lumOff val="50000"/>
                  </a:schemeClr>
                </a:solidFill>
                <a:latin typeface="Consolas" charset="0"/>
                <a:cs typeface="Monaco" charset="0"/>
              </a:rPr>
              <a:t> id = </a:t>
            </a:r>
            <a:r>
              <a:rPr lang="es-AR" sz="1800" dirty="0" err="1">
                <a:solidFill>
                  <a:schemeClr val="tx1">
                    <a:lumMod val="50000"/>
                    <a:lumOff val="50000"/>
                  </a:schemeClr>
                </a:solidFill>
                <a:latin typeface="Consolas" charset="0"/>
                <a:cs typeface="Monaco" charset="0"/>
              </a:rPr>
              <a:t>blockIdx.x</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blockDim.x</a:t>
            </a:r>
            <a:r>
              <a:rPr lang="es-AR" sz="1800" dirty="0">
                <a:solidFill>
                  <a:schemeClr val="tx1">
                    <a:lumMod val="50000"/>
                    <a:lumOff val="50000"/>
                  </a:schemeClr>
                </a:solidFill>
                <a:latin typeface="Consolas" charset="0"/>
                <a:cs typeface="Monaco" charset="0"/>
              </a:rPr>
              <a:t> + </a:t>
            </a:r>
            <a:r>
              <a:rPr lang="es-AR" sz="1800" dirty="0" err="1">
                <a:solidFill>
                  <a:schemeClr val="tx1">
                    <a:lumMod val="50000"/>
                    <a:lumOff val="50000"/>
                  </a:schemeClr>
                </a:solidFill>
                <a:latin typeface="Consolas" charset="0"/>
                <a:cs typeface="Monaco" charset="0"/>
              </a:rPr>
              <a:t>threadIdx.x</a:t>
            </a:r>
            <a:r>
              <a:rPr lang="es-AR" sz="1800" dirty="0">
                <a:solidFill>
                  <a:schemeClr val="tx1">
                    <a:lumMod val="50000"/>
                    <a:lumOff val="50000"/>
                  </a:schemeClr>
                </a:solidFill>
                <a:latin typeface="Consolas" charset="0"/>
                <a:cs typeface="Monaco" charset="0"/>
              </a:rPr>
              <a:t>;</a:t>
            </a:r>
          </a:p>
          <a:p>
            <a:pPr>
              <a:spcAft>
                <a:spcPts val="400"/>
              </a:spcAft>
            </a:pP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if</a:t>
            </a:r>
            <a:r>
              <a:rPr lang="es-AR" sz="1800" dirty="0">
                <a:solidFill>
                  <a:schemeClr val="tx1">
                    <a:lumMod val="50000"/>
                    <a:lumOff val="50000"/>
                  </a:schemeClr>
                </a:solidFill>
                <a:latin typeface="Consolas" charset="0"/>
                <a:cs typeface="Monaco" charset="0"/>
              </a:rPr>
              <a:t>(id&lt;N){</a:t>
            </a:r>
          </a:p>
          <a:p>
            <a:pPr>
              <a:spcAft>
                <a:spcPts val="400"/>
              </a:spcAft>
            </a:pPr>
            <a:r>
              <a:rPr lang="es-AR" sz="1800" dirty="0">
                <a:solidFill>
                  <a:schemeClr val="tx1">
                    <a:lumMod val="50000"/>
                    <a:lumOff val="50000"/>
                  </a:schemeClr>
                </a:solidFill>
                <a:latin typeface="Consolas" charset="0"/>
                <a:cs typeface="Monaco" charset="0"/>
              </a:rPr>
              <a:t>			a[id] = 2*a[id];</a:t>
            </a:r>
          </a:p>
          <a:p>
            <a:pPr>
              <a:spcAft>
                <a:spcPts val="400"/>
              </a:spcAft>
            </a:pPr>
            <a:r>
              <a:rPr lang="es-AR" sz="1800" dirty="0">
                <a:solidFill>
                  <a:schemeClr val="tx1">
                    <a:lumMod val="50000"/>
                    <a:lumOff val="50000"/>
                  </a:schemeClr>
                </a:solidFill>
                <a:latin typeface="Consolas" charset="0"/>
                <a:cs typeface="Monaco" charset="0"/>
              </a:rPr>
              <a:t>	}</a:t>
            </a:r>
          </a:p>
          <a:p>
            <a:pPr>
              <a:spcAft>
                <a:spcPts val="400"/>
              </a:spcAft>
            </a:pPr>
            <a:r>
              <a:rPr lang="es-AR" sz="1800" dirty="0">
                <a:solidFill>
                  <a:schemeClr val="tx1">
                    <a:lumMod val="50000"/>
                    <a:lumOff val="50000"/>
                  </a:schemeClr>
                </a:solidFill>
                <a:latin typeface="Consolas" charset="0"/>
                <a:cs typeface="Monaco" charset="0"/>
              </a:rPr>
              <a:t>}</a:t>
            </a:r>
          </a:p>
          <a:p>
            <a:pPr>
              <a:spcAft>
                <a:spcPts val="400"/>
              </a:spcAft>
            </a:pPr>
            <a:r>
              <a:rPr lang="es-AR" sz="1800" dirty="0">
                <a:solidFill>
                  <a:schemeClr val="tx1">
                    <a:lumMod val="50000"/>
                    <a:lumOff val="50000"/>
                  </a:schemeClr>
                </a:solidFill>
                <a:latin typeface="Consolas" charset="0"/>
                <a:cs typeface="Monaco" charset="0"/>
              </a:rPr>
              <a:t>"""</a:t>
            </a:r>
            <a:r>
              <a:rPr lang="es-AR" sz="1800" dirty="0">
                <a:latin typeface="Consolas" charset="0"/>
                <a:cs typeface="Monaco" charset="0"/>
              </a:rPr>
              <a:t>)</a:t>
            </a:r>
          </a:p>
          <a:p>
            <a:pPr>
              <a:spcAft>
                <a:spcPts val="400"/>
              </a:spcAft>
            </a:pPr>
            <a:r>
              <a:rPr lang="es-AR" dirty="0">
                <a:latin typeface="Consolas" charset="0"/>
                <a:cs typeface="Monaco" charset="0"/>
              </a:rPr>
              <a:t/>
            </a:r>
            <a:br>
              <a:rPr lang="es-AR" dirty="0">
                <a:latin typeface="Consolas" charset="0"/>
                <a:cs typeface="Monaco" charset="0"/>
              </a:rPr>
            </a:br>
            <a:endParaRPr lang="es-AR" dirty="0">
              <a:latin typeface="Consolas" charset="0"/>
              <a:cs typeface="Monaco" charset="0"/>
            </a:endParaRPr>
          </a:p>
          <a:p>
            <a:pPr>
              <a:spcAft>
                <a:spcPts val="400"/>
              </a:spcAft>
            </a:pPr>
            <a:r>
              <a:rPr lang="es-AR" dirty="0">
                <a:latin typeface="Consolas" charset="0"/>
                <a:cs typeface="Monaco" charset="0"/>
              </a:rPr>
              <a:t/>
            </a:r>
            <a:br>
              <a:rPr lang="es-AR" dirty="0">
                <a:latin typeface="Consolas" charset="0"/>
                <a:cs typeface="Monaco" charset="0"/>
              </a:rPr>
            </a:br>
            <a:endParaRPr lang="es-AR" dirty="0">
              <a:latin typeface="Consolas" charset="0"/>
              <a:cs typeface="Monaco" charset="0"/>
            </a:endParaRPr>
          </a:p>
        </p:txBody>
      </p:sp>
      <p:sp>
        <p:nvSpPr>
          <p:cNvPr id="3" name="Rectángulo 2"/>
          <p:cNvSpPr/>
          <p:nvPr/>
        </p:nvSpPr>
        <p:spPr>
          <a:xfrm>
            <a:off x="6718341" y="181237"/>
            <a:ext cx="2858475"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ejemplo_double_inout.py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29452664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es-AR" sz="1800" dirty="0">
                <a:latin typeface="Consolas" charset="0"/>
                <a:cs typeface="Monaco" charset="0"/>
              </a:rPr>
              <a:t>N = 30000</a:t>
            </a:r>
          </a:p>
          <a:p>
            <a:pPr>
              <a:spcAft>
                <a:spcPts val="400"/>
              </a:spcAft>
            </a:pPr>
            <a:endParaRPr lang="es-AR" sz="1800" dirty="0">
              <a:latin typeface="Consolas" charset="0"/>
              <a:cs typeface="Monaco" charset="0"/>
            </a:endParaRPr>
          </a:p>
          <a:p>
            <a:pPr>
              <a:spcAft>
                <a:spcPts val="400"/>
              </a:spcAft>
            </a:pPr>
            <a:r>
              <a:rPr lang="es-AR" sz="1800" dirty="0">
                <a:latin typeface="Consolas" charset="0"/>
                <a:cs typeface="Monaco" charset="0"/>
              </a:rPr>
              <a:t>a = </a:t>
            </a:r>
            <a:r>
              <a:rPr lang="es-AR" sz="1800" dirty="0" err="1">
                <a:latin typeface="Consolas" charset="0"/>
                <a:cs typeface="Monaco" charset="0"/>
              </a:rPr>
              <a:t>np.ones</a:t>
            </a:r>
            <a:r>
              <a:rPr lang="es-AR" sz="1800" dirty="0">
                <a:latin typeface="Consolas" charset="0"/>
                <a:cs typeface="Monaco" charset="0"/>
              </a:rPr>
              <a:t>(N)</a:t>
            </a:r>
          </a:p>
          <a:p>
            <a:pPr>
              <a:spcAft>
                <a:spcPts val="400"/>
              </a:spcAft>
            </a:pPr>
            <a:r>
              <a:rPr lang="es-AR" sz="1800" dirty="0">
                <a:latin typeface="Consolas" charset="0"/>
                <a:cs typeface="Monaco" charset="0"/>
              </a:rPr>
              <a:t>a = </a:t>
            </a:r>
            <a:r>
              <a:rPr lang="es-AR" sz="1800" dirty="0" err="1">
                <a:latin typeface="Consolas" charset="0"/>
                <a:cs typeface="Monaco" charset="0"/>
              </a:rPr>
              <a:t>a.astype</a:t>
            </a:r>
            <a:r>
              <a:rPr lang="es-AR" sz="1800" dirty="0">
                <a:latin typeface="Consolas" charset="0"/>
                <a:cs typeface="Monaco" charset="0"/>
              </a:rPr>
              <a:t>(np.float32)</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func</a:t>
            </a:r>
            <a:r>
              <a:rPr lang="es-AR" sz="1800" dirty="0">
                <a:latin typeface="Consolas" charset="0"/>
                <a:cs typeface="Monaco" charset="0"/>
              </a:rPr>
              <a:t> = </a:t>
            </a:r>
            <a:r>
              <a:rPr lang="es-AR" sz="1800" dirty="0" err="1">
                <a:latin typeface="Consolas" charset="0"/>
                <a:cs typeface="Monaco" charset="0"/>
              </a:rPr>
              <a:t>mod.get_function</a:t>
            </a:r>
            <a:r>
              <a:rPr lang="es-AR" sz="1800" dirty="0">
                <a:latin typeface="Consolas" charset="0"/>
                <a:cs typeface="Monaco" charset="0"/>
              </a:rPr>
              <a:t>(</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times_two</a:t>
            </a:r>
            <a:r>
              <a:rPr lang="es-AR" sz="1800" dirty="0">
                <a:solidFill>
                  <a:schemeClr val="tx1">
                    <a:lumMod val="50000"/>
                    <a:lumOff val="50000"/>
                  </a:schemeClr>
                </a:solidFill>
                <a:latin typeface="Consolas" charset="0"/>
                <a:cs typeface="Monaco" charset="0"/>
              </a:rPr>
              <a:t>'</a:t>
            </a:r>
            <a:r>
              <a:rPr lang="es-AR" sz="1800" dirty="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numThreads</a:t>
            </a:r>
            <a:r>
              <a:rPr lang="es-AR" sz="1800" dirty="0">
                <a:latin typeface="Consolas" charset="0"/>
                <a:cs typeface="Monaco" charset="0"/>
              </a:rPr>
              <a:t> = 128</a:t>
            </a:r>
          </a:p>
          <a:p>
            <a:pPr>
              <a:spcAft>
                <a:spcPts val="400"/>
              </a:spcAft>
            </a:pPr>
            <a:r>
              <a:rPr lang="es-AR" sz="1800" dirty="0" err="1">
                <a:latin typeface="Consolas" charset="0"/>
                <a:cs typeface="Monaco" charset="0"/>
              </a:rPr>
              <a:t>numBlocks</a:t>
            </a:r>
            <a:r>
              <a:rPr lang="es-AR" sz="1800" dirty="0">
                <a:latin typeface="Consolas" charset="0"/>
                <a:cs typeface="Monaco" charset="0"/>
              </a:rPr>
              <a:t> = </a:t>
            </a:r>
            <a:r>
              <a:rPr lang="es-AR" sz="1800" dirty="0" smtClean="0">
                <a:latin typeface="Consolas" charset="0"/>
                <a:cs typeface="Monaco" charset="0"/>
              </a:rPr>
              <a:t>(N </a:t>
            </a:r>
            <a:r>
              <a:rPr lang="es-AR" sz="1800" dirty="0">
                <a:latin typeface="Consolas" charset="0"/>
                <a:cs typeface="Monaco" charset="0"/>
              </a:rPr>
              <a:t>+ </a:t>
            </a:r>
            <a:r>
              <a:rPr lang="es-AR" sz="1800" dirty="0" err="1">
                <a:latin typeface="Consolas" charset="0"/>
                <a:cs typeface="Monaco" charset="0"/>
              </a:rPr>
              <a:t>numThreads</a:t>
            </a:r>
            <a:r>
              <a:rPr lang="es-AR" sz="1800" dirty="0">
                <a:latin typeface="Consolas" charset="0"/>
                <a:cs typeface="Monaco" charset="0"/>
              </a:rPr>
              <a:t> - 1 </a:t>
            </a:r>
            <a:r>
              <a:rPr lang="es-AR" sz="1800" dirty="0" smtClean="0">
                <a:latin typeface="Consolas" charset="0"/>
                <a:cs typeface="Monaco" charset="0"/>
              </a:rPr>
              <a:t>)//</a:t>
            </a:r>
            <a:r>
              <a:rPr lang="es-AR" sz="1800" dirty="0" err="1" smtClean="0">
                <a:latin typeface="Consolas" charset="0"/>
                <a:cs typeface="Monaco" charset="0"/>
              </a:rPr>
              <a:t>numThreads</a:t>
            </a:r>
            <a:endParaRPr lang="es-AR" sz="1800" dirty="0">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func</a:t>
            </a:r>
            <a:r>
              <a:rPr lang="es-AR" sz="1800" dirty="0">
                <a:latin typeface="Consolas" charset="0"/>
                <a:cs typeface="Monaco" charset="0"/>
              </a:rPr>
              <a:t>(</a:t>
            </a:r>
            <a:r>
              <a:rPr lang="es-AR" sz="1800" dirty="0" err="1">
                <a:latin typeface="Consolas" charset="0"/>
                <a:cs typeface="Monaco" charset="0"/>
              </a:rPr>
              <a:t>np.array</a:t>
            </a:r>
            <a:r>
              <a:rPr lang="es-AR" sz="1800" dirty="0">
                <a:latin typeface="Consolas" charset="0"/>
                <a:cs typeface="Monaco" charset="0"/>
              </a:rPr>
              <a:t>(N), </a:t>
            </a:r>
            <a:r>
              <a:rPr lang="es-AR" sz="1800" dirty="0" err="1">
                <a:latin typeface="Consolas" charset="0"/>
                <a:cs typeface="Monaco" charset="0"/>
              </a:rPr>
              <a:t>cuda.InOut</a:t>
            </a:r>
            <a:r>
              <a:rPr lang="es-AR" sz="1800" dirty="0">
                <a:latin typeface="Consolas" charset="0"/>
                <a:cs typeface="Monaco" charset="0"/>
              </a:rPr>
              <a:t>(a), block=(numThreads,1,1), </a:t>
            </a:r>
            <a:r>
              <a:rPr lang="es-AR" sz="1800" dirty="0" err="1">
                <a:latin typeface="Consolas" charset="0"/>
                <a:cs typeface="Monaco" charset="0"/>
              </a:rPr>
              <a:t>grid</a:t>
            </a:r>
            <a:r>
              <a:rPr lang="es-AR" sz="1800" dirty="0">
                <a:latin typeface="Consolas" charset="0"/>
                <a:cs typeface="Monaco" charset="0"/>
              </a:rPr>
              <a:t>=(numBlocks,1,1))</a:t>
            </a:r>
          </a:p>
          <a:p>
            <a:pPr>
              <a:spcAft>
                <a:spcPts val="400"/>
              </a:spcAft>
            </a:pPr>
            <a:endParaRPr lang="es-AR" sz="1800" dirty="0">
              <a:latin typeface="Consolas" charset="0"/>
              <a:cs typeface="Monaco" charset="0"/>
            </a:endParaRPr>
          </a:p>
          <a:p>
            <a:pPr>
              <a:spcAft>
                <a:spcPts val="400"/>
              </a:spcAft>
            </a:pPr>
            <a:r>
              <a:rPr lang="es-AR" sz="1800" b="1" u="sng" dirty="0" err="1" smtClean="0">
                <a:solidFill>
                  <a:srgbClr val="00B050"/>
                </a:solidFill>
                <a:latin typeface="Consolas" charset="0"/>
                <a:cs typeface="Monaco" charset="0"/>
              </a:rPr>
              <a:t>print</a:t>
            </a:r>
            <a:r>
              <a:rPr lang="es-AR" sz="1800" u="sng" dirty="0" smtClean="0">
                <a:latin typeface="Consolas" charset="0"/>
                <a:cs typeface="Monaco" charset="0"/>
              </a:rPr>
              <a:t>(a</a:t>
            </a:r>
            <a:r>
              <a:rPr lang="es-AR" sz="1800" dirty="0" smtClean="0">
                <a:latin typeface="Consolas" charset="0"/>
                <a:cs typeface="Monaco" charset="0"/>
              </a:rPr>
              <a:t>)</a:t>
            </a:r>
            <a:r>
              <a:rPr lang="es-AR" sz="1800" dirty="0">
                <a:latin typeface="Consolas" charset="0"/>
                <a:cs typeface="Monaco" charset="0"/>
              </a:rPr>
              <a:t/>
            </a:r>
            <a:br>
              <a:rPr lang="es-AR" sz="1800" dirty="0">
                <a:latin typeface="Consolas" charset="0"/>
                <a:cs typeface="Monaco" charset="0"/>
              </a:rPr>
            </a:br>
            <a:endParaRPr lang="es-AR" sz="1800" dirty="0">
              <a:latin typeface="Consolas" charset="0"/>
              <a:cs typeface="Monaco" charset="0"/>
            </a:endParaRPr>
          </a:p>
        </p:txBody>
      </p:sp>
      <p:sp>
        <p:nvSpPr>
          <p:cNvPr id="4" name="Rectángulo 3"/>
          <p:cNvSpPr/>
          <p:nvPr/>
        </p:nvSpPr>
        <p:spPr>
          <a:xfrm>
            <a:off x="5276030" y="181237"/>
            <a:ext cx="4358886"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ejemplo_double_inout.py - </a:t>
            </a:r>
            <a:r>
              <a:rPr lang="en-US" i="1" dirty="0" err="1" smtClean="0">
                <a:solidFill>
                  <a:srgbClr val="000000"/>
                </a:solidFill>
                <a:latin typeface="Gill Sans Light"/>
                <a:cs typeface="Gill Sans Light"/>
              </a:rPr>
              <a:t>continuación</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425385799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np</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pycuda.autoinit</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from</a:t>
            </a:r>
            <a:r>
              <a:rPr lang="es-AR" sz="1800" dirty="0">
                <a:latin typeface="Consolas" charset="0"/>
                <a:cs typeface="Monaco" charset="0"/>
              </a:rPr>
              <a:t> </a:t>
            </a:r>
            <a:r>
              <a:rPr lang="es-AR" sz="1800" b="1" dirty="0" err="1">
                <a:solidFill>
                  <a:srgbClr val="0070C0"/>
                </a:solidFill>
                <a:latin typeface="Consolas" charset="0"/>
                <a:cs typeface="Monaco" charset="0"/>
              </a:rPr>
              <a:t>pycuda.compiler</a:t>
            </a:r>
            <a:r>
              <a:rPr lang="es-AR" sz="1800" dirty="0">
                <a:latin typeface="Consolas" charset="0"/>
                <a:cs typeface="Monaco" charset="0"/>
              </a:rPr>
              <a:t> </a:t>
            </a:r>
            <a:r>
              <a:rPr lang="es-AR" sz="1800" b="1" dirty="0" err="1">
                <a:solidFill>
                  <a:srgbClr val="00B050"/>
                </a:solidFill>
                <a:latin typeface="Consolas" charset="0"/>
                <a:cs typeface="Monaco" charset="0"/>
              </a:rPr>
              <a:t>import</a:t>
            </a:r>
            <a:r>
              <a:rPr lang="es-AR" sz="1800" b="1" dirty="0">
                <a:solidFill>
                  <a:srgbClr val="00B050"/>
                </a:solidFill>
                <a:latin typeface="Consolas" charset="0"/>
                <a:cs typeface="Monaco" charset="0"/>
              </a:rPr>
              <a:t> </a:t>
            </a:r>
            <a:r>
              <a:rPr lang="es-AR" sz="1800" dirty="0" err="1">
                <a:latin typeface="Consolas" charset="0"/>
                <a:cs typeface="Monaco" charset="0"/>
              </a:rPr>
              <a:t>SourceModule</a:t>
            </a:r>
            <a:endParaRPr lang="es-AR" sz="1800" dirty="0">
              <a:latin typeface="Consolas" charset="0"/>
              <a:cs typeface="Monaco" charset="0"/>
            </a:endParaRPr>
          </a:p>
          <a:p>
            <a:pPr>
              <a:spcAft>
                <a:spcPts val="400"/>
              </a:spcAft>
            </a:pPr>
            <a:endParaRPr lang="es-AR" sz="1800" dirty="0" smtClean="0">
              <a:latin typeface="Consolas" charset="0"/>
              <a:cs typeface="Monaco" charset="0"/>
            </a:endParaRPr>
          </a:p>
          <a:p>
            <a:pPr>
              <a:spcAft>
                <a:spcPts val="400"/>
              </a:spcAft>
            </a:pPr>
            <a:r>
              <a:rPr lang="es-AR" sz="1800" dirty="0" err="1" smtClean="0">
                <a:latin typeface="Consolas" charset="0"/>
                <a:cs typeface="Monaco" charset="0"/>
              </a:rPr>
              <a:t>mod</a:t>
            </a:r>
            <a:r>
              <a:rPr lang="es-AR" sz="1800" dirty="0" smtClean="0">
                <a:latin typeface="Consolas" charset="0"/>
                <a:cs typeface="Monaco" charset="0"/>
              </a:rPr>
              <a:t> </a:t>
            </a:r>
            <a:r>
              <a:rPr lang="es-AR" sz="1800" dirty="0">
                <a:latin typeface="Consolas" charset="0"/>
                <a:cs typeface="Monaco" charset="0"/>
              </a:rPr>
              <a:t>= </a:t>
            </a:r>
            <a:r>
              <a:rPr lang="es-AR" sz="1800" dirty="0" err="1" smtClean="0">
                <a:latin typeface="Consolas" charset="0"/>
                <a:cs typeface="Monaco" charset="0"/>
              </a:rPr>
              <a:t>SourceModule</a:t>
            </a:r>
            <a:r>
              <a:rPr lang="es-AR" sz="1800" dirty="0" smtClean="0">
                <a:latin typeface="Consolas" charset="0"/>
                <a:cs typeface="Monaco" charset="0"/>
              </a:rPr>
              <a:t>(</a:t>
            </a:r>
            <a:r>
              <a:rPr lang="es-AR" sz="1800" dirty="0" smtClean="0">
                <a:solidFill>
                  <a:schemeClr val="tx1">
                    <a:lumMod val="50000"/>
                    <a:lumOff val="50000"/>
                  </a:schemeClr>
                </a:solidFill>
                <a:latin typeface="Consolas" charset="0"/>
                <a:cs typeface="Monaco" charset="0"/>
              </a:rPr>
              <a:t>"""</a:t>
            </a:r>
          </a:p>
          <a:p>
            <a:pPr>
              <a:spcAft>
                <a:spcPts val="400"/>
              </a:spcAft>
            </a:pPr>
            <a:r>
              <a:rPr lang="es-AR" sz="1800" dirty="0" smtClean="0">
                <a:solidFill>
                  <a:schemeClr val="tx1">
                    <a:lumMod val="50000"/>
                    <a:lumOff val="50000"/>
                  </a:schemeClr>
                </a:solidFill>
                <a:latin typeface="Consolas" charset="0"/>
                <a:cs typeface="Monaco" charset="0"/>
              </a:rPr>
              <a:t>__global__ </a:t>
            </a:r>
            <a:r>
              <a:rPr lang="es-AR" sz="1800" dirty="0" err="1" smtClean="0">
                <a:solidFill>
                  <a:schemeClr val="tx1">
                    <a:lumMod val="50000"/>
                    <a:lumOff val="50000"/>
                  </a:schemeClr>
                </a:solidFill>
                <a:latin typeface="Consolas" charset="0"/>
                <a:cs typeface="Monaco" charset="0"/>
              </a:rPr>
              <a:t>void</a:t>
            </a:r>
            <a:r>
              <a:rPr lang="es-AR" sz="1800" dirty="0" smtClean="0">
                <a:solidFill>
                  <a:schemeClr val="tx1">
                    <a:lumMod val="50000"/>
                    <a:lumOff val="50000"/>
                  </a:schemeClr>
                </a:solidFill>
                <a:latin typeface="Consolas" charset="0"/>
                <a:cs typeface="Monaco" charset="0"/>
              </a:rPr>
              <a:t> </a:t>
            </a:r>
            <a:r>
              <a:rPr lang="es-AR" sz="1800" dirty="0" err="1" smtClean="0">
                <a:solidFill>
                  <a:schemeClr val="tx1">
                    <a:lumMod val="50000"/>
                    <a:lumOff val="50000"/>
                  </a:schemeClr>
                </a:solidFill>
                <a:latin typeface="Consolas" charset="0"/>
                <a:cs typeface="Monaco" charset="0"/>
              </a:rPr>
              <a:t>multiply_them</a:t>
            </a:r>
            <a:r>
              <a:rPr lang="es-AR" sz="1800" dirty="0" smtClean="0">
                <a:solidFill>
                  <a:schemeClr val="tx1">
                    <a:lumMod val="50000"/>
                    <a:lumOff val="50000"/>
                  </a:schemeClr>
                </a:solidFill>
                <a:latin typeface="Consolas" charset="0"/>
                <a:cs typeface="Monaco" charset="0"/>
              </a:rPr>
              <a:t>(</a:t>
            </a:r>
            <a:r>
              <a:rPr lang="es-AR" sz="1800" dirty="0" err="1" smtClean="0">
                <a:solidFill>
                  <a:schemeClr val="tx1">
                    <a:lumMod val="50000"/>
                    <a:lumOff val="50000"/>
                  </a:schemeClr>
                </a:solidFill>
                <a:latin typeface="Consolas" charset="0"/>
                <a:cs typeface="Monaco" charset="0"/>
              </a:rPr>
              <a:t>float</a:t>
            </a:r>
            <a:r>
              <a:rPr lang="es-AR" sz="1800" dirty="0" smtClean="0">
                <a:solidFill>
                  <a:schemeClr val="tx1">
                    <a:lumMod val="50000"/>
                    <a:lumOff val="50000"/>
                  </a:schemeClr>
                </a:solidFill>
                <a:latin typeface="Consolas" charset="0"/>
                <a:cs typeface="Monaco" charset="0"/>
              </a:rPr>
              <a:t> *</a:t>
            </a:r>
            <a:r>
              <a:rPr lang="es-AR" sz="1800" dirty="0" err="1" smtClean="0">
                <a:solidFill>
                  <a:schemeClr val="tx1">
                    <a:lumMod val="50000"/>
                    <a:lumOff val="50000"/>
                  </a:schemeClr>
                </a:solidFill>
                <a:latin typeface="Consolas" charset="0"/>
                <a:cs typeface="Monaco" charset="0"/>
              </a:rPr>
              <a:t>dest</a:t>
            </a:r>
            <a:r>
              <a:rPr lang="es-AR" sz="1800" dirty="0" smtClean="0">
                <a:solidFill>
                  <a:schemeClr val="tx1">
                    <a:lumMod val="50000"/>
                    <a:lumOff val="50000"/>
                  </a:schemeClr>
                </a:solidFill>
                <a:latin typeface="Consolas" charset="0"/>
                <a:cs typeface="Monaco" charset="0"/>
              </a:rPr>
              <a:t>, </a:t>
            </a:r>
            <a:r>
              <a:rPr lang="es-AR" sz="1800" dirty="0" err="1" smtClean="0">
                <a:solidFill>
                  <a:schemeClr val="tx1">
                    <a:lumMod val="50000"/>
                    <a:lumOff val="50000"/>
                  </a:schemeClr>
                </a:solidFill>
                <a:latin typeface="Consolas" charset="0"/>
                <a:cs typeface="Monaco" charset="0"/>
              </a:rPr>
              <a:t>float</a:t>
            </a:r>
            <a:r>
              <a:rPr lang="es-AR" sz="1800" dirty="0" smtClean="0">
                <a:solidFill>
                  <a:schemeClr val="tx1">
                    <a:lumMod val="50000"/>
                    <a:lumOff val="50000"/>
                  </a:schemeClr>
                </a:solidFill>
                <a:latin typeface="Consolas" charset="0"/>
                <a:cs typeface="Monaco" charset="0"/>
              </a:rPr>
              <a:t> *a, </a:t>
            </a:r>
            <a:r>
              <a:rPr lang="es-AR" sz="1800" dirty="0" err="1" smtClean="0">
                <a:solidFill>
                  <a:schemeClr val="tx1">
                    <a:lumMod val="50000"/>
                    <a:lumOff val="50000"/>
                  </a:schemeClr>
                </a:solidFill>
                <a:latin typeface="Consolas" charset="0"/>
                <a:cs typeface="Monaco" charset="0"/>
              </a:rPr>
              <a:t>float</a:t>
            </a:r>
            <a:r>
              <a:rPr lang="es-AR" sz="1800" dirty="0" smtClean="0">
                <a:solidFill>
                  <a:schemeClr val="tx1">
                    <a:lumMod val="50000"/>
                    <a:lumOff val="50000"/>
                  </a:schemeClr>
                </a:solidFill>
                <a:latin typeface="Consolas" charset="0"/>
                <a:cs typeface="Monaco" charset="0"/>
              </a:rPr>
              <a:t> *b)</a:t>
            </a:r>
          </a:p>
          <a:p>
            <a:pPr>
              <a:spcAft>
                <a:spcPts val="400"/>
              </a:spcAft>
            </a:pPr>
            <a:r>
              <a:rPr lang="es-AR" sz="1800" dirty="0" smtClean="0">
                <a:solidFill>
                  <a:schemeClr val="tx1">
                    <a:lumMod val="50000"/>
                    <a:lumOff val="50000"/>
                  </a:schemeClr>
                </a:solidFill>
                <a:latin typeface="Consolas" charset="0"/>
                <a:cs typeface="Monaco" charset="0"/>
              </a:rPr>
              <a:t>{</a:t>
            </a:r>
          </a:p>
          <a:p>
            <a:pPr>
              <a:spcAft>
                <a:spcPts val="400"/>
              </a:spcAft>
            </a:pPr>
            <a:r>
              <a:rPr lang="es-AR" sz="1800" dirty="0" smtClean="0">
                <a:solidFill>
                  <a:schemeClr val="tx1">
                    <a:lumMod val="50000"/>
                    <a:lumOff val="50000"/>
                  </a:schemeClr>
                </a:solidFill>
                <a:latin typeface="Consolas" charset="0"/>
                <a:cs typeface="Monaco" charset="0"/>
              </a:rPr>
              <a:t>	</a:t>
            </a:r>
            <a:r>
              <a:rPr lang="es-AR" sz="1800" dirty="0" err="1" smtClean="0">
                <a:solidFill>
                  <a:schemeClr val="tx1">
                    <a:lumMod val="50000"/>
                    <a:lumOff val="50000"/>
                  </a:schemeClr>
                </a:solidFill>
                <a:latin typeface="Consolas" charset="0"/>
                <a:cs typeface="Monaco" charset="0"/>
              </a:rPr>
              <a:t>int</a:t>
            </a:r>
            <a:r>
              <a:rPr lang="es-AR" sz="1800" dirty="0" smtClean="0">
                <a:solidFill>
                  <a:schemeClr val="tx1">
                    <a:lumMod val="50000"/>
                    <a:lumOff val="50000"/>
                  </a:schemeClr>
                </a:solidFill>
                <a:latin typeface="Consolas" charset="0"/>
                <a:cs typeface="Monaco" charset="0"/>
              </a:rPr>
              <a:t> i = </a:t>
            </a:r>
            <a:r>
              <a:rPr lang="es-AR" sz="1800" dirty="0" err="1" smtClean="0">
                <a:solidFill>
                  <a:schemeClr val="tx1">
                    <a:lumMod val="50000"/>
                    <a:lumOff val="50000"/>
                  </a:schemeClr>
                </a:solidFill>
                <a:latin typeface="Consolas" charset="0"/>
                <a:cs typeface="Monaco" charset="0"/>
              </a:rPr>
              <a:t>threadIdx.x</a:t>
            </a:r>
            <a:r>
              <a:rPr lang="es-AR" sz="1800" dirty="0" smtClean="0">
                <a:solidFill>
                  <a:schemeClr val="tx1">
                    <a:lumMod val="50000"/>
                    <a:lumOff val="50000"/>
                  </a:schemeClr>
                </a:solidFill>
                <a:latin typeface="Consolas" charset="0"/>
                <a:cs typeface="Monaco" charset="0"/>
              </a:rPr>
              <a:t>;</a:t>
            </a:r>
          </a:p>
          <a:p>
            <a:pPr>
              <a:spcAft>
                <a:spcPts val="400"/>
              </a:spcAft>
            </a:pPr>
            <a:r>
              <a:rPr lang="es-AR" sz="1800" dirty="0" smtClean="0">
                <a:solidFill>
                  <a:schemeClr val="tx1">
                    <a:lumMod val="50000"/>
                    <a:lumOff val="50000"/>
                  </a:schemeClr>
                </a:solidFill>
                <a:latin typeface="Consolas" charset="0"/>
                <a:cs typeface="Monaco" charset="0"/>
              </a:rPr>
              <a:t>	</a:t>
            </a:r>
            <a:r>
              <a:rPr lang="es-AR" sz="1800" dirty="0" err="1" smtClean="0">
                <a:solidFill>
                  <a:schemeClr val="tx1">
                    <a:lumMod val="50000"/>
                    <a:lumOff val="50000"/>
                  </a:schemeClr>
                </a:solidFill>
                <a:latin typeface="Consolas" charset="0"/>
                <a:cs typeface="Monaco" charset="0"/>
              </a:rPr>
              <a:t>dest</a:t>
            </a:r>
            <a:r>
              <a:rPr lang="es-AR" sz="1800" dirty="0" smtClean="0">
                <a:solidFill>
                  <a:schemeClr val="tx1">
                    <a:lumMod val="50000"/>
                    <a:lumOff val="50000"/>
                  </a:schemeClr>
                </a:solidFill>
                <a:latin typeface="Consolas" charset="0"/>
                <a:cs typeface="Monaco" charset="0"/>
              </a:rPr>
              <a:t>[i] = a[i] * b[i];</a:t>
            </a:r>
          </a:p>
          <a:p>
            <a:pPr>
              <a:spcAft>
                <a:spcPts val="400"/>
              </a:spcAft>
            </a:pPr>
            <a:r>
              <a:rPr lang="es-AR" sz="1800" dirty="0" smtClean="0">
                <a:solidFill>
                  <a:schemeClr val="tx1">
                    <a:lumMod val="50000"/>
                    <a:lumOff val="50000"/>
                  </a:schemeClr>
                </a:solidFill>
                <a:latin typeface="Consolas" charset="0"/>
                <a:cs typeface="Monaco" charset="0"/>
              </a:rPr>
              <a:t>}</a:t>
            </a:r>
          </a:p>
          <a:p>
            <a:pPr>
              <a:spcAft>
                <a:spcPts val="400"/>
              </a:spcAft>
            </a:pPr>
            <a:r>
              <a:rPr lang="es-AR" sz="1800" dirty="0" smtClean="0">
                <a:solidFill>
                  <a:schemeClr val="tx1">
                    <a:lumMod val="50000"/>
                    <a:lumOff val="50000"/>
                  </a:schemeClr>
                </a:solidFill>
                <a:latin typeface="Consolas" charset="0"/>
                <a:cs typeface="Monaco" charset="0"/>
              </a:rPr>
              <a:t>"""</a:t>
            </a:r>
            <a:r>
              <a:rPr lang="es-AR" sz="1800" dirty="0" smtClean="0">
                <a:latin typeface="Consolas" charset="0"/>
                <a:cs typeface="Monaco" charset="0"/>
              </a:rPr>
              <a:t>)</a:t>
            </a:r>
          </a:p>
          <a:p>
            <a:pPr>
              <a:spcAft>
                <a:spcPts val="400"/>
              </a:spcAft>
            </a:pPr>
            <a:r>
              <a:rPr lang="es-AR" sz="1800" dirty="0" err="1" smtClean="0">
                <a:latin typeface="Consolas" charset="0"/>
                <a:cs typeface="Monaco" charset="0"/>
              </a:rPr>
              <a:t>multiply_them</a:t>
            </a:r>
            <a:r>
              <a:rPr lang="es-AR" sz="1800" dirty="0" smtClean="0">
                <a:latin typeface="Consolas" charset="0"/>
                <a:cs typeface="Monaco" charset="0"/>
              </a:rPr>
              <a:t> </a:t>
            </a:r>
            <a:r>
              <a:rPr lang="es-AR" sz="1800" dirty="0">
                <a:latin typeface="Consolas" charset="0"/>
                <a:cs typeface="Monaco" charset="0"/>
              </a:rPr>
              <a:t>= </a:t>
            </a:r>
            <a:r>
              <a:rPr lang="es-AR" sz="1800" dirty="0" err="1" smtClean="0">
                <a:latin typeface="Consolas" charset="0"/>
                <a:cs typeface="Monaco" charset="0"/>
              </a:rPr>
              <a:t>mod.get_function</a:t>
            </a:r>
            <a:r>
              <a:rPr lang="es-AR" sz="1800" dirty="0" smtClean="0">
                <a:latin typeface="Consolas" charset="0"/>
                <a:cs typeface="Monaco" charset="0"/>
              </a:rPr>
              <a:t>(</a:t>
            </a:r>
            <a:r>
              <a:rPr lang="es-AR" sz="1800" dirty="0" smtClean="0">
                <a:solidFill>
                  <a:schemeClr val="tx1">
                    <a:lumMod val="50000"/>
                    <a:lumOff val="50000"/>
                  </a:schemeClr>
                </a:solidFill>
                <a:latin typeface="Consolas" charset="0"/>
                <a:cs typeface="Monaco" charset="0"/>
              </a:rPr>
              <a:t>"</a:t>
            </a:r>
            <a:r>
              <a:rPr lang="es-AR" sz="1800" dirty="0" err="1" smtClean="0">
                <a:solidFill>
                  <a:schemeClr val="tx1">
                    <a:lumMod val="50000"/>
                    <a:lumOff val="50000"/>
                  </a:schemeClr>
                </a:solidFill>
                <a:latin typeface="Consolas" charset="0"/>
                <a:cs typeface="Monaco" charset="0"/>
              </a:rPr>
              <a:t>multiply_them</a:t>
            </a:r>
            <a:r>
              <a:rPr lang="es-AR" sz="1800" dirty="0">
                <a:solidFill>
                  <a:schemeClr val="tx1">
                    <a:lumMod val="50000"/>
                    <a:lumOff val="50000"/>
                  </a:schemeClr>
                </a:solidFill>
                <a:latin typeface="Consolas" charset="0"/>
                <a:cs typeface="Monaco" charset="0"/>
              </a:rPr>
              <a:t>"</a:t>
            </a:r>
            <a:r>
              <a:rPr lang="es-AR" sz="1800" dirty="0" smtClean="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dirty="0" smtClean="0">
                <a:latin typeface="Consolas" charset="0"/>
                <a:cs typeface="Monaco" charset="0"/>
              </a:rPr>
              <a:t>a </a:t>
            </a:r>
            <a:r>
              <a:rPr lang="es-AR" sz="1800" dirty="0">
                <a:latin typeface="Consolas" charset="0"/>
                <a:cs typeface="Monaco" charset="0"/>
              </a:rPr>
              <a:t>= </a:t>
            </a:r>
            <a:r>
              <a:rPr lang="es-AR" sz="1800" dirty="0" err="1">
                <a:latin typeface="Consolas" charset="0"/>
                <a:cs typeface="Monaco" charset="0"/>
              </a:rPr>
              <a:t>np.random.randn</a:t>
            </a:r>
            <a:r>
              <a:rPr lang="es-AR" sz="1800" dirty="0">
                <a:latin typeface="Consolas" charset="0"/>
                <a:cs typeface="Monaco" charset="0"/>
              </a:rPr>
              <a:t>(400).</a:t>
            </a:r>
            <a:r>
              <a:rPr lang="es-AR" sz="1800" dirty="0" err="1">
                <a:latin typeface="Consolas" charset="0"/>
                <a:cs typeface="Monaco" charset="0"/>
              </a:rPr>
              <a:t>astype</a:t>
            </a:r>
            <a:r>
              <a:rPr lang="es-AR" sz="1800" dirty="0">
                <a:latin typeface="Consolas" charset="0"/>
                <a:cs typeface="Monaco" charset="0"/>
              </a:rPr>
              <a:t>(np.float32)</a:t>
            </a:r>
          </a:p>
          <a:p>
            <a:pPr>
              <a:spcAft>
                <a:spcPts val="400"/>
              </a:spcAft>
            </a:pPr>
            <a:r>
              <a:rPr lang="es-AR" sz="1800" dirty="0">
                <a:latin typeface="Consolas" charset="0"/>
                <a:cs typeface="Monaco" charset="0"/>
              </a:rPr>
              <a:t>b = </a:t>
            </a:r>
            <a:r>
              <a:rPr lang="es-AR" sz="1800" dirty="0" err="1">
                <a:latin typeface="Consolas" charset="0"/>
                <a:cs typeface="Monaco" charset="0"/>
              </a:rPr>
              <a:t>np.random.randn</a:t>
            </a:r>
            <a:r>
              <a:rPr lang="es-AR" sz="1800" dirty="0">
                <a:latin typeface="Consolas" charset="0"/>
                <a:cs typeface="Monaco" charset="0"/>
              </a:rPr>
              <a:t>(400).</a:t>
            </a:r>
            <a:r>
              <a:rPr lang="es-AR" sz="1800" dirty="0" err="1">
                <a:latin typeface="Consolas" charset="0"/>
                <a:cs typeface="Monaco" charset="0"/>
              </a:rPr>
              <a:t>astype</a:t>
            </a:r>
            <a:r>
              <a:rPr lang="es-AR" sz="1800" dirty="0">
                <a:latin typeface="Consolas" charset="0"/>
                <a:cs typeface="Monaco" charset="0"/>
              </a:rPr>
              <a:t>(np.float32)</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dest</a:t>
            </a:r>
            <a:r>
              <a:rPr lang="es-AR" sz="1800" dirty="0">
                <a:latin typeface="Consolas" charset="0"/>
                <a:cs typeface="Monaco" charset="0"/>
              </a:rPr>
              <a:t> = </a:t>
            </a:r>
            <a:r>
              <a:rPr lang="es-AR" sz="1800" dirty="0" err="1">
                <a:latin typeface="Consolas" charset="0"/>
                <a:cs typeface="Monaco" charset="0"/>
              </a:rPr>
              <a:t>np.zeros_like</a:t>
            </a:r>
            <a:r>
              <a:rPr lang="es-AR" sz="1800" dirty="0">
                <a:latin typeface="Consolas" charset="0"/>
                <a:cs typeface="Monaco" charset="0"/>
              </a:rPr>
              <a:t>(a)</a:t>
            </a:r>
          </a:p>
          <a:p>
            <a:pPr>
              <a:spcAft>
                <a:spcPts val="400"/>
              </a:spcAft>
            </a:pPr>
            <a:r>
              <a:rPr lang="es-AR" sz="1800" dirty="0" err="1" smtClean="0">
                <a:latin typeface="Consolas" charset="0"/>
                <a:cs typeface="Monaco" charset="0"/>
              </a:rPr>
              <a:t>multiply_them</a:t>
            </a:r>
            <a:r>
              <a:rPr lang="es-AR" sz="1800" dirty="0" smtClean="0">
                <a:latin typeface="Consolas" charset="0"/>
                <a:cs typeface="Monaco" charset="0"/>
              </a:rPr>
              <a:t>(</a:t>
            </a:r>
            <a:r>
              <a:rPr lang="es-AR" sz="1800" dirty="0" err="1" smtClean="0">
                <a:latin typeface="Consolas" charset="0"/>
                <a:cs typeface="Monaco" charset="0"/>
              </a:rPr>
              <a:t>cuda.Out</a:t>
            </a:r>
            <a:r>
              <a:rPr lang="es-AR" sz="1800" dirty="0" smtClean="0">
                <a:latin typeface="Consolas" charset="0"/>
                <a:cs typeface="Monaco" charset="0"/>
              </a:rPr>
              <a:t>(</a:t>
            </a:r>
            <a:r>
              <a:rPr lang="es-AR" sz="1800" dirty="0" err="1" smtClean="0">
                <a:latin typeface="Consolas" charset="0"/>
                <a:cs typeface="Monaco" charset="0"/>
              </a:rPr>
              <a:t>dest</a:t>
            </a:r>
            <a:r>
              <a:rPr lang="es-AR" sz="1800" dirty="0">
                <a:latin typeface="Consolas" charset="0"/>
                <a:cs typeface="Monaco" charset="0"/>
              </a:rPr>
              <a:t>), </a:t>
            </a:r>
            <a:r>
              <a:rPr lang="es-AR" sz="1800" dirty="0" err="1" smtClean="0">
                <a:latin typeface="Consolas" charset="0"/>
                <a:cs typeface="Monaco" charset="0"/>
              </a:rPr>
              <a:t>cuda.In</a:t>
            </a:r>
            <a:r>
              <a:rPr lang="es-AR" sz="1800" dirty="0" smtClean="0">
                <a:latin typeface="Consolas" charset="0"/>
                <a:cs typeface="Monaco" charset="0"/>
              </a:rPr>
              <a:t>(a</a:t>
            </a:r>
            <a:r>
              <a:rPr lang="es-AR" sz="1800" dirty="0">
                <a:latin typeface="Consolas" charset="0"/>
                <a:cs typeface="Monaco" charset="0"/>
              </a:rPr>
              <a:t>), </a:t>
            </a:r>
            <a:r>
              <a:rPr lang="es-AR" sz="1800" dirty="0" err="1" smtClean="0">
                <a:latin typeface="Consolas" charset="0"/>
                <a:cs typeface="Monaco" charset="0"/>
              </a:rPr>
              <a:t>cuda.In</a:t>
            </a:r>
            <a:r>
              <a:rPr lang="es-AR" sz="1800" dirty="0" smtClean="0">
                <a:latin typeface="Consolas" charset="0"/>
                <a:cs typeface="Monaco" charset="0"/>
              </a:rPr>
              <a:t>(b</a:t>
            </a:r>
            <a:r>
              <a:rPr lang="es-AR" sz="1800" dirty="0">
                <a:latin typeface="Consolas" charset="0"/>
                <a:cs typeface="Monaco" charset="0"/>
              </a:rPr>
              <a:t>), block=(400,1,1</a:t>
            </a:r>
            <a:r>
              <a:rPr lang="es-AR" sz="1800" dirty="0" smtClean="0">
                <a:latin typeface="Consolas" charset="0"/>
                <a:cs typeface="Monaco" charset="0"/>
              </a:rPr>
              <a:t>))</a:t>
            </a: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print</a:t>
            </a:r>
            <a:r>
              <a:rPr lang="es-AR" sz="1800" dirty="0">
                <a:latin typeface="Consolas" charset="0"/>
                <a:cs typeface="Monaco" charset="0"/>
              </a:rPr>
              <a:t>(</a:t>
            </a:r>
            <a:r>
              <a:rPr lang="es-AR" sz="1800" dirty="0" err="1">
                <a:latin typeface="Consolas" charset="0"/>
                <a:cs typeface="Monaco" charset="0"/>
              </a:rPr>
              <a:t>dest</a:t>
            </a:r>
            <a:r>
              <a:rPr lang="es-AR" sz="1800" dirty="0">
                <a:latin typeface="Consolas" charset="0"/>
                <a:cs typeface="Monaco" charset="0"/>
              </a:rPr>
              <a:t>-a*b)</a:t>
            </a:r>
            <a:br>
              <a:rPr lang="es-AR" sz="1800" dirty="0">
                <a:latin typeface="Consolas" charset="0"/>
                <a:cs typeface="Monaco" charset="0"/>
              </a:rPr>
            </a:br>
            <a:endParaRPr lang="es-AR" sz="1800" dirty="0">
              <a:latin typeface="Consolas" charset="0"/>
              <a:cs typeface="Monaco" charset="0"/>
            </a:endParaRPr>
          </a:p>
        </p:txBody>
      </p:sp>
      <p:sp>
        <p:nvSpPr>
          <p:cNvPr id="4" name="Rectángulo 3"/>
          <p:cNvSpPr/>
          <p:nvPr/>
        </p:nvSpPr>
        <p:spPr>
          <a:xfrm>
            <a:off x="7097042" y="160877"/>
            <a:ext cx="2537874"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ejemplo_hello_gpu.py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10770566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736056" y="2195661"/>
            <a:ext cx="5184576" cy="505972"/>
          </a:xfrm>
          <a:prstGeom prst="rect">
            <a:avLst/>
          </a:prstGeom>
        </p:spPr>
        <p:txBody>
          <a:bodyPr wrap="square">
            <a:spAutoFit/>
          </a:bodyPr>
          <a:lstStyle/>
          <a:p>
            <a:r>
              <a:rPr lang="es-AR" sz="2800" dirty="0" err="1" smtClean="0"/>
              <a:t>pycuda.gpuarray.GPUArray</a:t>
            </a:r>
            <a:endParaRPr lang="es-AR" sz="2800" dirty="0">
              <a:latin typeface="+mj-lt"/>
            </a:endParaRPr>
          </a:p>
        </p:txBody>
      </p:sp>
    </p:spTree>
    <p:extLst>
      <p:ext uri="{BB962C8B-B14F-4D97-AF65-F5344CB8AC3E}">
        <p14:creationId xmlns:p14="http://schemas.microsoft.com/office/powerpoint/2010/main" val="308583142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pycuda.gpuarray</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gpuarray</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pycuda.autoinit</a:t>
            </a:r>
            <a:endParaRPr lang="es-AR" sz="1800" b="1" dirty="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np</a:t>
            </a:r>
            <a:endParaRPr lang="es-AR" sz="1800" b="1" dirty="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my_gpu_array</a:t>
            </a:r>
            <a:r>
              <a:rPr lang="es-AR" sz="1800" dirty="0">
                <a:latin typeface="Consolas" charset="0"/>
                <a:cs typeface="Monaco" charset="0"/>
              </a:rPr>
              <a:t> = </a:t>
            </a:r>
            <a:r>
              <a:rPr lang="es-AR" sz="1800" dirty="0" err="1">
                <a:latin typeface="Consolas" charset="0"/>
                <a:cs typeface="Monaco" charset="0"/>
              </a:rPr>
              <a:t>gpuarray.GPUArray</a:t>
            </a:r>
            <a:r>
              <a:rPr lang="es-AR" sz="1800" dirty="0">
                <a:latin typeface="Consolas" charset="0"/>
                <a:cs typeface="Monaco" charset="0"/>
              </a:rPr>
              <a:t>([5,5], </a:t>
            </a:r>
            <a:r>
              <a:rPr lang="es-AR" sz="1800" dirty="0" err="1">
                <a:latin typeface="Consolas" charset="0"/>
                <a:cs typeface="Monaco" charset="0"/>
              </a:rPr>
              <a:t>dtype</a:t>
            </a:r>
            <a:r>
              <a:rPr lang="es-AR" sz="1800" dirty="0">
                <a:latin typeface="Consolas" charset="0"/>
                <a:cs typeface="Monaco" charset="0"/>
              </a:rPr>
              <a:t> = np.float32)</a:t>
            </a: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print</a:t>
            </a:r>
            <a:r>
              <a:rPr lang="es-AR" sz="1800" dirty="0" smtClean="0">
                <a:latin typeface="Consolas" charset="0"/>
                <a:cs typeface="Monaco" charset="0"/>
              </a:rPr>
              <a:t>(</a:t>
            </a:r>
            <a:r>
              <a:rPr lang="es-AR" sz="1800" dirty="0" err="1" smtClean="0">
                <a:latin typeface="Consolas" charset="0"/>
                <a:cs typeface="Monaco" charset="0"/>
              </a:rPr>
              <a:t>my_gpu_array</a:t>
            </a:r>
            <a:r>
              <a:rPr lang="es-AR" sz="1800" dirty="0" smtClean="0">
                <a:latin typeface="Consolas" charset="0"/>
                <a:cs typeface="Monaco" charset="0"/>
              </a:rPr>
              <a:t>)</a:t>
            </a: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a:t>
            </a:r>
            <a:r>
              <a:rPr lang="es-AR" sz="1800" b="1" dirty="0" err="1" smtClean="0">
                <a:solidFill>
                  <a:srgbClr val="00B050"/>
                </a:solidFill>
                <a:latin typeface="Consolas" charset="0"/>
                <a:cs typeface="Monaco" charset="0"/>
              </a:rPr>
              <a:t>rint</a:t>
            </a:r>
            <a:r>
              <a:rPr lang="es-AR" sz="1800" dirty="0" smtClean="0">
                <a:latin typeface="Consolas" charset="0"/>
                <a:cs typeface="Monaco" charset="0"/>
              </a:rPr>
              <a:t>(</a:t>
            </a:r>
            <a:r>
              <a:rPr lang="es-AR" sz="1800" dirty="0" err="1" smtClean="0">
                <a:latin typeface="Consolas" charset="0"/>
                <a:cs typeface="Monaco" charset="0"/>
              </a:rPr>
              <a:t>my_gpu_array.dtype</a:t>
            </a:r>
            <a:r>
              <a:rPr lang="es-AR" sz="1800" dirty="0" smtClean="0">
                <a:latin typeface="Consolas" charset="0"/>
                <a:cs typeface="Monaco" charset="0"/>
              </a:rPr>
              <a:t>)</a:t>
            </a: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a:t>
            </a:r>
            <a:r>
              <a:rPr lang="es-AR" sz="1800" b="1" dirty="0" err="1" smtClean="0">
                <a:solidFill>
                  <a:srgbClr val="00B050"/>
                </a:solidFill>
                <a:latin typeface="Consolas" charset="0"/>
                <a:cs typeface="Monaco" charset="0"/>
              </a:rPr>
              <a:t>rint</a:t>
            </a:r>
            <a:r>
              <a:rPr lang="es-AR" sz="1800" dirty="0" smtClean="0">
                <a:latin typeface="Consolas" charset="0"/>
                <a:cs typeface="Monaco" charset="0"/>
              </a:rPr>
              <a:t>(</a:t>
            </a:r>
            <a:r>
              <a:rPr lang="es-AR" sz="1800" dirty="0" err="1" smtClean="0">
                <a:latin typeface="Consolas" charset="0"/>
                <a:cs typeface="Monaco" charset="0"/>
              </a:rPr>
              <a:t>my_gpu_array.shape</a:t>
            </a:r>
            <a:r>
              <a:rPr lang="es-AR" sz="1800" dirty="0" smtClean="0">
                <a:latin typeface="Consolas" charset="0"/>
                <a:cs typeface="Monaco" charset="0"/>
              </a:rPr>
              <a:t>)</a:t>
            </a: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a:t>
            </a:r>
            <a:r>
              <a:rPr lang="es-AR" sz="1800" b="1" dirty="0" err="1" smtClean="0">
                <a:solidFill>
                  <a:srgbClr val="00B050"/>
                </a:solidFill>
                <a:latin typeface="Consolas" charset="0"/>
                <a:cs typeface="Monaco" charset="0"/>
              </a:rPr>
              <a:t>rint</a:t>
            </a:r>
            <a:r>
              <a:rPr lang="es-AR" sz="1800" dirty="0" smtClean="0">
                <a:latin typeface="Consolas" charset="0"/>
                <a:cs typeface="Monaco" charset="0"/>
              </a:rPr>
              <a:t>(</a:t>
            </a:r>
            <a:r>
              <a:rPr lang="es-AR" sz="1800" dirty="0" err="1" smtClean="0">
                <a:latin typeface="Consolas" charset="0"/>
                <a:cs typeface="Monaco" charset="0"/>
              </a:rPr>
              <a:t>my_gpu_array.size</a:t>
            </a:r>
            <a:r>
              <a:rPr lang="es-AR" sz="1800" dirty="0" smtClean="0">
                <a:latin typeface="Consolas" charset="0"/>
                <a:cs typeface="Monaco" charset="0"/>
              </a:rPr>
              <a:t>)</a:t>
            </a:r>
            <a:endParaRPr lang="es-AR" sz="1800" dirty="0">
              <a:latin typeface="Consolas" charset="0"/>
              <a:cs typeface="Monaco" charset="0"/>
            </a:endParaRPr>
          </a:p>
          <a:p>
            <a:r>
              <a:rPr lang="es-AR" sz="1800" dirty="0"/>
              <a:t/>
            </a:r>
            <a:br>
              <a:rPr lang="es-AR" sz="1800" dirty="0"/>
            </a:br>
            <a:r>
              <a:rPr lang="es-AR" sz="1800" dirty="0">
                <a:latin typeface="Consolas" charset="0"/>
                <a:cs typeface="Monaco" charset="0"/>
              </a:rPr>
              <a:t/>
            </a:r>
            <a:br>
              <a:rPr lang="es-AR" sz="1800" dirty="0">
                <a:latin typeface="Consolas" charset="0"/>
                <a:cs typeface="Monaco" charset="0"/>
              </a:rPr>
            </a:br>
            <a:r>
              <a:rPr lang="es-AR" sz="1800" dirty="0">
                <a:latin typeface="Consolas" charset="0"/>
                <a:cs typeface="Monaco" charset="0"/>
              </a:rPr>
              <a:t/>
            </a:r>
            <a:br>
              <a:rPr lang="es-AR" sz="1800" dirty="0">
                <a:latin typeface="Consolas" charset="0"/>
                <a:cs typeface="Monaco" charset="0"/>
              </a:rPr>
            </a:br>
            <a:endParaRPr lang="es-AR" sz="1800" b="1" dirty="0">
              <a:solidFill>
                <a:srgbClr val="00B050"/>
              </a:solidFill>
              <a:latin typeface="Consolas" charset="0"/>
              <a:cs typeface="Monaco" charset="0"/>
            </a:endParaRPr>
          </a:p>
        </p:txBody>
      </p:sp>
      <p:sp>
        <p:nvSpPr>
          <p:cNvPr id="4" name="Rectángulo 3"/>
          <p:cNvSpPr/>
          <p:nvPr/>
        </p:nvSpPr>
        <p:spPr>
          <a:xfrm>
            <a:off x="7056536" y="179437"/>
            <a:ext cx="2559227"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ejemplo_gpu_array.py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116157884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96744"/>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pycuda.gpuarray</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gpuarray</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smtClean="0">
                <a:solidFill>
                  <a:srgbClr val="0070C0"/>
                </a:solidFill>
                <a:latin typeface="Consolas" charset="0"/>
                <a:cs typeface="Monaco" charset="0"/>
              </a:rPr>
              <a:t>pycuda.autoinit</a:t>
            </a: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smtClean="0">
                <a:solidFill>
                  <a:srgbClr val="0070C0"/>
                </a:solidFill>
                <a:latin typeface="Consolas" charset="0"/>
                <a:cs typeface="Monaco" charset="0"/>
              </a:rPr>
              <a:t>np</a:t>
            </a:r>
            <a:endParaRPr lang="es-AR" sz="1800" b="1" dirty="0" smtClean="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a_gpu</a:t>
            </a:r>
            <a:r>
              <a:rPr lang="es-AR" sz="1800" dirty="0">
                <a:latin typeface="Consolas" charset="0"/>
                <a:cs typeface="Monaco" charset="0"/>
              </a:rPr>
              <a:t> = </a:t>
            </a:r>
            <a:r>
              <a:rPr lang="es-AR" sz="1800" dirty="0" err="1">
                <a:latin typeface="Consolas" charset="0"/>
                <a:cs typeface="Monaco" charset="0"/>
              </a:rPr>
              <a:t>gpuarray.GPUArray</a:t>
            </a:r>
            <a:r>
              <a:rPr lang="es-AR" sz="1800" dirty="0">
                <a:latin typeface="Consolas" charset="0"/>
                <a:cs typeface="Monaco" charset="0"/>
              </a:rPr>
              <a:t>([50,60], </a:t>
            </a:r>
            <a:r>
              <a:rPr lang="es-AR" sz="1800" dirty="0" err="1">
                <a:latin typeface="Consolas" charset="0"/>
                <a:cs typeface="Monaco" charset="0"/>
              </a:rPr>
              <a:t>dtype</a:t>
            </a:r>
            <a:r>
              <a:rPr lang="es-AR" sz="1800" dirty="0">
                <a:latin typeface="Consolas" charset="0"/>
                <a:cs typeface="Monaco" charset="0"/>
              </a:rPr>
              <a:t> = np.float32)</a:t>
            </a:r>
          </a:p>
          <a:p>
            <a:pPr>
              <a:spcAft>
                <a:spcPts val="400"/>
              </a:spcAft>
            </a:pPr>
            <a:r>
              <a:rPr lang="es-AR" sz="1800" dirty="0" err="1">
                <a:latin typeface="Consolas" charset="0"/>
                <a:cs typeface="Monaco" charset="0"/>
              </a:rPr>
              <a:t>a_gpu.fill</a:t>
            </a:r>
            <a:r>
              <a:rPr lang="es-AR" sz="1800" dirty="0">
                <a:latin typeface="Consolas" charset="0"/>
                <a:cs typeface="Monaco" charset="0"/>
              </a:rPr>
              <a:t>(3.14)</a:t>
            </a:r>
          </a:p>
          <a:p>
            <a:pPr>
              <a:spcAft>
                <a:spcPts val="400"/>
              </a:spcAft>
            </a:pPr>
            <a:endParaRPr lang="es-AR" sz="1800" dirty="0">
              <a:latin typeface="Consolas" charset="0"/>
              <a:cs typeface="Monaco" charset="0"/>
            </a:endParaRPr>
          </a:p>
          <a:p>
            <a:pPr>
              <a:spcAft>
                <a:spcPts val="400"/>
              </a:spcAft>
            </a:pPr>
            <a:r>
              <a:rPr lang="es-AR" sz="1800" dirty="0">
                <a:latin typeface="Consolas" charset="0"/>
                <a:cs typeface="Monaco" charset="0"/>
              </a:rPr>
              <a:t>a = </a:t>
            </a:r>
            <a:r>
              <a:rPr lang="es-AR" sz="1800" dirty="0" err="1">
                <a:latin typeface="Consolas" charset="0"/>
                <a:cs typeface="Monaco" charset="0"/>
              </a:rPr>
              <a:t>np.ones</a:t>
            </a:r>
            <a:r>
              <a:rPr lang="es-AR" sz="1800" dirty="0">
                <a:latin typeface="Consolas" charset="0"/>
                <a:cs typeface="Monaco" charset="0"/>
              </a:rPr>
              <a:t>([50,60]).</a:t>
            </a:r>
            <a:r>
              <a:rPr lang="es-AR" sz="1800" dirty="0" err="1">
                <a:latin typeface="Consolas" charset="0"/>
                <a:cs typeface="Monaco" charset="0"/>
              </a:rPr>
              <a:t>astype</a:t>
            </a:r>
            <a:r>
              <a:rPr lang="es-AR" sz="1800" dirty="0">
                <a:latin typeface="Consolas" charset="0"/>
                <a:cs typeface="Monaco" charset="0"/>
              </a:rPr>
              <a:t>(np.float32)*</a:t>
            </a:r>
            <a:r>
              <a:rPr lang="es-AR" sz="1800" dirty="0" smtClean="0">
                <a:latin typeface="Consolas" charset="0"/>
                <a:cs typeface="Monaco" charset="0"/>
              </a:rPr>
              <a:t>3.14</a:t>
            </a:r>
          </a:p>
          <a:p>
            <a:pPr>
              <a:spcAft>
                <a:spcPts val="400"/>
              </a:spcAft>
            </a:pPr>
            <a:r>
              <a:rPr lang="es-AR" sz="1800" dirty="0" err="1" smtClean="0">
                <a:latin typeface="Consolas" charset="0"/>
                <a:cs typeface="Monaco" charset="0"/>
              </a:rPr>
              <a:t>a_gpu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gpuarray.to_gpu</a:t>
            </a:r>
            <a:r>
              <a:rPr lang="es-AR" sz="1800" dirty="0">
                <a:latin typeface="Consolas" charset="0"/>
                <a:cs typeface="Monaco" charset="0"/>
              </a:rPr>
              <a:t>(a</a:t>
            </a:r>
            <a:r>
              <a:rPr lang="es-AR" sz="1800" dirty="0" smtClean="0">
                <a:latin typeface="Consolas" charset="0"/>
                <a:cs typeface="Monaco" charset="0"/>
              </a:rPr>
              <a:t>) </a:t>
            </a:r>
            <a:r>
              <a:rPr lang="es-AR" sz="1800" dirty="0" smtClean="0">
                <a:solidFill>
                  <a:schemeClr val="accent1"/>
                </a:solidFill>
                <a:latin typeface="Consolas" charset="0"/>
                <a:cs typeface="Monaco" charset="0"/>
              </a:rPr>
              <a:t>#&lt;- copia a GPU</a:t>
            </a:r>
            <a:endParaRPr lang="es-AR" sz="1800" dirty="0">
              <a:solidFill>
                <a:schemeClr val="accent1"/>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a_gpu</a:t>
            </a:r>
            <a:r>
              <a:rPr lang="es-AR" sz="1800" dirty="0">
                <a:latin typeface="Consolas" charset="0"/>
                <a:cs typeface="Monaco" charset="0"/>
              </a:rPr>
              <a:t> = </a:t>
            </a:r>
            <a:r>
              <a:rPr lang="es-AR" sz="1800" dirty="0" err="1">
                <a:latin typeface="Consolas" charset="0"/>
                <a:cs typeface="Monaco" charset="0"/>
              </a:rPr>
              <a:t>gpuarray.empty</a:t>
            </a:r>
            <a:r>
              <a:rPr lang="es-AR" sz="1800" dirty="0">
                <a:latin typeface="Consolas" charset="0"/>
                <a:cs typeface="Monaco" charset="0"/>
              </a:rPr>
              <a:t>([50,60], </a:t>
            </a:r>
            <a:r>
              <a:rPr lang="es-AR" sz="1800" dirty="0" err="1">
                <a:latin typeface="Consolas" charset="0"/>
                <a:cs typeface="Monaco" charset="0"/>
              </a:rPr>
              <a:t>dtype</a:t>
            </a:r>
            <a:r>
              <a:rPr lang="es-AR" sz="1800" dirty="0">
                <a:latin typeface="Consolas" charset="0"/>
                <a:cs typeface="Monaco" charset="0"/>
              </a:rPr>
              <a:t> = np.float32)</a:t>
            </a:r>
          </a:p>
          <a:p>
            <a:pPr>
              <a:spcAft>
                <a:spcPts val="400"/>
              </a:spcAft>
            </a:pPr>
            <a:r>
              <a:rPr lang="es-AR" sz="1800" dirty="0" err="1" smtClean="0">
                <a:latin typeface="Consolas" charset="0"/>
                <a:cs typeface="Monaco" charset="0"/>
              </a:rPr>
              <a:t>a_gpu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gpuarray.zeros</a:t>
            </a:r>
            <a:r>
              <a:rPr lang="es-AR" sz="1800" dirty="0">
                <a:latin typeface="Consolas" charset="0"/>
                <a:cs typeface="Monaco" charset="0"/>
              </a:rPr>
              <a:t>([50,60], </a:t>
            </a:r>
            <a:r>
              <a:rPr lang="es-AR" sz="1800" dirty="0" err="1">
                <a:latin typeface="Consolas" charset="0"/>
                <a:cs typeface="Monaco" charset="0"/>
              </a:rPr>
              <a:t>dtype</a:t>
            </a:r>
            <a:r>
              <a:rPr lang="es-AR" sz="1800" dirty="0">
                <a:latin typeface="Consolas" charset="0"/>
                <a:cs typeface="Monaco" charset="0"/>
              </a:rPr>
              <a:t> = np.float32)</a:t>
            </a:r>
          </a:p>
          <a:p>
            <a:pPr>
              <a:spcAft>
                <a:spcPts val="400"/>
              </a:spcAft>
            </a:pPr>
            <a:r>
              <a:rPr lang="es-AR" sz="1800" dirty="0" smtClean="0">
                <a:solidFill>
                  <a:schemeClr val="accent5">
                    <a:lumMod val="50000"/>
                  </a:schemeClr>
                </a:solidFill>
                <a:latin typeface="Consolas" charset="0"/>
                <a:cs typeface="Monaco" charset="0"/>
              </a:rPr>
              <a:t># </a:t>
            </a:r>
            <a:r>
              <a:rPr lang="es-AR" sz="1800" dirty="0" err="1">
                <a:solidFill>
                  <a:schemeClr val="accent5">
                    <a:lumMod val="50000"/>
                  </a:schemeClr>
                </a:solidFill>
                <a:latin typeface="Consolas" charset="0"/>
                <a:cs typeface="Monaco" charset="0"/>
              </a:rPr>
              <a:t>d_gpu</a:t>
            </a:r>
            <a:r>
              <a:rPr lang="es-AR" sz="1800" dirty="0">
                <a:solidFill>
                  <a:schemeClr val="accent5">
                    <a:lumMod val="50000"/>
                  </a:schemeClr>
                </a:solidFill>
                <a:latin typeface="Consolas" charset="0"/>
                <a:cs typeface="Monaco" charset="0"/>
              </a:rPr>
              <a:t> = </a:t>
            </a:r>
            <a:r>
              <a:rPr lang="es-AR" sz="1800" dirty="0" err="1">
                <a:solidFill>
                  <a:schemeClr val="accent5">
                    <a:lumMod val="50000"/>
                  </a:schemeClr>
                </a:solidFill>
                <a:latin typeface="Consolas" charset="0"/>
                <a:cs typeface="Monaco" charset="0"/>
              </a:rPr>
              <a:t>gpuarray.ones</a:t>
            </a:r>
            <a:r>
              <a:rPr lang="es-AR" sz="1800" dirty="0">
                <a:solidFill>
                  <a:schemeClr val="accent5">
                    <a:lumMod val="50000"/>
                  </a:schemeClr>
                </a:solidFill>
                <a:latin typeface="Consolas" charset="0"/>
                <a:cs typeface="Monaco" charset="0"/>
              </a:rPr>
              <a:t>([100,120], </a:t>
            </a:r>
            <a:r>
              <a:rPr lang="es-AR" sz="1800" dirty="0" err="1">
                <a:solidFill>
                  <a:schemeClr val="accent5">
                    <a:lumMod val="50000"/>
                  </a:schemeClr>
                </a:solidFill>
                <a:latin typeface="Consolas" charset="0"/>
                <a:cs typeface="Monaco" charset="0"/>
              </a:rPr>
              <a:t>dtype</a:t>
            </a:r>
            <a:r>
              <a:rPr lang="es-AR" sz="1800" dirty="0">
                <a:solidFill>
                  <a:schemeClr val="accent5">
                    <a:lumMod val="50000"/>
                  </a:schemeClr>
                </a:solidFill>
                <a:latin typeface="Consolas" charset="0"/>
                <a:cs typeface="Monaco" charset="0"/>
              </a:rPr>
              <a:t> = np.float32) # &lt;- no existe</a:t>
            </a:r>
          </a:p>
          <a:p>
            <a:pPr>
              <a:spcAft>
                <a:spcPts val="400"/>
              </a:spcAft>
            </a:pPr>
            <a:endParaRPr lang="es-AR" sz="1800" dirty="0">
              <a:latin typeface="Consolas" charset="0"/>
              <a:cs typeface="Monaco" charset="0"/>
            </a:endParaRPr>
          </a:p>
          <a:p>
            <a:pPr>
              <a:spcAft>
                <a:spcPts val="400"/>
              </a:spcAft>
            </a:pPr>
            <a:r>
              <a:rPr lang="es-AR" sz="1800" dirty="0" err="1" smtClean="0">
                <a:latin typeface="Consolas" charset="0"/>
                <a:cs typeface="Monaco" charset="0"/>
              </a:rPr>
              <a:t>b_gpu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gpuarray.empty_like</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smtClean="0">
                <a:latin typeface="Consolas" charset="0"/>
                <a:cs typeface="Monaco" charset="0"/>
              </a:rPr>
              <a:t>b_gpu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gpuarray.zeros_like</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smtClean="0">
                <a:latin typeface="Consolas" charset="0"/>
                <a:cs typeface="Monaco" charset="0"/>
              </a:rPr>
              <a:t>b_gpu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gpuarray.ones_like</a:t>
            </a:r>
            <a:r>
              <a:rPr lang="es-AR" sz="1800" dirty="0">
                <a:latin typeface="Consolas" charset="0"/>
                <a:cs typeface="Monaco" charset="0"/>
              </a:rPr>
              <a:t>(</a:t>
            </a:r>
            <a:r>
              <a:rPr lang="es-AR" sz="1800" dirty="0" err="1">
                <a:latin typeface="Consolas" charset="0"/>
                <a:cs typeface="Monaco" charset="0"/>
              </a:rPr>
              <a:t>a_gpu</a:t>
            </a:r>
            <a:r>
              <a:rPr lang="es-AR" sz="1800" dirty="0" smtClean="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dirty="0" err="1" smtClean="0">
                <a:latin typeface="Consolas" charset="0"/>
                <a:cs typeface="Monaco" charset="0"/>
              </a:rPr>
              <a:t>c_gpu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gpuarray.arange</a:t>
            </a:r>
            <a:r>
              <a:rPr lang="es-AR" sz="1800" dirty="0">
                <a:latin typeface="Consolas" charset="0"/>
                <a:cs typeface="Monaco" charset="0"/>
              </a:rPr>
              <a:t>(0, 60, </a:t>
            </a:r>
            <a:r>
              <a:rPr lang="es-AR" sz="1800" dirty="0" err="1">
                <a:latin typeface="Consolas" charset="0"/>
                <a:cs typeface="Monaco" charset="0"/>
              </a:rPr>
              <a:t>dtype</a:t>
            </a:r>
            <a:r>
              <a:rPr lang="es-AR" sz="1800" dirty="0">
                <a:latin typeface="Consolas" charset="0"/>
                <a:cs typeface="Monaco" charset="0"/>
              </a:rPr>
              <a:t> = np.float32</a:t>
            </a:r>
            <a:r>
              <a:rPr lang="es-AR" sz="1800" dirty="0" smtClean="0">
                <a:latin typeface="Consolas" charset="0"/>
                <a:cs typeface="Monaco" charset="0"/>
              </a:rPr>
              <a:t>)</a:t>
            </a: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print</a:t>
            </a:r>
            <a:r>
              <a:rPr lang="es-AR" sz="1800" dirty="0">
                <a:latin typeface="Consolas" charset="0"/>
                <a:cs typeface="Monaco" charset="0"/>
              </a:rPr>
              <a:t>(</a:t>
            </a:r>
            <a:r>
              <a:rPr lang="es-AR" sz="1800" dirty="0" err="1">
                <a:latin typeface="Consolas" charset="0"/>
                <a:cs typeface="Monaco" charset="0"/>
              </a:rPr>
              <a:t>c_gpu</a:t>
            </a:r>
            <a:r>
              <a:rPr lang="es-AR" sz="1800" dirty="0">
                <a:latin typeface="Consolas" charset="0"/>
                <a:cs typeface="Monaco" charset="0"/>
              </a:rPr>
              <a:t>)</a:t>
            </a:r>
            <a:r>
              <a:rPr lang="es-AR" sz="1800" dirty="0">
                <a:latin typeface="Consolas" charset="0"/>
                <a:cs typeface="Monaco" charset="0"/>
              </a:rPr>
              <a:t/>
            </a:r>
            <a:br>
              <a:rPr lang="es-AR" sz="1800" dirty="0">
                <a:latin typeface="Consolas" charset="0"/>
                <a:cs typeface="Monaco" charset="0"/>
              </a:rPr>
            </a:br>
            <a:endParaRPr lang="es-AR" sz="1800" b="1" dirty="0">
              <a:solidFill>
                <a:srgbClr val="00B050"/>
              </a:solidFill>
              <a:latin typeface="Consolas" charset="0"/>
              <a:cs typeface="Monaco" charset="0"/>
            </a:endParaRPr>
          </a:p>
        </p:txBody>
      </p:sp>
      <p:sp>
        <p:nvSpPr>
          <p:cNvPr id="4" name="Rectángulo 3"/>
          <p:cNvSpPr/>
          <p:nvPr/>
        </p:nvSpPr>
        <p:spPr>
          <a:xfrm>
            <a:off x="6666300" y="179437"/>
            <a:ext cx="2961067"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ejemplo_gpu_array_02.py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23455868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pycuda.gpuarray</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gpuarray</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smtClean="0">
                <a:solidFill>
                  <a:srgbClr val="0070C0"/>
                </a:solidFill>
                <a:latin typeface="Consolas" charset="0"/>
                <a:cs typeface="Monaco" charset="0"/>
              </a:rPr>
              <a:t>pycuda.autoinit</a:t>
            </a: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np</a:t>
            </a:r>
            <a:endParaRPr lang="es-AR" sz="1800" b="1" dirty="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a_gpu</a:t>
            </a:r>
            <a:r>
              <a:rPr lang="es-AR" sz="1800" dirty="0">
                <a:latin typeface="Consolas" charset="0"/>
                <a:cs typeface="Monaco" charset="0"/>
              </a:rPr>
              <a:t> = </a:t>
            </a:r>
            <a:r>
              <a:rPr lang="es-AR" sz="1800" dirty="0" err="1">
                <a:latin typeface="Consolas" charset="0"/>
                <a:cs typeface="Monaco" charset="0"/>
              </a:rPr>
              <a:t>gpuarray.GPUArray</a:t>
            </a:r>
            <a:r>
              <a:rPr lang="es-AR" sz="1800" dirty="0">
                <a:latin typeface="Consolas" charset="0"/>
                <a:cs typeface="Monaco" charset="0"/>
              </a:rPr>
              <a:t>([50,60], </a:t>
            </a:r>
            <a:r>
              <a:rPr lang="es-AR" sz="1800" dirty="0" err="1">
                <a:latin typeface="Consolas" charset="0"/>
                <a:cs typeface="Monaco" charset="0"/>
              </a:rPr>
              <a:t>dtype</a:t>
            </a:r>
            <a:r>
              <a:rPr lang="es-AR" sz="1800" dirty="0">
                <a:latin typeface="Consolas" charset="0"/>
                <a:cs typeface="Monaco" charset="0"/>
              </a:rPr>
              <a:t> = np.float32)</a:t>
            </a:r>
          </a:p>
          <a:p>
            <a:pPr>
              <a:spcAft>
                <a:spcPts val="400"/>
              </a:spcAft>
            </a:pPr>
            <a:r>
              <a:rPr lang="es-AR" sz="1800" dirty="0" err="1">
                <a:latin typeface="Consolas" charset="0"/>
                <a:cs typeface="Monaco" charset="0"/>
              </a:rPr>
              <a:t>a_gpu.fill</a:t>
            </a:r>
            <a:r>
              <a:rPr lang="es-AR" sz="1800" dirty="0">
                <a:latin typeface="Consolas" charset="0"/>
                <a:cs typeface="Monaco" charset="0"/>
              </a:rPr>
              <a:t>(3.14)</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b_gpu</a:t>
            </a:r>
            <a:r>
              <a:rPr lang="es-AR" sz="1800" dirty="0">
                <a:latin typeface="Consolas" charset="0"/>
                <a:cs typeface="Monaco" charset="0"/>
              </a:rPr>
              <a:t> = </a:t>
            </a:r>
            <a:r>
              <a:rPr lang="es-AR" sz="1800" dirty="0" err="1">
                <a:latin typeface="Consolas" charset="0"/>
                <a:cs typeface="Monaco" charset="0"/>
              </a:rPr>
              <a:t>gpuarray.arange</a:t>
            </a:r>
            <a:r>
              <a:rPr lang="es-AR" sz="1800" dirty="0">
                <a:latin typeface="Consolas" charset="0"/>
                <a:cs typeface="Monaco" charset="0"/>
              </a:rPr>
              <a:t>(0, 3000, </a:t>
            </a:r>
            <a:r>
              <a:rPr lang="es-AR" sz="1800" dirty="0" err="1">
                <a:latin typeface="Consolas" charset="0"/>
                <a:cs typeface="Monaco" charset="0"/>
              </a:rPr>
              <a:t>dtype</a:t>
            </a:r>
            <a:r>
              <a:rPr lang="es-AR" sz="1800" dirty="0">
                <a:latin typeface="Consolas" charset="0"/>
                <a:cs typeface="Monaco" charset="0"/>
              </a:rPr>
              <a:t> = np.float32)</a:t>
            </a:r>
          </a:p>
          <a:p>
            <a:pPr>
              <a:spcAft>
                <a:spcPts val="400"/>
              </a:spcAft>
            </a:pPr>
            <a:endParaRPr lang="es-AR" sz="1800" dirty="0">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print</a:t>
            </a:r>
            <a:r>
              <a:rPr lang="es-AR" sz="1800" dirty="0">
                <a:latin typeface="Consolas" charset="0"/>
                <a:cs typeface="Monaco" charset="0"/>
              </a:rPr>
              <a:t>(</a:t>
            </a:r>
            <a:r>
              <a:rPr lang="es-AR" sz="1800" dirty="0" err="1">
                <a:latin typeface="Consolas" charset="0"/>
                <a:cs typeface="Monaco" charset="0"/>
              </a:rPr>
              <a:t>gpuarray.sum</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print</a:t>
            </a:r>
            <a:r>
              <a:rPr lang="es-AR" sz="1800" dirty="0">
                <a:latin typeface="Consolas" charset="0"/>
                <a:cs typeface="Monaco" charset="0"/>
              </a:rPr>
              <a:t>(gpuarray.dot(</a:t>
            </a:r>
            <a:r>
              <a:rPr lang="es-AR" sz="1800" dirty="0" err="1">
                <a:latin typeface="Consolas" charset="0"/>
                <a:cs typeface="Monaco" charset="0"/>
              </a:rPr>
              <a:t>a_gpu</a:t>
            </a:r>
            <a:r>
              <a:rPr lang="es-AR" sz="1800" dirty="0">
                <a:latin typeface="Consolas" charset="0"/>
                <a:cs typeface="Monaco" charset="0"/>
              </a:rPr>
              <a:t>, </a:t>
            </a:r>
            <a:r>
              <a:rPr lang="es-AR" sz="1800" dirty="0" err="1">
                <a:latin typeface="Consolas" charset="0"/>
                <a:cs typeface="Monaco" charset="0"/>
              </a:rPr>
              <a:t>b_gpu</a:t>
            </a:r>
            <a:r>
              <a:rPr lang="es-AR" sz="1800" dirty="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print</a:t>
            </a:r>
            <a:r>
              <a:rPr lang="es-AR" sz="1800" dirty="0">
                <a:latin typeface="Consolas" charset="0"/>
                <a:cs typeface="Monaco" charset="0"/>
              </a:rPr>
              <a:t>(</a:t>
            </a:r>
            <a:r>
              <a:rPr lang="es-AR" sz="1800" dirty="0" err="1">
                <a:latin typeface="Consolas" charset="0"/>
                <a:cs typeface="Monaco" charset="0"/>
              </a:rPr>
              <a:t>gpuarray.max</a:t>
            </a:r>
            <a:r>
              <a:rPr lang="es-AR" sz="1800" dirty="0">
                <a:latin typeface="Consolas" charset="0"/>
                <a:cs typeface="Monaco" charset="0"/>
              </a:rPr>
              <a:t>(</a:t>
            </a:r>
            <a:r>
              <a:rPr lang="es-AR" sz="1800" dirty="0" err="1">
                <a:latin typeface="Consolas" charset="0"/>
                <a:cs typeface="Monaco" charset="0"/>
              </a:rPr>
              <a:t>b_gpu</a:t>
            </a:r>
            <a:r>
              <a:rPr lang="es-AR" sz="1800" dirty="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print</a:t>
            </a:r>
            <a:r>
              <a:rPr lang="es-AR" sz="1800" dirty="0">
                <a:latin typeface="Consolas" charset="0"/>
                <a:cs typeface="Monaco" charset="0"/>
              </a:rPr>
              <a:t>(</a:t>
            </a:r>
            <a:r>
              <a:rPr lang="es-AR" sz="1800" dirty="0" err="1">
                <a:latin typeface="Consolas" charset="0"/>
                <a:cs typeface="Monaco" charset="0"/>
              </a:rPr>
              <a:t>gpuarray.min</a:t>
            </a:r>
            <a:r>
              <a:rPr lang="es-AR" sz="1800" dirty="0">
                <a:latin typeface="Consolas" charset="0"/>
                <a:cs typeface="Monaco" charset="0"/>
              </a:rPr>
              <a:t>(</a:t>
            </a:r>
            <a:r>
              <a:rPr lang="es-AR" sz="1800" dirty="0" err="1">
                <a:latin typeface="Consolas" charset="0"/>
                <a:cs typeface="Monaco" charset="0"/>
              </a:rPr>
              <a:t>b_gpu</a:t>
            </a:r>
            <a:r>
              <a:rPr lang="es-AR" sz="1800" dirty="0">
                <a:latin typeface="Consolas" charset="0"/>
                <a:cs typeface="Monaco" charset="0"/>
              </a:rPr>
              <a:t>))</a:t>
            </a:r>
            <a:r>
              <a:rPr lang="es-AR" sz="1800" dirty="0">
                <a:latin typeface="Consolas" charset="0"/>
                <a:cs typeface="Monaco" charset="0"/>
              </a:rPr>
              <a:t/>
            </a:r>
            <a:br>
              <a:rPr lang="es-AR" sz="1800" dirty="0">
                <a:latin typeface="Consolas" charset="0"/>
                <a:cs typeface="Monaco" charset="0"/>
              </a:rPr>
            </a:br>
            <a:r>
              <a:rPr lang="es-AR" sz="1800" dirty="0">
                <a:latin typeface="Consolas" charset="0"/>
                <a:cs typeface="Monaco" charset="0"/>
              </a:rPr>
              <a:t/>
            </a:r>
            <a:br>
              <a:rPr lang="es-AR" sz="1800" dirty="0">
                <a:latin typeface="Consolas" charset="0"/>
                <a:cs typeface="Monaco" charset="0"/>
              </a:rPr>
            </a:br>
            <a:endParaRPr lang="es-AR" sz="1800" b="1" dirty="0">
              <a:solidFill>
                <a:srgbClr val="00B050"/>
              </a:solidFill>
              <a:latin typeface="Consolas" charset="0"/>
              <a:cs typeface="Monaco" charset="0"/>
            </a:endParaRPr>
          </a:p>
        </p:txBody>
      </p:sp>
      <p:sp>
        <p:nvSpPr>
          <p:cNvPr id="4" name="Rectángulo 3"/>
          <p:cNvSpPr/>
          <p:nvPr/>
        </p:nvSpPr>
        <p:spPr>
          <a:xfrm>
            <a:off x="6666300" y="179437"/>
            <a:ext cx="2961067"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ejemplo_gpu_array_03.py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26835222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pycuda.gpuarray</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gpuarray</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smtClean="0">
                <a:solidFill>
                  <a:srgbClr val="0070C0"/>
                </a:solidFill>
                <a:latin typeface="Consolas" charset="0"/>
                <a:cs typeface="Monaco" charset="0"/>
              </a:rPr>
              <a:t>pycuda.autoinit</a:t>
            </a: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smtClean="0">
                <a:solidFill>
                  <a:srgbClr val="0070C0"/>
                </a:solidFill>
                <a:latin typeface="Consolas" charset="0"/>
                <a:cs typeface="Monaco" charset="0"/>
              </a:rPr>
              <a:t>np</a:t>
            </a:r>
            <a:endParaRPr lang="es-AR" sz="1800" b="1" dirty="0" smtClean="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b="1" dirty="0">
                <a:solidFill>
                  <a:srgbClr val="00B050"/>
                </a:solidFill>
                <a:latin typeface="Consolas" charset="0"/>
                <a:cs typeface="Monaco" charset="0"/>
              </a:rPr>
              <a:t> </a:t>
            </a:r>
            <a:r>
              <a:rPr lang="es-AR" sz="1800" b="1" dirty="0" err="1">
                <a:solidFill>
                  <a:srgbClr val="0070C0"/>
                </a:solidFill>
                <a:latin typeface="Consolas" charset="0"/>
                <a:cs typeface="Monaco" charset="0"/>
              </a:rPr>
              <a:t>pycuda.cumath</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b="1" dirty="0">
                <a:solidFill>
                  <a:srgbClr val="0070C0"/>
                </a:solidFill>
                <a:latin typeface="Consolas" charset="0"/>
                <a:cs typeface="Monaco" charset="0"/>
              </a:rPr>
              <a:t> </a:t>
            </a:r>
            <a:r>
              <a:rPr lang="es-AR" sz="1800" b="1" dirty="0" err="1">
                <a:solidFill>
                  <a:srgbClr val="0070C0"/>
                </a:solidFill>
                <a:latin typeface="Consolas" charset="0"/>
                <a:cs typeface="Monaco" charset="0"/>
              </a:rPr>
              <a:t>cumath</a:t>
            </a:r>
            <a:endParaRPr lang="es-AR" sz="1800" b="1" dirty="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a_gpu</a:t>
            </a:r>
            <a:r>
              <a:rPr lang="es-AR" sz="1800" dirty="0">
                <a:latin typeface="Consolas" charset="0"/>
                <a:cs typeface="Monaco" charset="0"/>
              </a:rPr>
              <a:t> = </a:t>
            </a:r>
            <a:r>
              <a:rPr lang="es-AR" sz="1800" dirty="0" err="1">
                <a:latin typeface="Consolas" charset="0"/>
                <a:cs typeface="Monaco" charset="0"/>
              </a:rPr>
              <a:t>gpuarray.GPUArray</a:t>
            </a:r>
            <a:r>
              <a:rPr lang="es-AR" sz="1800" dirty="0">
                <a:latin typeface="Consolas" charset="0"/>
                <a:cs typeface="Monaco" charset="0"/>
              </a:rPr>
              <a:t>([50,60], </a:t>
            </a:r>
            <a:r>
              <a:rPr lang="es-AR" sz="1800" dirty="0" err="1">
                <a:latin typeface="Consolas" charset="0"/>
                <a:cs typeface="Monaco" charset="0"/>
              </a:rPr>
              <a:t>dtype</a:t>
            </a:r>
            <a:r>
              <a:rPr lang="es-AR" sz="1800" dirty="0">
                <a:latin typeface="Consolas" charset="0"/>
                <a:cs typeface="Monaco" charset="0"/>
              </a:rPr>
              <a:t> = np.float32)</a:t>
            </a:r>
          </a:p>
          <a:p>
            <a:pPr>
              <a:spcAft>
                <a:spcPts val="400"/>
              </a:spcAft>
            </a:pPr>
            <a:r>
              <a:rPr lang="es-AR" sz="1800" dirty="0" err="1">
                <a:latin typeface="Consolas" charset="0"/>
                <a:cs typeface="Monaco" charset="0"/>
              </a:rPr>
              <a:t>a_gpu.fill</a:t>
            </a:r>
            <a:r>
              <a:rPr lang="es-AR" sz="1800" dirty="0">
                <a:latin typeface="Consolas" charset="0"/>
                <a:cs typeface="Monaco" charset="0"/>
              </a:rPr>
              <a:t>(144.0)</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i_gpu</a:t>
            </a:r>
            <a:r>
              <a:rPr lang="es-AR" sz="1800" dirty="0">
                <a:latin typeface="Consolas" charset="0"/>
                <a:cs typeface="Monaco" charset="0"/>
              </a:rPr>
              <a:t> = </a:t>
            </a:r>
            <a:r>
              <a:rPr lang="es-AR" sz="1800" dirty="0" err="1">
                <a:latin typeface="Consolas" charset="0"/>
                <a:cs typeface="Monaco" charset="0"/>
              </a:rPr>
              <a:t>cumath.fabs</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smtClean="0">
                <a:latin typeface="Consolas" charset="0"/>
                <a:cs typeface="Monaco" charset="0"/>
              </a:rPr>
              <a:t>j_gpu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cumath.floor</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smtClean="0">
                <a:latin typeface="Consolas" charset="0"/>
                <a:cs typeface="Monaco" charset="0"/>
              </a:rPr>
              <a:t>k_gpu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cumath.exp</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smtClean="0">
                <a:latin typeface="Consolas" charset="0"/>
                <a:cs typeface="Monaco" charset="0"/>
              </a:rPr>
              <a:t>l_gpu</a:t>
            </a:r>
            <a:r>
              <a:rPr lang="es-AR" sz="1800" dirty="0" smtClean="0">
                <a:latin typeface="Consolas" charset="0"/>
                <a:cs typeface="Monaco" charset="0"/>
              </a:rPr>
              <a:t> </a:t>
            </a:r>
            <a:r>
              <a:rPr lang="es-AR" sz="1800" dirty="0">
                <a:latin typeface="Consolas" charset="0"/>
                <a:cs typeface="Monaco" charset="0"/>
              </a:rPr>
              <a:t>= cumath.log(</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smtClean="0">
                <a:latin typeface="Consolas" charset="0"/>
                <a:cs typeface="Monaco" charset="0"/>
              </a:rPr>
              <a:t>m_gpu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cumath.sqrt</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smtClean="0">
                <a:latin typeface="Consolas" charset="0"/>
                <a:cs typeface="Monaco" charset="0"/>
              </a:rPr>
              <a:t>p_gpu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cumath.sin</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smtClean="0">
                <a:latin typeface="Consolas" charset="0"/>
                <a:cs typeface="Monaco" charset="0"/>
              </a:rPr>
              <a:t>q_gpu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cumath.tan</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print</a:t>
            </a:r>
            <a:r>
              <a:rPr lang="es-AR" sz="1800" dirty="0">
                <a:latin typeface="Consolas" charset="0"/>
                <a:cs typeface="Monaco" charset="0"/>
              </a:rPr>
              <a:t>(</a:t>
            </a:r>
            <a:r>
              <a:rPr lang="es-AR" sz="1800" dirty="0" err="1">
                <a:latin typeface="Consolas" charset="0"/>
                <a:cs typeface="Monaco" charset="0"/>
              </a:rPr>
              <a:t>m_gpu</a:t>
            </a:r>
            <a:r>
              <a:rPr lang="es-AR" sz="1800" dirty="0">
                <a:latin typeface="Consolas" charset="0"/>
                <a:cs typeface="Monaco" charset="0"/>
              </a:rPr>
              <a:t>)</a:t>
            </a:r>
            <a:r>
              <a:rPr lang="es-AR" sz="1800" dirty="0">
                <a:latin typeface="Consolas" charset="0"/>
                <a:cs typeface="Monaco" charset="0"/>
              </a:rPr>
              <a:t/>
            </a:r>
            <a:br>
              <a:rPr lang="es-AR" sz="1800" dirty="0">
                <a:latin typeface="Consolas" charset="0"/>
                <a:cs typeface="Monaco" charset="0"/>
              </a:rPr>
            </a:br>
            <a:r>
              <a:rPr lang="es-AR" sz="1800" dirty="0">
                <a:latin typeface="Consolas" charset="0"/>
                <a:cs typeface="Monaco" charset="0"/>
              </a:rPr>
              <a:t/>
            </a:r>
            <a:br>
              <a:rPr lang="es-AR" sz="1800" dirty="0">
                <a:latin typeface="Consolas" charset="0"/>
                <a:cs typeface="Monaco" charset="0"/>
              </a:rPr>
            </a:br>
            <a:endParaRPr lang="es-AR" sz="1800" b="1" dirty="0">
              <a:solidFill>
                <a:srgbClr val="00B050"/>
              </a:solidFill>
              <a:latin typeface="Consolas" charset="0"/>
              <a:cs typeface="Monaco" charset="0"/>
            </a:endParaRPr>
          </a:p>
        </p:txBody>
      </p:sp>
      <p:sp>
        <p:nvSpPr>
          <p:cNvPr id="4" name="Rectángulo 3"/>
          <p:cNvSpPr/>
          <p:nvPr/>
        </p:nvSpPr>
        <p:spPr>
          <a:xfrm>
            <a:off x="6666300" y="179437"/>
            <a:ext cx="2961067"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ejemplo_gpu_array_04.py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44215353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pycuda.gpuarray</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gpuarray</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pycuda.autoinit</a:t>
            </a:r>
            <a:endParaRPr lang="es-AR" sz="1800" b="1" dirty="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np</a:t>
            </a:r>
            <a:endParaRPr lang="es-AR" sz="1800" b="1" dirty="0">
              <a:solidFill>
                <a:srgbClr val="0070C0"/>
              </a:solidFill>
              <a:latin typeface="Consolas" charset="0"/>
              <a:cs typeface="Monaco" charset="0"/>
            </a:endParaRPr>
          </a:p>
          <a:p>
            <a:endParaRPr lang="es-AR" sz="1800" dirty="0">
              <a:latin typeface="Consolas" charset="0"/>
              <a:cs typeface="Monaco" charset="0"/>
            </a:endParaRPr>
          </a:p>
          <a:p>
            <a:pPr>
              <a:spcAft>
                <a:spcPts val="400"/>
              </a:spcAft>
            </a:pPr>
            <a:r>
              <a:rPr lang="es-AR" sz="1800" dirty="0">
                <a:latin typeface="Consolas" charset="0"/>
                <a:cs typeface="Monaco" charset="0"/>
              </a:rPr>
              <a:t>N = 30000</a:t>
            </a:r>
          </a:p>
          <a:p>
            <a:pPr>
              <a:spcAft>
                <a:spcPts val="400"/>
              </a:spcAft>
            </a:pPr>
            <a:endParaRPr lang="es-AR" sz="1800" dirty="0">
              <a:latin typeface="Consolas" charset="0"/>
              <a:cs typeface="Monaco" charset="0"/>
            </a:endParaRPr>
          </a:p>
          <a:p>
            <a:pPr>
              <a:spcAft>
                <a:spcPts val="400"/>
              </a:spcAft>
            </a:pPr>
            <a:r>
              <a:rPr lang="es-AR" sz="1800" dirty="0">
                <a:latin typeface="Consolas" charset="0"/>
                <a:cs typeface="Monaco" charset="0"/>
              </a:rPr>
              <a:t>a = </a:t>
            </a:r>
            <a:r>
              <a:rPr lang="es-AR" sz="1800" dirty="0" err="1">
                <a:latin typeface="Consolas" charset="0"/>
                <a:cs typeface="Monaco" charset="0"/>
              </a:rPr>
              <a:t>np.ones</a:t>
            </a:r>
            <a:r>
              <a:rPr lang="es-AR" sz="1800" dirty="0">
                <a:latin typeface="Consolas" charset="0"/>
                <a:cs typeface="Monaco" charset="0"/>
              </a:rPr>
              <a:t>(N)</a:t>
            </a:r>
          </a:p>
          <a:p>
            <a:pPr>
              <a:spcAft>
                <a:spcPts val="400"/>
              </a:spcAft>
            </a:pPr>
            <a:r>
              <a:rPr lang="es-AR" sz="1800" dirty="0">
                <a:latin typeface="Consolas" charset="0"/>
                <a:cs typeface="Monaco" charset="0"/>
              </a:rPr>
              <a:t>a = </a:t>
            </a:r>
            <a:r>
              <a:rPr lang="es-AR" sz="1800" dirty="0" err="1">
                <a:latin typeface="Consolas" charset="0"/>
                <a:cs typeface="Monaco" charset="0"/>
              </a:rPr>
              <a:t>a.astype</a:t>
            </a:r>
            <a:r>
              <a:rPr lang="es-AR" sz="1800" dirty="0">
                <a:latin typeface="Consolas" charset="0"/>
                <a:cs typeface="Monaco" charset="0"/>
              </a:rPr>
              <a:t>(np.float32)</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a_gpu</a:t>
            </a:r>
            <a:r>
              <a:rPr lang="es-AR" sz="1800" dirty="0">
                <a:latin typeface="Consolas" charset="0"/>
                <a:cs typeface="Monaco" charset="0"/>
              </a:rPr>
              <a:t> = </a:t>
            </a:r>
            <a:r>
              <a:rPr lang="es-AR" sz="1800" dirty="0" err="1">
                <a:latin typeface="Consolas" charset="0"/>
                <a:cs typeface="Monaco" charset="0"/>
              </a:rPr>
              <a:t>gpuarray.to_gpu</a:t>
            </a:r>
            <a:r>
              <a:rPr lang="es-AR" sz="1800" dirty="0">
                <a:latin typeface="Consolas" charset="0"/>
                <a:cs typeface="Monaco" charset="0"/>
              </a:rPr>
              <a:t>(a)</a:t>
            </a:r>
          </a:p>
          <a:p>
            <a:pPr>
              <a:spcAft>
                <a:spcPts val="400"/>
              </a:spcAft>
            </a:pPr>
            <a:r>
              <a:rPr lang="es-AR" sz="1800" dirty="0" err="1">
                <a:latin typeface="Consolas" charset="0"/>
                <a:cs typeface="Monaco" charset="0"/>
              </a:rPr>
              <a:t>a_doubled</a:t>
            </a:r>
            <a:r>
              <a:rPr lang="es-AR" sz="1800" dirty="0">
                <a:latin typeface="Consolas" charset="0"/>
                <a:cs typeface="Monaco" charset="0"/>
              </a:rPr>
              <a:t> = (2*</a:t>
            </a:r>
            <a:r>
              <a:rPr lang="es-AR" sz="1800" dirty="0" err="1">
                <a:latin typeface="Consolas" charset="0"/>
                <a:cs typeface="Monaco" charset="0"/>
              </a:rPr>
              <a:t>a_gpu</a:t>
            </a:r>
            <a:r>
              <a:rPr lang="es-AR" sz="1800" dirty="0">
                <a:latin typeface="Consolas" charset="0"/>
                <a:cs typeface="Monaco" charset="0"/>
              </a:rPr>
              <a:t>).</a:t>
            </a:r>
            <a:r>
              <a:rPr lang="es-AR" sz="1800" dirty="0" err="1">
                <a:latin typeface="Consolas" charset="0"/>
                <a:cs typeface="Monaco" charset="0"/>
              </a:rPr>
              <a:t>get</a:t>
            </a:r>
            <a:r>
              <a:rPr lang="es-AR" sz="1800" dirty="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b="1" dirty="0" err="1">
                <a:solidFill>
                  <a:srgbClr val="00B050"/>
                </a:solidFill>
                <a:latin typeface="Consolas" charset="0"/>
                <a:cs typeface="Monaco" charset="0"/>
              </a:rPr>
              <a:t>p</a:t>
            </a:r>
            <a:r>
              <a:rPr lang="es-AR" sz="1800" b="1" dirty="0" err="1" smtClean="0">
                <a:solidFill>
                  <a:srgbClr val="00B050"/>
                </a:solidFill>
                <a:latin typeface="Consolas" charset="0"/>
                <a:cs typeface="Monaco" charset="0"/>
              </a:rPr>
              <a:t>rint</a:t>
            </a:r>
            <a:r>
              <a:rPr lang="es-AR" sz="1800" dirty="0" smtClean="0">
                <a:latin typeface="Consolas" charset="0"/>
                <a:cs typeface="Monaco" charset="0"/>
              </a:rPr>
              <a:t>(a</a:t>
            </a:r>
            <a:r>
              <a:rPr lang="es-AR" sz="1800" dirty="0">
                <a:latin typeface="Consolas" charset="0"/>
                <a:cs typeface="Monaco" charset="0"/>
              </a:rPr>
              <a:t>)</a:t>
            </a:r>
          </a:p>
          <a:p>
            <a:pPr>
              <a:spcAft>
                <a:spcPts val="400"/>
              </a:spcAft>
            </a:pPr>
            <a:r>
              <a:rPr lang="es-AR" sz="1800" b="1" dirty="0" err="1" smtClean="0">
                <a:solidFill>
                  <a:srgbClr val="00B050"/>
                </a:solidFill>
                <a:latin typeface="Consolas" charset="0"/>
                <a:cs typeface="Monaco" charset="0"/>
              </a:rPr>
              <a:t>print</a:t>
            </a:r>
            <a:r>
              <a:rPr lang="es-AR" sz="1800" dirty="0" smtClean="0">
                <a:latin typeface="Consolas" charset="0"/>
                <a:cs typeface="Monaco" charset="0"/>
              </a:rPr>
              <a:t>(</a:t>
            </a:r>
            <a:r>
              <a:rPr lang="es-AR" sz="1800" dirty="0" err="1" smtClean="0">
                <a:latin typeface="Consolas" charset="0"/>
                <a:cs typeface="Monaco" charset="0"/>
              </a:rPr>
              <a:t>a_doubled</a:t>
            </a:r>
            <a:r>
              <a:rPr lang="es-AR" sz="1800" dirty="0" smtClean="0">
                <a:latin typeface="Consolas" charset="0"/>
                <a:cs typeface="Monaco" charset="0"/>
              </a:rPr>
              <a:t>)</a:t>
            </a:r>
            <a:r>
              <a:rPr lang="es-AR" sz="1800" dirty="0">
                <a:latin typeface="Consolas" charset="0"/>
                <a:cs typeface="Monaco" charset="0"/>
              </a:rPr>
              <a:t/>
            </a:r>
            <a:br>
              <a:rPr lang="es-AR" sz="1800" dirty="0">
                <a:latin typeface="Consolas" charset="0"/>
                <a:cs typeface="Monaco" charset="0"/>
              </a:rPr>
            </a:br>
            <a:endParaRPr lang="es-AR" sz="1800" b="1" dirty="0">
              <a:solidFill>
                <a:srgbClr val="00B050"/>
              </a:solidFill>
              <a:latin typeface="Consolas" charset="0"/>
              <a:cs typeface="Monaco" charset="0"/>
            </a:endParaRPr>
          </a:p>
        </p:txBody>
      </p:sp>
      <p:sp>
        <p:nvSpPr>
          <p:cNvPr id="4" name="Rectángulo 3"/>
          <p:cNvSpPr/>
          <p:nvPr/>
        </p:nvSpPr>
        <p:spPr>
          <a:xfrm>
            <a:off x="6552480" y="181237"/>
            <a:ext cx="3025187"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ejemplo_double_simple.py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28139197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59792" y="1835621"/>
            <a:ext cx="8856663" cy="7921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FFFFF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57096" rIns="90000" bIns="45000" anchor="ctr" anchorCtr="1"/>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5pPr>
            <a:lvl6pPr marL="25146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6pPr>
            <a:lvl7pPr marL="29718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7pPr>
            <a:lvl8pPr marL="34290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8pPr>
            <a:lvl9pPr marL="38862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9pPr>
          </a:lstStyle>
          <a:p>
            <a:pPr algn="ctr">
              <a:spcBef>
                <a:spcPts val="1200"/>
              </a:spcBef>
              <a:spcAft>
                <a:spcPts val="600"/>
              </a:spcAft>
            </a:pPr>
            <a:r>
              <a:rPr lang="es-AR" sz="2400" dirty="0" err="1">
                <a:latin typeface="Gill Sans Light"/>
                <a:cs typeface="Gill Sans Light"/>
              </a:rPr>
              <a:t>pycuda.elementwise.ElementwiseKernel</a:t>
            </a:r>
            <a:r>
              <a:rPr lang="es-AR" sz="2400" dirty="0" smtClean="0">
                <a:latin typeface="Gill Sans Light"/>
                <a:cs typeface="Gill Sans Light"/>
              </a:rPr>
              <a:t>()</a:t>
            </a:r>
            <a:endParaRPr lang="es-AR" sz="2400" dirty="0">
              <a:solidFill>
                <a:srgbClr val="FFFFFF"/>
              </a:solidFill>
              <a:latin typeface="Gill Sans Light"/>
              <a:cs typeface="Gill Sans Light"/>
            </a:endParaRPr>
          </a:p>
        </p:txBody>
      </p:sp>
      <p:sp>
        <p:nvSpPr>
          <p:cNvPr id="3" name="Rectángulo 2"/>
          <p:cNvSpPr/>
          <p:nvPr/>
        </p:nvSpPr>
        <p:spPr>
          <a:xfrm>
            <a:off x="1439912" y="3203773"/>
            <a:ext cx="7488832" cy="624145"/>
          </a:xfrm>
          <a:prstGeom prst="rect">
            <a:avLst/>
          </a:prstGeom>
        </p:spPr>
        <p:txBody>
          <a:bodyPr wrap="square">
            <a:spAutoFit/>
          </a:bodyPr>
          <a:lstStyle/>
          <a:p>
            <a:r>
              <a:rPr lang="en-US" i="1" dirty="0"/>
              <a:t>class </a:t>
            </a:r>
            <a:r>
              <a:rPr lang="en-US" dirty="0" err="1"/>
              <a:t>pycuda.elementwise.</a:t>
            </a:r>
            <a:r>
              <a:rPr lang="en-US" b="1" dirty="0" err="1"/>
              <a:t>ElementwiseKernel</a:t>
            </a:r>
            <a:r>
              <a:rPr lang="en-US" dirty="0"/>
              <a:t>(</a:t>
            </a:r>
            <a:r>
              <a:rPr lang="en-US" i="1" dirty="0"/>
              <a:t>arguments, operation, name="kernel", keep=False, options=[], preamble=""</a:t>
            </a:r>
            <a:r>
              <a:rPr lang="en-US" dirty="0"/>
              <a:t>)</a:t>
            </a:r>
          </a:p>
        </p:txBody>
      </p:sp>
    </p:spTree>
    <p:extLst>
      <p:ext uri="{BB962C8B-B14F-4D97-AF65-F5344CB8AC3E}">
        <p14:creationId xmlns:p14="http://schemas.microsoft.com/office/powerpoint/2010/main" val="3114171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pycuda.gpuarray</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gpuarray</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pycuda.autoinit</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from</a:t>
            </a:r>
            <a:r>
              <a:rPr lang="es-AR" sz="1800" dirty="0">
                <a:latin typeface="Consolas" charset="0"/>
                <a:cs typeface="Monaco" charset="0"/>
              </a:rPr>
              <a:t> </a:t>
            </a:r>
            <a:r>
              <a:rPr lang="es-AR" sz="1800" b="1" dirty="0" err="1">
                <a:solidFill>
                  <a:srgbClr val="0070C0"/>
                </a:solidFill>
                <a:latin typeface="Consolas" charset="0"/>
                <a:cs typeface="Monaco" charset="0"/>
              </a:rPr>
              <a:t>pycuda.elementwise</a:t>
            </a:r>
            <a:r>
              <a:rPr lang="es-AR" sz="1800" dirty="0">
                <a:latin typeface="Consolas" charset="0"/>
                <a:cs typeface="Monaco" charset="0"/>
              </a:rPr>
              <a:t> </a:t>
            </a: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ElementwiseKernel</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from</a:t>
            </a:r>
            <a:r>
              <a:rPr lang="es-AR" sz="1800" dirty="0">
                <a:latin typeface="Consolas" charset="0"/>
                <a:cs typeface="Monaco" charset="0"/>
              </a:rPr>
              <a:t> </a:t>
            </a:r>
            <a:r>
              <a:rPr lang="es-AR" sz="1800" b="1" dirty="0" err="1">
                <a:solidFill>
                  <a:srgbClr val="0070C0"/>
                </a:solidFill>
                <a:latin typeface="Consolas" charset="0"/>
                <a:cs typeface="Monaco" charset="0"/>
              </a:rPr>
              <a:t>pycuda.curandom</a:t>
            </a:r>
            <a:r>
              <a:rPr lang="es-AR" sz="1800" dirty="0">
                <a:latin typeface="Consolas" charset="0"/>
                <a:cs typeface="Monaco" charset="0"/>
              </a:rPr>
              <a:t> </a:t>
            </a: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a:solidFill>
                  <a:srgbClr val="0070C0"/>
                </a:solidFill>
                <a:latin typeface="Consolas" charset="0"/>
                <a:cs typeface="Monaco" charset="0"/>
              </a:rPr>
              <a:t>rand</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smtClean="0">
                <a:solidFill>
                  <a:srgbClr val="0070C0"/>
                </a:solidFill>
                <a:latin typeface="Consolas" charset="0"/>
                <a:cs typeface="Monaco" charset="0"/>
              </a:rPr>
              <a:t>curand</a:t>
            </a:r>
            <a:endParaRPr lang="es-AR" sz="1800" b="1" dirty="0" smtClean="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b="1" dirty="0">
                <a:solidFill>
                  <a:srgbClr val="0070C0"/>
                </a:solidFill>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b="1" dirty="0">
                <a:solidFill>
                  <a:srgbClr val="0070C0"/>
                </a:solidFill>
                <a:latin typeface="Consolas" charset="0"/>
                <a:cs typeface="Monaco" charset="0"/>
              </a:rPr>
              <a:t> </a:t>
            </a:r>
            <a:r>
              <a:rPr lang="es-AR" sz="1800" b="1" dirty="0" err="1">
                <a:solidFill>
                  <a:srgbClr val="0070C0"/>
                </a:solidFill>
                <a:latin typeface="Consolas" charset="0"/>
                <a:cs typeface="Monaco" charset="0"/>
              </a:rPr>
              <a:t>np</a:t>
            </a:r>
            <a:endParaRPr lang="es-AR" sz="1800" b="1" dirty="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smtClean="0">
                <a:latin typeface="Consolas" charset="0"/>
                <a:cs typeface="Monaco" charset="0"/>
              </a:rPr>
              <a:t>a_gpu</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curand</a:t>
            </a:r>
            <a:r>
              <a:rPr lang="es-AR" sz="1800" dirty="0">
                <a:latin typeface="Consolas" charset="0"/>
                <a:cs typeface="Monaco" charset="0"/>
              </a:rPr>
              <a:t>((50,))</a:t>
            </a:r>
          </a:p>
          <a:p>
            <a:pPr>
              <a:spcAft>
                <a:spcPts val="400"/>
              </a:spcAft>
            </a:pPr>
            <a:r>
              <a:rPr lang="es-AR" sz="1800" dirty="0" err="1">
                <a:latin typeface="Consolas" charset="0"/>
                <a:cs typeface="Monaco" charset="0"/>
              </a:rPr>
              <a:t>b_gpu</a:t>
            </a:r>
            <a:r>
              <a:rPr lang="es-AR" sz="1800" dirty="0">
                <a:latin typeface="Consolas" charset="0"/>
                <a:cs typeface="Monaco" charset="0"/>
              </a:rPr>
              <a:t> = </a:t>
            </a:r>
            <a:r>
              <a:rPr lang="es-AR" sz="1800" dirty="0" err="1">
                <a:latin typeface="Consolas" charset="0"/>
                <a:cs typeface="Monaco" charset="0"/>
              </a:rPr>
              <a:t>curand</a:t>
            </a:r>
            <a:r>
              <a:rPr lang="es-AR" sz="1800" dirty="0">
                <a:latin typeface="Consolas" charset="0"/>
                <a:cs typeface="Monaco" charset="0"/>
              </a:rPr>
              <a:t>((50,))</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lin_comb</a:t>
            </a:r>
            <a:r>
              <a:rPr lang="es-AR" sz="1800" dirty="0">
                <a:latin typeface="Consolas" charset="0"/>
                <a:cs typeface="Monaco" charset="0"/>
              </a:rPr>
              <a:t> = </a:t>
            </a:r>
            <a:r>
              <a:rPr lang="es-AR" sz="1800" dirty="0" err="1">
                <a:latin typeface="Consolas" charset="0"/>
                <a:cs typeface="Monaco" charset="0"/>
              </a:rPr>
              <a:t>ElementwiseKernel</a:t>
            </a:r>
            <a:r>
              <a:rPr lang="es-AR" sz="1800" dirty="0">
                <a:latin typeface="Consolas" charset="0"/>
                <a:cs typeface="Monaco" charset="0"/>
              </a:rPr>
              <a:t>(</a:t>
            </a:r>
          </a:p>
          <a:p>
            <a:pPr>
              <a:spcAft>
                <a:spcPts val="400"/>
              </a:spcAft>
            </a:pPr>
            <a:r>
              <a:rPr lang="es-AR" sz="1800" dirty="0">
                <a:latin typeface="Consolas" charset="0"/>
                <a:cs typeface="Monaco" charset="0"/>
              </a:rPr>
              <a:t>		</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a,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*x,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b,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*y,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*z",</a:t>
            </a:r>
          </a:p>
          <a:p>
            <a:pPr>
              <a:spcAft>
                <a:spcPts val="400"/>
              </a:spcAft>
            </a:pPr>
            <a:r>
              <a:rPr lang="es-AR" sz="1800" dirty="0">
                <a:solidFill>
                  <a:schemeClr val="tx1">
                    <a:lumMod val="50000"/>
                    <a:lumOff val="50000"/>
                  </a:schemeClr>
                </a:solidFill>
                <a:latin typeface="Consolas" charset="0"/>
                <a:cs typeface="Monaco" charset="0"/>
              </a:rPr>
              <a:t>			"z[i] = a*x[i</a:t>
            </a:r>
            <a:r>
              <a:rPr lang="es-AR" sz="1800" dirty="0" smtClean="0">
                <a:solidFill>
                  <a:schemeClr val="tx1">
                    <a:lumMod val="50000"/>
                    <a:lumOff val="50000"/>
                  </a:schemeClr>
                </a:solidFill>
                <a:latin typeface="Consolas" charset="0"/>
                <a:cs typeface="Monaco" charset="0"/>
              </a:rPr>
              <a:t>] + </a:t>
            </a:r>
            <a:r>
              <a:rPr lang="es-AR" sz="1800" dirty="0">
                <a:solidFill>
                  <a:schemeClr val="tx1">
                    <a:lumMod val="50000"/>
                    <a:lumOff val="50000"/>
                  </a:schemeClr>
                </a:solidFill>
                <a:latin typeface="Consolas" charset="0"/>
                <a:cs typeface="Monaco" charset="0"/>
              </a:rPr>
              <a:t>b*y[i]",</a:t>
            </a:r>
          </a:p>
          <a:p>
            <a:pPr>
              <a:spcAft>
                <a:spcPts val="400"/>
              </a:spcAft>
            </a:pP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linear_combination</a:t>
            </a:r>
            <a:r>
              <a:rPr lang="es-AR" sz="1800" dirty="0">
                <a:solidFill>
                  <a:schemeClr val="tx1">
                    <a:lumMod val="50000"/>
                    <a:lumOff val="50000"/>
                  </a:schemeClr>
                </a:solidFill>
                <a:latin typeface="Consolas" charset="0"/>
                <a:cs typeface="Monaco" charset="0"/>
              </a:rPr>
              <a:t>"</a:t>
            </a:r>
            <a:r>
              <a:rPr lang="es-AR" sz="1800" dirty="0" smtClean="0">
                <a:latin typeface="Consolas" charset="0"/>
                <a:cs typeface="Monaco" charset="0"/>
              </a:rPr>
              <a:t> </a:t>
            </a:r>
            <a:r>
              <a:rPr lang="es-AR" sz="1800" dirty="0">
                <a:latin typeface="Consolas" charset="0"/>
                <a:cs typeface="Monaco" charset="0"/>
              </a:rPr>
              <a:t>)</a:t>
            </a:r>
          </a:p>
          <a:p>
            <a:pPr>
              <a:spcAft>
                <a:spcPts val="400"/>
              </a:spcAft>
            </a:pPr>
            <a:r>
              <a:rPr lang="es-AR" sz="1800" dirty="0">
                <a:latin typeface="Consolas" charset="0"/>
                <a:cs typeface="Monaco" charset="0"/>
              </a:rPr>
              <a:t/>
            </a:r>
            <a:br>
              <a:rPr lang="es-AR" sz="1800" dirty="0">
                <a:latin typeface="Consolas" charset="0"/>
                <a:cs typeface="Monaco" charset="0"/>
              </a:rPr>
            </a:br>
            <a:endParaRPr lang="es-AR" sz="1800" dirty="0">
              <a:latin typeface="Consolas" charset="0"/>
              <a:cs typeface="Monaco" charset="0"/>
            </a:endParaRPr>
          </a:p>
          <a:p>
            <a:pPr>
              <a:spcAft>
                <a:spcPts val="400"/>
              </a:spcAft>
            </a:pPr>
            <a:r>
              <a:rPr lang="es-AR" sz="1800" dirty="0" err="1">
                <a:latin typeface="Consolas" charset="0"/>
                <a:cs typeface="Monaco" charset="0"/>
              </a:rPr>
              <a:t>c_gpu</a:t>
            </a:r>
            <a:r>
              <a:rPr lang="es-AR" sz="1800" dirty="0">
                <a:latin typeface="Consolas" charset="0"/>
                <a:cs typeface="Monaco" charset="0"/>
              </a:rPr>
              <a:t> = </a:t>
            </a:r>
            <a:r>
              <a:rPr lang="es-AR" sz="1800" dirty="0" err="1">
                <a:latin typeface="Consolas" charset="0"/>
                <a:cs typeface="Monaco" charset="0"/>
              </a:rPr>
              <a:t>gpuarray.empty_like</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a:latin typeface="Consolas" charset="0"/>
                <a:cs typeface="Monaco" charset="0"/>
              </a:rPr>
              <a:t>lin_comb</a:t>
            </a:r>
            <a:r>
              <a:rPr lang="es-AR" sz="1800" dirty="0">
                <a:latin typeface="Consolas" charset="0"/>
                <a:cs typeface="Monaco" charset="0"/>
              </a:rPr>
              <a:t>(5, </a:t>
            </a:r>
            <a:r>
              <a:rPr lang="es-AR" sz="1800" dirty="0" err="1">
                <a:latin typeface="Consolas" charset="0"/>
                <a:cs typeface="Monaco" charset="0"/>
              </a:rPr>
              <a:t>a_gpu</a:t>
            </a:r>
            <a:r>
              <a:rPr lang="es-AR" sz="1800" dirty="0">
                <a:latin typeface="Consolas" charset="0"/>
                <a:cs typeface="Monaco" charset="0"/>
              </a:rPr>
              <a:t>, 6, </a:t>
            </a:r>
            <a:r>
              <a:rPr lang="es-AR" sz="1800" dirty="0" err="1">
                <a:latin typeface="Consolas" charset="0"/>
                <a:cs typeface="Monaco" charset="0"/>
              </a:rPr>
              <a:t>b_gpu</a:t>
            </a:r>
            <a:r>
              <a:rPr lang="es-AR" sz="1800" dirty="0">
                <a:latin typeface="Consolas" charset="0"/>
                <a:cs typeface="Monaco" charset="0"/>
              </a:rPr>
              <a:t>, </a:t>
            </a:r>
            <a:r>
              <a:rPr lang="es-AR" sz="1800" dirty="0" err="1">
                <a:latin typeface="Consolas" charset="0"/>
                <a:cs typeface="Monaco" charset="0"/>
              </a:rPr>
              <a:t>c_gpu</a:t>
            </a:r>
            <a:r>
              <a:rPr lang="es-AR" sz="1800" dirty="0">
                <a:latin typeface="Consolas" charset="0"/>
                <a:cs typeface="Monaco" charset="0"/>
              </a:rPr>
              <a:t>)</a:t>
            </a:r>
          </a:p>
          <a:p>
            <a:pPr>
              <a:spcAft>
                <a:spcPts val="400"/>
              </a:spcAft>
            </a:pPr>
            <a:endParaRPr lang="es-AR" sz="1800" dirty="0"/>
          </a:p>
          <a:p>
            <a:pPr>
              <a:spcAft>
                <a:spcPts val="400"/>
              </a:spcAft>
            </a:pPr>
            <a:r>
              <a:rPr lang="en-US" sz="1800" b="1" dirty="0">
                <a:solidFill>
                  <a:srgbClr val="00B050"/>
                </a:solidFill>
                <a:latin typeface="Consolas" charset="0"/>
                <a:cs typeface="Monaco" charset="0"/>
              </a:rPr>
              <a:t>print</a:t>
            </a:r>
            <a:r>
              <a:rPr lang="en-US" sz="1800" dirty="0">
                <a:latin typeface="Consolas" charset="0"/>
                <a:cs typeface="Monaco" charset="0"/>
              </a:rPr>
              <a:t>(</a:t>
            </a:r>
            <a:r>
              <a:rPr lang="en-US" sz="1800" dirty="0" err="1">
                <a:latin typeface="Consolas" charset="0"/>
                <a:cs typeface="Monaco" charset="0"/>
              </a:rPr>
              <a:t>np.all</a:t>
            </a:r>
            <a:r>
              <a:rPr lang="en-US" sz="1800" dirty="0">
                <a:latin typeface="Consolas" charset="0"/>
                <a:cs typeface="Monaco" charset="0"/>
              </a:rPr>
              <a:t>((</a:t>
            </a:r>
            <a:r>
              <a:rPr lang="en-US" sz="1800" dirty="0" err="1">
                <a:latin typeface="Consolas" charset="0"/>
                <a:cs typeface="Monaco" charset="0"/>
              </a:rPr>
              <a:t>c_gpu</a:t>
            </a:r>
            <a:r>
              <a:rPr lang="en-US" sz="1800" dirty="0">
                <a:latin typeface="Consolas" charset="0"/>
                <a:cs typeface="Monaco" charset="0"/>
              </a:rPr>
              <a:t> - (5*a_gpu+6*</a:t>
            </a:r>
            <a:r>
              <a:rPr lang="en-US" sz="1800" dirty="0" err="1">
                <a:latin typeface="Consolas" charset="0"/>
                <a:cs typeface="Monaco" charset="0"/>
              </a:rPr>
              <a:t>b_gpu</a:t>
            </a:r>
            <a:r>
              <a:rPr lang="en-US" sz="1800" dirty="0">
                <a:latin typeface="Consolas" charset="0"/>
                <a:cs typeface="Monaco" charset="0"/>
              </a:rPr>
              <a:t>)).get() &lt; 1e-6))</a:t>
            </a:r>
            <a:endParaRPr lang="es-AR" sz="1800" dirty="0">
              <a:latin typeface="Consolas" charset="0"/>
              <a:cs typeface="Monaco" charset="0"/>
            </a:endParaRPr>
          </a:p>
        </p:txBody>
      </p:sp>
      <p:sp>
        <p:nvSpPr>
          <p:cNvPr id="4" name="Rectángulo 3"/>
          <p:cNvSpPr/>
          <p:nvPr/>
        </p:nvSpPr>
        <p:spPr>
          <a:xfrm>
            <a:off x="6814913" y="181237"/>
            <a:ext cx="2820003"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ejemplo_elementwise.py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21373817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pycuda.gpuarray</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gpuarray</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pycuda.autoinit</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from</a:t>
            </a:r>
            <a:r>
              <a:rPr lang="es-AR" sz="1800" dirty="0">
                <a:latin typeface="Consolas" charset="0"/>
                <a:cs typeface="Monaco" charset="0"/>
              </a:rPr>
              <a:t> </a:t>
            </a:r>
            <a:r>
              <a:rPr lang="es-AR" sz="1800" b="1" dirty="0" err="1">
                <a:solidFill>
                  <a:srgbClr val="0070C0"/>
                </a:solidFill>
                <a:latin typeface="Consolas" charset="0"/>
                <a:cs typeface="Monaco" charset="0"/>
              </a:rPr>
              <a:t>pycuda.elementwise</a:t>
            </a:r>
            <a:r>
              <a:rPr lang="es-AR" sz="1800" dirty="0">
                <a:latin typeface="Consolas" charset="0"/>
                <a:cs typeface="Monaco" charset="0"/>
              </a:rPr>
              <a:t> </a:t>
            </a: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ElementwiseKernel</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from</a:t>
            </a:r>
            <a:r>
              <a:rPr lang="es-AR" sz="1800" dirty="0">
                <a:latin typeface="Consolas" charset="0"/>
                <a:cs typeface="Monaco" charset="0"/>
              </a:rPr>
              <a:t> </a:t>
            </a:r>
            <a:r>
              <a:rPr lang="es-AR" sz="1800" b="1" dirty="0" err="1">
                <a:solidFill>
                  <a:srgbClr val="0070C0"/>
                </a:solidFill>
                <a:latin typeface="Consolas" charset="0"/>
                <a:cs typeface="Monaco" charset="0"/>
              </a:rPr>
              <a:t>pycuda.curandom</a:t>
            </a:r>
            <a:r>
              <a:rPr lang="es-AR" sz="1800" dirty="0">
                <a:latin typeface="Consolas" charset="0"/>
                <a:cs typeface="Monaco" charset="0"/>
              </a:rPr>
              <a:t> </a:t>
            </a: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a:solidFill>
                  <a:srgbClr val="0070C0"/>
                </a:solidFill>
                <a:latin typeface="Consolas" charset="0"/>
                <a:cs typeface="Monaco" charset="0"/>
              </a:rPr>
              <a:t>rand</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smtClean="0">
                <a:solidFill>
                  <a:srgbClr val="0070C0"/>
                </a:solidFill>
                <a:latin typeface="Consolas" charset="0"/>
                <a:cs typeface="Monaco" charset="0"/>
              </a:rPr>
              <a:t>curand</a:t>
            </a:r>
            <a:endParaRPr lang="es-AR" sz="1800" b="1" dirty="0" smtClean="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b="1" dirty="0">
                <a:solidFill>
                  <a:srgbClr val="0070C0"/>
                </a:solidFill>
                <a:latin typeface="Consolas" charset="0"/>
                <a:cs typeface="Monaco" charset="0"/>
              </a:rPr>
              <a:t> </a:t>
            </a:r>
            <a:r>
              <a:rPr lang="es-AR" sz="1800" b="1" dirty="0" err="1">
                <a:solidFill>
                  <a:srgbClr val="0070C0"/>
                </a:solidFill>
                <a:latin typeface="Consolas" charset="0"/>
                <a:cs typeface="Monaco" charset="0"/>
              </a:rPr>
              <a:t>numpy</a:t>
            </a:r>
            <a:r>
              <a:rPr lang="es-AR" sz="1800" b="1" dirty="0">
                <a:solidFill>
                  <a:srgbClr val="0070C0"/>
                </a:solidFill>
                <a:latin typeface="Consolas" charset="0"/>
                <a:cs typeface="Monaco" charset="0"/>
              </a:rPr>
              <a:t> </a:t>
            </a:r>
            <a:r>
              <a:rPr lang="es-AR" sz="1800" b="1" dirty="0">
                <a:solidFill>
                  <a:srgbClr val="00B050"/>
                </a:solidFill>
                <a:latin typeface="Consolas" charset="0"/>
                <a:cs typeface="Monaco" charset="0"/>
              </a:rPr>
              <a:t>as</a:t>
            </a:r>
            <a:r>
              <a:rPr lang="es-AR" sz="1800" b="1" dirty="0">
                <a:solidFill>
                  <a:srgbClr val="0070C0"/>
                </a:solidFill>
                <a:latin typeface="Consolas" charset="0"/>
                <a:cs typeface="Monaco" charset="0"/>
              </a:rPr>
              <a:t> </a:t>
            </a:r>
            <a:r>
              <a:rPr lang="es-AR" sz="1800" b="1" dirty="0" err="1" smtClean="0">
                <a:solidFill>
                  <a:srgbClr val="0070C0"/>
                </a:solidFill>
                <a:latin typeface="Consolas" charset="0"/>
                <a:cs typeface="Monaco" charset="0"/>
              </a:rPr>
              <a:t>np</a:t>
            </a:r>
            <a:endParaRPr lang="es-AR" sz="1800" b="1" dirty="0" smtClean="0">
              <a:solidFill>
                <a:srgbClr val="0070C0"/>
              </a:solidFill>
              <a:latin typeface="Consolas" charset="0"/>
              <a:cs typeface="Monaco" charset="0"/>
            </a:endParaRPr>
          </a:p>
          <a:p>
            <a:pPr>
              <a:spcAft>
                <a:spcPts val="400"/>
              </a:spcAft>
            </a:pPr>
            <a:r>
              <a:rPr lang="es-AR" sz="1800" b="1" dirty="0" err="1">
                <a:solidFill>
                  <a:srgbClr val="0070C0"/>
                </a:solidFill>
                <a:latin typeface="Consolas" charset="0"/>
                <a:cs typeface="Monaco" charset="0"/>
              </a:rPr>
              <a:t>import</a:t>
            </a:r>
            <a:r>
              <a:rPr lang="es-AR" sz="1800" b="1" dirty="0">
                <a:solidFill>
                  <a:srgbClr val="0070C0"/>
                </a:solidFill>
                <a:latin typeface="Consolas" charset="0"/>
                <a:cs typeface="Monaco" charset="0"/>
              </a:rPr>
              <a:t> </a:t>
            </a:r>
            <a:r>
              <a:rPr lang="es-AR" sz="1800" b="1" dirty="0" err="1">
                <a:solidFill>
                  <a:srgbClr val="0070C0"/>
                </a:solidFill>
                <a:latin typeface="Consolas" charset="0"/>
                <a:cs typeface="Monaco" charset="0"/>
              </a:rPr>
              <a:t>pycuda.cumath</a:t>
            </a:r>
            <a:r>
              <a:rPr lang="es-AR" sz="1800" b="1" dirty="0">
                <a:solidFill>
                  <a:srgbClr val="0070C0"/>
                </a:solidFill>
                <a:latin typeface="Consolas" charset="0"/>
                <a:cs typeface="Monaco" charset="0"/>
              </a:rPr>
              <a:t> as </a:t>
            </a:r>
            <a:r>
              <a:rPr lang="es-AR" sz="1800" b="1" dirty="0" err="1">
                <a:solidFill>
                  <a:srgbClr val="0070C0"/>
                </a:solidFill>
                <a:latin typeface="Consolas" charset="0"/>
                <a:cs typeface="Monaco" charset="0"/>
              </a:rPr>
              <a:t>cumath</a:t>
            </a:r>
            <a:endParaRPr lang="es-AR" sz="1800" b="1" dirty="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smtClean="0">
                <a:latin typeface="Consolas" charset="0"/>
                <a:cs typeface="Monaco" charset="0"/>
              </a:rPr>
              <a:t>lin_comb</a:t>
            </a:r>
            <a:r>
              <a:rPr lang="es-AR" sz="1800" dirty="0" smtClean="0">
                <a:latin typeface="Consolas" charset="0"/>
                <a:cs typeface="Monaco" charset="0"/>
              </a:rPr>
              <a:t> </a:t>
            </a:r>
            <a:r>
              <a:rPr lang="es-AR" sz="1800" dirty="0">
                <a:latin typeface="Consolas" charset="0"/>
                <a:cs typeface="Monaco" charset="0"/>
              </a:rPr>
              <a:t>= </a:t>
            </a:r>
            <a:r>
              <a:rPr lang="es-AR" sz="1800" dirty="0" err="1">
                <a:latin typeface="Consolas" charset="0"/>
                <a:cs typeface="Monaco" charset="0"/>
              </a:rPr>
              <a:t>ElementwiseKernel</a:t>
            </a:r>
            <a:r>
              <a:rPr lang="es-AR" sz="1800" dirty="0">
                <a:latin typeface="Consolas" charset="0"/>
                <a:cs typeface="Monaco" charset="0"/>
              </a:rPr>
              <a:t>(</a:t>
            </a:r>
          </a:p>
          <a:p>
            <a:pPr>
              <a:spcAft>
                <a:spcPts val="400"/>
              </a:spcAft>
            </a:pPr>
            <a:r>
              <a:rPr lang="es-AR" sz="1800" dirty="0">
                <a:latin typeface="Consolas" charset="0"/>
                <a:cs typeface="Monaco" charset="0"/>
              </a:rPr>
              <a:t>        </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a,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*x,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b,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*y,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*z",</a:t>
            </a:r>
          </a:p>
          <a:p>
            <a:pPr>
              <a:spcAft>
                <a:spcPts val="400"/>
              </a:spcAft>
            </a:pPr>
            <a:r>
              <a:rPr lang="es-AR" sz="1800" dirty="0">
                <a:solidFill>
                  <a:schemeClr val="tx1">
                    <a:lumMod val="50000"/>
                    <a:lumOff val="50000"/>
                  </a:schemeClr>
                </a:solidFill>
                <a:latin typeface="Consolas" charset="0"/>
                <a:cs typeface="Monaco" charset="0"/>
              </a:rPr>
              <a:t>        "z[i] = </a:t>
            </a:r>
            <a:r>
              <a:rPr lang="es-AR" sz="1800" dirty="0" err="1">
                <a:solidFill>
                  <a:schemeClr val="tx1">
                    <a:lumMod val="50000"/>
                    <a:lumOff val="50000"/>
                  </a:schemeClr>
                </a:solidFill>
                <a:latin typeface="Consolas" charset="0"/>
                <a:cs typeface="Monaco" charset="0"/>
              </a:rPr>
              <a:t>my_f</a:t>
            </a:r>
            <a:r>
              <a:rPr lang="es-AR" sz="1800" dirty="0">
                <a:solidFill>
                  <a:schemeClr val="tx1">
                    <a:lumMod val="50000"/>
                    <a:lumOff val="50000"/>
                  </a:schemeClr>
                </a:solidFill>
                <a:latin typeface="Consolas" charset="0"/>
                <a:cs typeface="Monaco" charset="0"/>
              </a:rPr>
              <a:t>(a*x[i], b*y[i])",</a:t>
            </a:r>
          </a:p>
          <a:p>
            <a:pPr>
              <a:spcAft>
                <a:spcPts val="400"/>
              </a:spcAft>
            </a:pP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linear_combination</a:t>
            </a:r>
            <a:r>
              <a:rPr lang="es-AR" sz="1800" dirty="0">
                <a:solidFill>
                  <a:schemeClr val="tx1">
                    <a:lumMod val="50000"/>
                    <a:lumOff val="50000"/>
                  </a:schemeClr>
                </a:solidFill>
                <a:latin typeface="Consolas" charset="0"/>
                <a:cs typeface="Monaco" charset="0"/>
              </a:rPr>
              <a:t>",</a:t>
            </a:r>
          </a:p>
          <a:p>
            <a:pPr>
              <a:spcAft>
                <a:spcPts val="400"/>
              </a:spcAft>
            </a:pPr>
            <a:r>
              <a:rPr lang="es-AR" sz="1800" dirty="0">
                <a:solidFill>
                  <a:schemeClr val="tx1">
                    <a:lumMod val="50000"/>
                    <a:lumOff val="50000"/>
                  </a:schemeClr>
                </a:solidFill>
                <a:latin typeface="Consolas" charset="0"/>
                <a:cs typeface="Monaco" charset="0"/>
              </a:rPr>
              <a:t>        </a:t>
            </a:r>
            <a:r>
              <a:rPr lang="es-AR" sz="1800" i="1" dirty="0" err="1">
                <a:solidFill>
                  <a:srgbClr val="D97225"/>
                </a:solidFill>
                <a:latin typeface="Consolas" charset="0"/>
                <a:cs typeface="Monaco" charset="0"/>
              </a:rPr>
              <a:t>preamble</a:t>
            </a:r>
            <a:r>
              <a:rPr lang="es-AR" sz="1800" dirty="0">
                <a:solidFill>
                  <a:schemeClr val="tx1">
                    <a:lumMod val="50000"/>
                    <a:lumOff val="50000"/>
                  </a:schemeClr>
                </a:solidFill>
                <a:latin typeface="Consolas" charset="0"/>
                <a:cs typeface="Monaco" charset="0"/>
              </a:rPr>
              <a:t>="""</a:t>
            </a:r>
          </a:p>
          <a:p>
            <a:pPr>
              <a:spcAft>
                <a:spcPts val="400"/>
              </a:spcAft>
            </a:pPr>
            <a:r>
              <a:rPr lang="es-AR" sz="1800" dirty="0">
                <a:solidFill>
                  <a:schemeClr val="tx1">
                    <a:lumMod val="50000"/>
                    <a:lumOff val="50000"/>
                  </a:schemeClr>
                </a:solidFill>
                <a:latin typeface="Consolas" charset="0"/>
                <a:cs typeface="Monaco" charset="0"/>
              </a:rPr>
              <a:t>        __</a:t>
            </a:r>
            <a:r>
              <a:rPr lang="es-AR" sz="1800" dirty="0" err="1">
                <a:solidFill>
                  <a:schemeClr val="tx1">
                    <a:lumMod val="50000"/>
                    <a:lumOff val="50000"/>
                  </a:schemeClr>
                </a:solidFill>
                <a:latin typeface="Consolas" charset="0"/>
                <a:cs typeface="Monaco" charset="0"/>
              </a:rPr>
              <a:t>device</a:t>
            </a:r>
            <a:r>
              <a:rPr lang="es-AR" sz="1800" dirty="0">
                <a:solidFill>
                  <a:schemeClr val="tx1">
                    <a:lumMod val="50000"/>
                    <a:lumOff val="50000"/>
                  </a:schemeClr>
                </a:solidFill>
                <a:latin typeface="Consolas" charset="0"/>
                <a:cs typeface="Monaco" charset="0"/>
              </a:rPr>
              <a:t>__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my_f</a:t>
            </a:r>
            <a:r>
              <a:rPr lang="es-AR" sz="1800" dirty="0">
                <a:solidFill>
                  <a:schemeClr val="tx1">
                    <a:lumMod val="50000"/>
                    <a:lumOff val="50000"/>
                  </a:schemeClr>
                </a:solidFill>
                <a:latin typeface="Consolas" charset="0"/>
                <a:cs typeface="Monaco" charset="0"/>
              </a:rPr>
              <a:t>(</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x, </a:t>
            </a:r>
            <a:r>
              <a:rPr lang="es-AR" sz="1800" dirty="0" err="1">
                <a:solidFill>
                  <a:schemeClr val="tx1">
                    <a:lumMod val="50000"/>
                    <a:lumOff val="50000"/>
                  </a:schemeClr>
                </a:solidFill>
                <a:latin typeface="Consolas" charset="0"/>
                <a:cs typeface="Monaco" charset="0"/>
              </a:rPr>
              <a:t>float</a:t>
            </a:r>
            <a:r>
              <a:rPr lang="es-AR" sz="1800" dirty="0">
                <a:solidFill>
                  <a:schemeClr val="tx1">
                    <a:lumMod val="50000"/>
                    <a:lumOff val="50000"/>
                  </a:schemeClr>
                </a:solidFill>
                <a:latin typeface="Consolas" charset="0"/>
                <a:cs typeface="Monaco" charset="0"/>
              </a:rPr>
              <a:t> y)</a:t>
            </a:r>
          </a:p>
          <a:p>
            <a:pPr>
              <a:spcAft>
                <a:spcPts val="400"/>
              </a:spcAft>
            </a:pPr>
            <a:r>
              <a:rPr lang="es-AR" sz="1800" dirty="0">
                <a:solidFill>
                  <a:schemeClr val="tx1">
                    <a:lumMod val="50000"/>
                    <a:lumOff val="50000"/>
                  </a:schemeClr>
                </a:solidFill>
                <a:latin typeface="Consolas" charset="0"/>
                <a:cs typeface="Monaco" charset="0"/>
              </a:rPr>
              <a:t>        { </a:t>
            </a:r>
          </a:p>
          <a:p>
            <a:pPr>
              <a:spcAft>
                <a:spcPts val="400"/>
              </a:spcAft>
            </a:pPr>
            <a:r>
              <a:rPr lang="es-AR" sz="1800" dirty="0">
                <a:solidFill>
                  <a:schemeClr val="tx1">
                    <a:lumMod val="50000"/>
                    <a:lumOff val="50000"/>
                  </a:schemeClr>
                </a:solidFill>
                <a:latin typeface="Consolas" charset="0"/>
                <a:cs typeface="Monaco" charset="0"/>
              </a:rPr>
              <a:t>          </a:t>
            </a:r>
            <a:r>
              <a:rPr lang="es-AR" sz="1800" dirty="0" err="1">
                <a:solidFill>
                  <a:schemeClr val="tx1">
                    <a:lumMod val="50000"/>
                    <a:lumOff val="50000"/>
                  </a:schemeClr>
                </a:solidFill>
                <a:latin typeface="Consolas" charset="0"/>
                <a:cs typeface="Monaco" charset="0"/>
              </a:rPr>
              <a:t>return</a:t>
            </a:r>
            <a:r>
              <a:rPr lang="es-AR" sz="1800" dirty="0">
                <a:solidFill>
                  <a:schemeClr val="tx1">
                    <a:lumMod val="50000"/>
                    <a:lumOff val="50000"/>
                  </a:schemeClr>
                </a:solidFill>
                <a:latin typeface="Consolas" charset="0"/>
                <a:cs typeface="Monaco" charset="0"/>
              </a:rPr>
              <a:t> sin(x*y);</a:t>
            </a:r>
          </a:p>
          <a:p>
            <a:pPr>
              <a:spcAft>
                <a:spcPts val="400"/>
              </a:spcAft>
            </a:pPr>
            <a:r>
              <a:rPr lang="es-AR" sz="1800" dirty="0">
                <a:solidFill>
                  <a:schemeClr val="tx1">
                    <a:lumMod val="50000"/>
                    <a:lumOff val="50000"/>
                  </a:schemeClr>
                </a:solidFill>
                <a:latin typeface="Consolas" charset="0"/>
                <a:cs typeface="Monaco" charset="0"/>
              </a:rPr>
              <a:t>        }</a:t>
            </a:r>
          </a:p>
          <a:p>
            <a:pPr>
              <a:spcAft>
                <a:spcPts val="400"/>
              </a:spcAft>
            </a:pPr>
            <a:r>
              <a:rPr lang="es-AR" sz="1800" dirty="0">
                <a:solidFill>
                  <a:schemeClr val="tx1">
                    <a:lumMod val="50000"/>
                    <a:lumOff val="50000"/>
                  </a:schemeClr>
                </a:solidFill>
                <a:latin typeface="Consolas" charset="0"/>
                <a:cs typeface="Monaco" charset="0"/>
              </a:rPr>
              <a:t>        </a:t>
            </a:r>
            <a:r>
              <a:rPr lang="es-AR" sz="1800" dirty="0">
                <a:solidFill>
                  <a:schemeClr val="tx1">
                    <a:lumMod val="50000"/>
                    <a:lumOff val="50000"/>
                  </a:schemeClr>
                </a:solidFill>
                <a:latin typeface="Consolas" charset="0"/>
                <a:cs typeface="Monaco" charset="0"/>
              </a:rPr>
              <a:t>"""</a:t>
            </a:r>
            <a:r>
              <a:rPr lang="es-AR" sz="1800" dirty="0" smtClean="0">
                <a:latin typeface="Consolas" charset="0"/>
                <a:cs typeface="Monaco" charset="0"/>
              </a:rPr>
              <a:t>)</a:t>
            </a:r>
          </a:p>
          <a:p>
            <a:pPr>
              <a:spcAft>
                <a:spcPts val="400"/>
              </a:spcAft>
            </a:pPr>
            <a:endParaRPr lang="es-AR" sz="1800" dirty="0">
              <a:latin typeface="Consolas" charset="0"/>
              <a:cs typeface="Monaco" charset="0"/>
            </a:endParaRPr>
          </a:p>
        </p:txBody>
      </p:sp>
      <p:sp>
        <p:nvSpPr>
          <p:cNvPr id="4" name="Rectángulo 3"/>
          <p:cNvSpPr/>
          <p:nvPr/>
        </p:nvSpPr>
        <p:spPr>
          <a:xfrm>
            <a:off x="6624488" y="181237"/>
            <a:ext cx="3204723"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ejemplo_elementwise_02.py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17065952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575816" y="539477"/>
            <a:ext cx="9059100" cy="6626536"/>
          </a:xfrm>
          <a:ln cap="flat">
            <a:solidFill>
              <a:srgbClr val="999999"/>
            </a:solidFill>
            <a:round/>
            <a:headEnd/>
            <a:tailEnd/>
          </a:ln>
        </p:spPr>
        <p:txBody>
          <a:bodyPr lIns="108000" tIns="142272" rIns="108000" bIns="108000"/>
          <a:lstStyle/>
          <a:p>
            <a:pPr>
              <a:spcAft>
                <a:spcPts val="400"/>
              </a:spcAft>
            </a:pPr>
            <a:r>
              <a:rPr lang="pt-BR" sz="1800" dirty="0" err="1">
                <a:latin typeface="Consolas" charset="0"/>
                <a:cs typeface="Monaco" charset="0"/>
              </a:rPr>
              <a:t>a_gpu</a:t>
            </a:r>
            <a:r>
              <a:rPr lang="pt-BR" sz="1800" dirty="0">
                <a:latin typeface="Consolas" charset="0"/>
                <a:cs typeface="Monaco" charset="0"/>
              </a:rPr>
              <a:t> = </a:t>
            </a:r>
            <a:r>
              <a:rPr lang="pt-BR" sz="1800" dirty="0" err="1">
                <a:latin typeface="Consolas" charset="0"/>
                <a:cs typeface="Monaco" charset="0"/>
              </a:rPr>
              <a:t>curand</a:t>
            </a:r>
            <a:r>
              <a:rPr lang="pt-BR" sz="1800" dirty="0">
                <a:latin typeface="Consolas" charset="0"/>
                <a:cs typeface="Monaco" charset="0"/>
              </a:rPr>
              <a:t>((50,))</a:t>
            </a:r>
          </a:p>
          <a:p>
            <a:pPr>
              <a:spcAft>
                <a:spcPts val="400"/>
              </a:spcAft>
            </a:pPr>
            <a:r>
              <a:rPr lang="pt-BR" sz="1800" dirty="0" err="1">
                <a:latin typeface="Consolas" charset="0"/>
                <a:cs typeface="Monaco" charset="0"/>
              </a:rPr>
              <a:t>b_gpu</a:t>
            </a:r>
            <a:r>
              <a:rPr lang="pt-BR" sz="1800" dirty="0">
                <a:latin typeface="Consolas" charset="0"/>
                <a:cs typeface="Monaco" charset="0"/>
              </a:rPr>
              <a:t> = </a:t>
            </a:r>
            <a:r>
              <a:rPr lang="pt-BR" sz="1800" dirty="0" err="1">
                <a:latin typeface="Consolas" charset="0"/>
                <a:cs typeface="Monaco" charset="0"/>
              </a:rPr>
              <a:t>curand</a:t>
            </a:r>
            <a:r>
              <a:rPr lang="pt-BR" sz="1800" dirty="0">
                <a:latin typeface="Consolas" charset="0"/>
                <a:cs typeface="Monaco" charset="0"/>
              </a:rPr>
              <a:t>((50</a:t>
            </a:r>
            <a:r>
              <a:rPr lang="pt-BR" sz="1800" dirty="0">
                <a:latin typeface="Consolas" charset="0"/>
                <a:cs typeface="Monaco" charset="0"/>
              </a:rPr>
              <a:t>,))</a:t>
            </a:r>
          </a:p>
          <a:p>
            <a:pPr>
              <a:spcAft>
                <a:spcPts val="400"/>
              </a:spcAft>
            </a:pPr>
            <a:endParaRPr lang="pt-BR" sz="1800" b="1" dirty="0">
              <a:solidFill>
                <a:srgbClr val="00B050"/>
              </a:solidFill>
              <a:latin typeface="Consolas" charset="0"/>
              <a:cs typeface="Monaco" charset="0"/>
            </a:endParaRPr>
          </a:p>
          <a:p>
            <a:pPr>
              <a:spcAft>
                <a:spcPts val="400"/>
              </a:spcAft>
            </a:pPr>
            <a:r>
              <a:rPr lang="es-AR" sz="1800" dirty="0" err="1">
                <a:latin typeface="Consolas" charset="0"/>
                <a:cs typeface="Monaco" charset="0"/>
              </a:rPr>
              <a:t>c_gpu</a:t>
            </a:r>
            <a:r>
              <a:rPr lang="es-AR" sz="1800" dirty="0">
                <a:latin typeface="Consolas" charset="0"/>
                <a:cs typeface="Monaco" charset="0"/>
              </a:rPr>
              <a:t> = </a:t>
            </a:r>
            <a:r>
              <a:rPr lang="es-AR" sz="1800" dirty="0" err="1">
                <a:latin typeface="Consolas" charset="0"/>
                <a:cs typeface="Monaco" charset="0"/>
              </a:rPr>
              <a:t>gpuarray.empty_like</a:t>
            </a:r>
            <a:r>
              <a:rPr lang="es-AR" sz="1800" dirty="0">
                <a:latin typeface="Consolas" charset="0"/>
                <a:cs typeface="Monaco" charset="0"/>
              </a:rPr>
              <a:t>(</a:t>
            </a:r>
            <a:r>
              <a:rPr lang="es-AR" sz="1800" dirty="0" err="1">
                <a:latin typeface="Consolas" charset="0"/>
                <a:cs typeface="Monaco" charset="0"/>
              </a:rPr>
              <a:t>a_gpu</a:t>
            </a:r>
            <a:r>
              <a:rPr lang="es-AR" sz="1800" dirty="0">
                <a:latin typeface="Consolas" charset="0"/>
                <a:cs typeface="Monaco" charset="0"/>
              </a:rPr>
              <a:t>)</a:t>
            </a:r>
          </a:p>
          <a:p>
            <a:pPr>
              <a:spcAft>
                <a:spcPts val="400"/>
              </a:spcAft>
            </a:pPr>
            <a:r>
              <a:rPr lang="es-AR" sz="1800" dirty="0" err="1">
                <a:latin typeface="Consolas" charset="0"/>
                <a:cs typeface="Monaco" charset="0"/>
              </a:rPr>
              <a:t>lin_comb</a:t>
            </a:r>
            <a:r>
              <a:rPr lang="es-AR" sz="1800" dirty="0">
                <a:latin typeface="Consolas" charset="0"/>
                <a:cs typeface="Monaco" charset="0"/>
              </a:rPr>
              <a:t>(5, </a:t>
            </a:r>
            <a:r>
              <a:rPr lang="es-AR" sz="1800" dirty="0" err="1">
                <a:latin typeface="Consolas" charset="0"/>
                <a:cs typeface="Monaco" charset="0"/>
              </a:rPr>
              <a:t>a_gpu</a:t>
            </a:r>
            <a:r>
              <a:rPr lang="es-AR" sz="1800" dirty="0">
                <a:latin typeface="Consolas" charset="0"/>
                <a:cs typeface="Monaco" charset="0"/>
              </a:rPr>
              <a:t>, 6, </a:t>
            </a:r>
            <a:r>
              <a:rPr lang="es-AR" sz="1800" dirty="0" err="1">
                <a:latin typeface="Consolas" charset="0"/>
                <a:cs typeface="Monaco" charset="0"/>
              </a:rPr>
              <a:t>b_gpu</a:t>
            </a:r>
            <a:r>
              <a:rPr lang="es-AR" sz="1800" dirty="0">
                <a:latin typeface="Consolas" charset="0"/>
                <a:cs typeface="Monaco" charset="0"/>
              </a:rPr>
              <a:t>, </a:t>
            </a:r>
            <a:r>
              <a:rPr lang="es-AR" sz="1800" dirty="0" err="1">
                <a:latin typeface="Consolas" charset="0"/>
                <a:cs typeface="Monaco" charset="0"/>
              </a:rPr>
              <a:t>c_gpu</a:t>
            </a:r>
            <a:r>
              <a:rPr lang="es-AR" sz="1800" dirty="0">
                <a:latin typeface="Consolas" charset="0"/>
                <a:cs typeface="Monaco" charset="0"/>
              </a:rPr>
              <a:t>)</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print</a:t>
            </a:r>
            <a:r>
              <a:rPr lang="es-AR" sz="1800" dirty="0">
                <a:latin typeface="Consolas" charset="0"/>
                <a:cs typeface="Monaco" charset="0"/>
              </a:rPr>
              <a:t>(</a:t>
            </a:r>
            <a:r>
              <a:rPr lang="es-AR" sz="1800" dirty="0" err="1">
                <a:latin typeface="Consolas" charset="0"/>
                <a:cs typeface="Monaco" charset="0"/>
              </a:rPr>
              <a:t>np.all</a:t>
            </a:r>
            <a:r>
              <a:rPr lang="es-AR" sz="1800" dirty="0">
                <a:latin typeface="Consolas" charset="0"/>
                <a:cs typeface="Monaco" charset="0"/>
              </a:rPr>
              <a:t>((</a:t>
            </a:r>
            <a:r>
              <a:rPr lang="es-AR" sz="1800" dirty="0" err="1">
                <a:latin typeface="Consolas" charset="0"/>
                <a:cs typeface="Monaco" charset="0"/>
              </a:rPr>
              <a:t>c_gpu</a:t>
            </a:r>
            <a:r>
              <a:rPr lang="es-AR" sz="1800" dirty="0">
                <a:latin typeface="Consolas" charset="0"/>
                <a:cs typeface="Monaco" charset="0"/>
              </a:rPr>
              <a:t> - </a:t>
            </a:r>
            <a:r>
              <a:rPr lang="es-AR" sz="1800" dirty="0" err="1">
                <a:latin typeface="Consolas" charset="0"/>
                <a:cs typeface="Monaco" charset="0"/>
              </a:rPr>
              <a:t>cumath.sin</a:t>
            </a:r>
            <a:r>
              <a:rPr lang="es-AR" sz="1800" dirty="0">
                <a:latin typeface="Consolas" charset="0"/>
                <a:cs typeface="Monaco" charset="0"/>
              </a:rPr>
              <a:t>(5*</a:t>
            </a:r>
            <a:r>
              <a:rPr lang="es-AR" sz="1800" dirty="0" err="1">
                <a:latin typeface="Consolas" charset="0"/>
                <a:cs typeface="Monaco" charset="0"/>
              </a:rPr>
              <a:t>a_gpu</a:t>
            </a:r>
            <a:r>
              <a:rPr lang="es-AR" sz="1800" dirty="0">
                <a:latin typeface="Consolas" charset="0"/>
                <a:cs typeface="Monaco" charset="0"/>
              </a:rPr>
              <a:t>*6*</a:t>
            </a:r>
            <a:r>
              <a:rPr lang="es-AR" sz="1800" dirty="0" err="1">
                <a:latin typeface="Consolas" charset="0"/>
                <a:cs typeface="Monaco" charset="0"/>
              </a:rPr>
              <a:t>b_gpu</a:t>
            </a:r>
            <a:r>
              <a:rPr lang="es-AR" sz="1800" dirty="0">
                <a:latin typeface="Consolas" charset="0"/>
                <a:cs typeface="Monaco" charset="0"/>
              </a:rPr>
              <a:t>)).</a:t>
            </a:r>
            <a:r>
              <a:rPr lang="es-AR" sz="1800" dirty="0" err="1">
                <a:latin typeface="Consolas" charset="0"/>
                <a:cs typeface="Monaco" charset="0"/>
              </a:rPr>
              <a:t>get</a:t>
            </a:r>
            <a:r>
              <a:rPr lang="es-AR" sz="1800" dirty="0">
                <a:latin typeface="Consolas" charset="0"/>
                <a:cs typeface="Monaco" charset="0"/>
              </a:rPr>
              <a:t>() &lt; 1e-5))</a:t>
            </a:r>
          </a:p>
        </p:txBody>
      </p:sp>
      <p:sp>
        <p:nvSpPr>
          <p:cNvPr id="4" name="Rectángulo 3"/>
          <p:cNvSpPr/>
          <p:nvPr/>
        </p:nvSpPr>
        <p:spPr>
          <a:xfrm>
            <a:off x="5976416" y="181237"/>
            <a:ext cx="3858749"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ejemplo_elementwise_02.py (</a:t>
            </a:r>
            <a:r>
              <a:rPr lang="en-US" i="1" dirty="0" err="1" smtClean="0">
                <a:solidFill>
                  <a:srgbClr val="000000"/>
                </a:solidFill>
                <a:latin typeface="Gill Sans Light"/>
                <a:cs typeface="Gill Sans Light"/>
              </a:rPr>
              <a:t>cont</a:t>
            </a:r>
            <a:r>
              <a:rPr lang="en-US" i="1" dirty="0" smtClean="0">
                <a:solidFill>
                  <a:srgbClr val="000000"/>
                </a:solidFill>
                <a:latin typeface="Gill Sans Light"/>
                <a:cs typeface="Gill Sans Light"/>
              </a:rPr>
              <a:t>)</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19262307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59792" y="1835621"/>
            <a:ext cx="8856663" cy="7921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FFFFF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57096" rIns="90000" bIns="45000" anchor="ctr" anchorCtr="1"/>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5pPr>
            <a:lvl6pPr marL="25146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6pPr>
            <a:lvl7pPr marL="29718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7pPr>
            <a:lvl8pPr marL="34290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8pPr>
            <a:lvl9pPr marL="38862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9pPr>
          </a:lstStyle>
          <a:p>
            <a:pPr algn="ctr">
              <a:spcBef>
                <a:spcPts val="1200"/>
              </a:spcBef>
              <a:spcAft>
                <a:spcPts val="600"/>
              </a:spcAft>
            </a:pPr>
            <a:r>
              <a:rPr lang="es-AR" sz="2400" dirty="0" err="1">
                <a:latin typeface="Gill Sans Light"/>
                <a:cs typeface="Gill Sans Light"/>
              </a:rPr>
              <a:t>pycuda.reduction.ReductionKernel</a:t>
            </a:r>
            <a:r>
              <a:rPr lang="es-AR" sz="2400" dirty="0" smtClean="0">
                <a:latin typeface="Gill Sans Light"/>
                <a:cs typeface="Gill Sans Light"/>
              </a:rPr>
              <a:t>()</a:t>
            </a:r>
            <a:endParaRPr lang="es-AR" sz="2400" dirty="0">
              <a:solidFill>
                <a:srgbClr val="FFFFFF"/>
              </a:solidFill>
              <a:latin typeface="Gill Sans Light"/>
              <a:cs typeface="Gill Sans Light"/>
            </a:endParaRPr>
          </a:p>
        </p:txBody>
      </p:sp>
      <p:sp>
        <p:nvSpPr>
          <p:cNvPr id="3" name="Rectángulo 2"/>
          <p:cNvSpPr/>
          <p:nvPr/>
        </p:nvSpPr>
        <p:spPr>
          <a:xfrm>
            <a:off x="1439912" y="3203773"/>
            <a:ext cx="7488832" cy="1155957"/>
          </a:xfrm>
          <a:prstGeom prst="rect">
            <a:avLst/>
          </a:prstGeom>
        </p:spPr>
        <p:txBody>
          <a:bodyPr wrap="square">
            <a:spAutoFit/>
          </a:bodyPr>
          <a:lstStyle/>
          <a:p>
            <a:r>
              <a:rPr lang="en-US" i="1" dirty="0"/>
              <a:t>class </a:t>
            </a:r>
            <a:r>
              <a:rPr lang="en-US" dirty="0" err="1"/>
              <a:t>pycuda.reduction.</a:t>
            </a:r>
            <a:r>
              <a:rPr lang="en-US" b="1" dirty="0" err="1"/>
              <a:t>ReductionKernel</a:t>
            </a:r>
            <a:r>
              <a:rPr lang="en-US" dirty="0"/>
              <a:t>(</a:t>
            </a:r>
            <a:r>
              <a:rPr lang="en-US" dirty="0" err="1"/>
              <a:t>dtype_out</a:t>
            </a:r>
            <a:r>
              <a:rPr lang="en-US" dirty="0"/>
              <a:t>, neutral, </a:t>
            </a:r>
            <a:r>
              <a:rPr lang="en-US" dirty="0" smtClean="0"/>
              <a:t>  	</a:t>
            </a:r>
            <a:r>
              <a:rPr lang="en-US" dirty="0" err="1" smtClean="0"/>
              <a:t>reduce_expr</a:t>
            </a:r>
            <a:r>
              <a:rPr lang="en-US" dirty="0" smtClean="0"/>
              <a:t>, </a:t>
            </a:r>
            <a:r>
              <a:rPr lang="en-US" dirty="0" err="1" smtClean="0"/>
              <a:t>map_expr</a:t>
            </a:r>
            <a:r>
              <a:rPr lang="en-US" dirty="0" smtClean="0"/>
              <a:t>=None, arguments=None, 	name="</a:t>
            </a:r>
            <a:r>
              <a:rPr lang="en-US" dirty="0" err="1" smtClean="0"/>
              <a:t>reduce_kernel</a:t>
            </a:r>
            <a:r>
              <a:rPr lang="en-US" dirty="0" smtClean="0"/>
              <a:t>", keep=False, options=[], preamble="", 	allocator=None)</a:t>
            </a:r>
            <a:endParaRPr lang="en-US" dirty="0"/>
          </a:p>
        </p:txBody>
      </p:sp>
    </p:spTree>
    <p:extLst>
      <p:ext uri="{BB962C8B-B14F-4D97-AF65-F5344CB8AC3E}">
        <p14:creationId xmlns:p14="http://schemas.microsoft.com/office/powerpoint/2010/main" val="944212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484882" y="539477"/>
            <a:ext cx="9059100" cy="6626536"/>
          </a:xfrm>
          <a:ln cap="flat">
            <a:solidFill>
              <a:srgbClr val="999999"/>
            </a:solidFill>
            <a:round/>
            <a:headEnd/>
            <a:tailEnd/>
          </a:ln>
        </p:spPr>
        <p:txBody>
          <a:bodyPr lIns="108000" tIns="142272" rIns="108000" bIns="108000"/>
          <a:lstStyle/>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pycuda.gpuarray</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smtClean="0">
                <a:solidFill>
                  <a:srgbClr val="0070C0"/>
                </a:solidFill>
                <a:latin typeface="Consolas" charset="0"/>
                <a:cs typeface="Monaco" charset="0"/>
              </a:rPr>
              <a:t>gpuarray</a:t>
            </a:r>
            <a:endParaRPr lang="es-AR" sz="1800" b="1" dirty="0" smtClean="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a:solidFill>
                  <a:srgbClr val="0070C0"/>
                </a:solidFill>
                <a:latin typeface="Consolas" charset="0"/>
                <a:cs typeface="Monaco" charset="0"/>
              </a:rPr>
              <a:t>pycuda.driver</a:t>
            </a:r>
            <a:r>
              <a:rPr lang="es-AR" sz="1800" dirty="0">
                <a:latin typeface="Consolas" charset="0"/>
                <a:cs typeface="Monaco" charset="0"/>
              </a:rPr>
              <a:t> </a:t>
            </a:r>
            <a:r>
              <a:rPr lang="es-AR" sz="1800" b="1" dirty="0">
                <a:solidFill>
                  <a:srgbClr val="00B050"/>
                </a:solidFill>
                <a:latin typeface="Consolas" charset="0"/>
                <a:cs typeface="Monaco" charset="0"/>
              </a:rPr>
              <a:t>as</a:t>
            </a:r>
            <a:r>
              <a:rPr lang="es-AR" sz="1800" dirty="0">
                <a:latin typeface="Consolas" charset="0"/>
                <a:cs typeface="Monaco" charset="0"/>
              </a:rPr>
              <a:t> </a:t>
            </a:r>
            <a:r>
              <a:rPr lang="es-AR" sz="1800" b="1" dirty="0" err="1">
                <a:solidFill>
                  <a:srgbClr val="0070C0"/>
                </a:solidFill>
                <a:latin typeface="Consolas" charset="0"/>
                <a:cs typeface="Monaco" charset="0"/>
              </a:rPr>
              <a:t>cuda</a:t>
            </a:r>
            <a:endParaRPr lang="es-AR" sz="1800" b="1" dirty="0">
              <a:solidFill>
                <a:srgbClr val="0070C0"/>
              </a:solidFill>
              <a:latin typeface="Consolas" charset="0"/>
              <a:cs typeface="Monaco" charset="0"/>
            </a:endParaRPr>
          </a:p>
          <a:p>
            <a:pPr>
              <a:spcAft>
                <a:spcPts val="400"/>
              </a:spcAft>
            </a:pPr>
            <a:r>
              <a:rPr lang="es-AR" sz="1800" b="1" dirty="0" err="1" smtClean="0">
                <a:solidFill>
                  <a:srgbClr val="00B050"/>
                </a:solidFill>
                <a:latin typeface="Consolas" charset="0"/>
                <a:cs typeface="Monaco" charset="0"/>
              </a:rPr>
              <a:t>import</a:t>
            </a:r>
            <a:r>
              <a:rPr lang="es-AR" sz="1800" dirty="0" smtClean="0">
                <a:latin typeface="Consolas" charset="0"/>
                <a:cs typeface="Monaco" charset="0"/>
              </a:rPr>
              <a:t> </a:t>
            </a:r>
            <a:r>
              <a:rPr lang="es-AR" sz="1800" b="1" dirty="0" err="1">
                <a:solidFill>
                  <a:srgbClr val="0070C0"/>
                </a:solidFill>
                <a:latin typeface="Consolas" charset="0"/>
                <a:cs typeface="Monaco" charset="0"/>
              </a:rPr>
              <a:t>pycuda.autoinit</a:t>
            </a:r>
            <a:endParaRPr lang="es-AR" sz="1800" b="1" dirty="0">
              <a:solidFill>
                <a:srgbClr val="0070C0"/>
              </a:solidFill>
              <a:latin typeface="Consolas" charset="0"/>
              <a:cs typeface="Monaco" charset="0"/>
            </a:endParaRPr>
          </a:p>
          <a:p>
            <a:pPr>
              <a:spcAft>
                <a:spcPts val="400"/>
              </a:spcAft>
            </a:pPr>
            <a:r>
              <a:rPr lang="es-AR" sz="1800" b="1" dirty="0" err="1">
                <a:solidFill>
                  <a:srgbClr val="00B050"/>
                </a:solidFill>
                <a:latin typeface="Consolas" charset="0"/>
                <a:cs typeface="Monaco" charset="0"/>
              </a:rPr>
              <a:t>from</a:t>
            </a:r>
            <a:r>
              <a:rPr lang="es-AR" sz="1800" dirty="0">
                <a:latin typeface="Consolas" charset="0"/>
                <a:cs typeface="Monaco" charset="0"/>
              </a:rPr>
              <a:t> </a:t>
            </a:r>
            <a:r>
              <a:rPr lang="es-AR" sz="1800" b="1" dirty="0" err="1">
                <a:solidFill>
                  <a:srgbClr val="0070C0"/>
                </a:solidFill>
                <a:latin typeface="Consolas" charset="0"/>
                <a:cs typeface="Monaco" charset="0"/>
              </a:rPr>
              <a:t>pycuda.reduction</a:t>
            </a:r>
            <a:r>
              <a:rPr lang="es-AR" sz="1800" dirty="0">
                <a:latin typeface="Consolas" charset="0"/>
                <a:cs typeface="Monaco" charset="0"/>
              </a:rPr>
              <a:t> </a:t>
            </a:r>
            <a:r>
              <a:rPr lang="es-AR" sz="1800" b="1" dirty="0" err="1">
                <a:solidFill>
                  <a:srgbClr val="00B050"/>
                </a:solidFill>
                <a:latin typeface="Consolas" charset="0"/>
                <a:cs typeface="Monaco" charset="0"/>
              </a:rPr>
              <a:t>import</a:t>
            </a:r>
            <a:r>
              <a:rPr lang="es-AR" sz="1800" dirty="0">
                <a:latin typeface="Consolas" charset="0"/>
                <a:cs typeface="Monaco" charset="0"/>
              </a:rPr>
              <a:t> </a:t>
            </a:r>
            <a:r>
              <a:rPr lang="es-AR" sz="1800" b="1" dirty="0" err="1" smtClean="0">
                <a:solidFill>
                  <a:srgbClr val="0070C0"/>
                </a:solidFill>
                <a:latin typeface="Consolas" charset="0"/>
                <a:cs typeface="Monaco" charset="0"/>
              </a:rPr>
              <a:t>ReductionKernel</a:t>
            </a:r>
            <a:endParaRPr lang="es-AR" sz="1800" dirty="0" smtClean="0">
              <a:latin typeface="Consolas" charset="0"/>
              <a:cs typeface="Monaco" charset="0"/>
            </a:endParaRPr>
          </a:p>
          <a:p>
            <a:pPr>
              <a:spcAft>
                <a:spcPts val="400"/>
              </a:spcAft>
            </a:pPr>
            <a:r>
              <a:rPr lang="es-AR" sz="1800" b="1" dirty="0" err="1">
                <a:solidFill>
                  <a:srgbClr val="00B050"/>
                </a:solidFill>
                <a:latin typeface="Consolas" charset="0"/>
                <a:cs typeface="Monaco" charset="0"/>
              </a:rPr>
              <a:t>import</a:t>
            </a:r>
            <a:r>
              <a:rPr lang="es-AR" sz="1800" dirty="0" smtClean="0">
                <a:latin typeface="Consolas" charset="0"/>
                <a:cs typeface="Monaco" charset="0"/>
              </a:rPr>
              <a:t> </a:t>
            </a:r>
            <a:r>
              <a:rPr lang="es-AR" sz="1800" b="1" dirty="0" err="1">
                <a:solidFill>
                  <a:srgbClr val="0070C0"/>
                </a:solidFill>
                <a:latin typeface="Consolas" charset="0"/>
                <a:cs typeface="Monaco" charset="0"/>
              </a:rPr>
              <a:t>numpy</a:t>
            </a:r>
            <a:r>
              <a:rPr lang="es-AR" sz="1800" dirty="0" smtClean="0">
                <a:latin typeface="Consolas" charset="0"/>
                <a:cs typeface="Monaco" charset="0"/>
              </a:rPr>
              <a:t> </a:t>
            </a:r>
            <a:r>
              <a:rPr lang="es-AR" sz="1800" b="1" dirty="0">
                <a:solidFill>
                  <a:srgbClr val="00B050"/>
                </a:solidFill>
                <a:latin typeface="Consolas" charset="0"/>
                <a:cs typeface="Monaco" charset="0"/>
              </a:rPr>
              <a:t>as</a:t>
            </a:r>
            <a:r>
              <a:rPr lang="es-AR" sz="1800" dirty="0" smtClean="0">
                <a:latin typeface="Consolas" charset="0"/>
                <a:cs typeface="Monaco" charset="0"/>
              </a:rPr>
              <a:t> </a:t>
            </a:r>
            <a:r>
              <a:rPr lang="es-AR" sz="1800" b="1" dirty="0" err="1">
                <a:solidFill>
                  <a:srgbClr val="0070C0"/>
                </a:solidFill>
                <a:latin typeface="Consolas" charset="0"/>
                <a:cs typeface="Monaco" charset="0"/>
              </a:rPr>
              <a:t>np</a:t>
            </a:r>
            <a:endParaRPr lang="es-AR" sz="1800" b="1" dirty="0">
              <a:solidFill>
                <a:srgbClr val="0070C0"/>
              </a:solidFill>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a:latin typeface="Consolas" charset="0"/>
                <a:cs typeface="Monaco" charset="0"/>
              </a:rPr>
              <a:t>a = </a:t>
            </a:r>
            <a:r>
              <a:rPr lang="es-AR" sz="1800" dirty="0" err="1">
                <a:latin typeface="Consolas" charset="0"/>
                <a:cs typeface="Monaco" charset="0"/>
              </a:rPr>
              <a:t>gpuarray.arange</a:t>
            </a:r>
            <a:r>
              <a:rPr lang="es-AR" sz="1800" dirty="0">
                <a:latin typeface="Consolas" charset="0"/>
                <a:cs typeface="Monaco" charset="0"/>
              </a:rPr>
              <a:t>(400, </a:t>
            </a:r>
            <a:r>
              <a:rPr lang="es-AR" sz="1800" dirty="0" err="1" smtClean="0">
                <a:latin typeface="Consolas" charset="0"/>
                <a:cs typeface="Monaco" charset="0"/>
              </a:rPr>
              <a:t>dtype</a:t>
            </a:r>
            <a:r>
              <a:rPr lang="es-AR" sz="1800" dirty="0" smtClean="0">
                <a:latin typeface="Consolas" charset="0"/>
                <a:cs typeface="Monaco" charset="0"/>
              </a:rPr>
              <a:t>=np.float32</a:t>
            </a:r>
            <a:r>
              <a:rPr lang="es-AR" sz="1800" dirty="0">
                <a:latin typeface="Consolas" charset="0"/>
                <a:cs typeface="Monaco" charset="0"/>
              </a:rPr>
              <a:t>)</a:t>
            </a:r>
          </a:p>
          <a:p>
            <a:pPr>
              <a:spcAft>
                <a:spcPts val="400"/>
              </a:spcAft>
            </a:pPr>
            <a:r>
              <a:rPr lang="es-AR" sz="1800" dirty="0">
                <a:latin typeface="Consolas" charset="0"/>
                <a:cs typeface="Monaco" charset="0"/>
              </a:rPr>
              <a:t>b = </a:t>
            </a:r>
            <a:r>
              <a:rPr lang="es-AR" sz="1800" dirty="0" err="1">
                <a:latin typeface="Consolas" charset="0"/>
                <a:cs typeface="Monaco" charset="0"/>
              </a:rPr>
              <a:t>gpuarray.arange</a:t>
            </a:r>
            <a:r>
              <a:rPr lang="es-AR" sz="1800" dirty="0">
                <a:latin typeface="Consolas" charset="0"/>
                <a:cs typeface="Monaco" charset="0"/>
              </a:rPr>
              <a:t>(400, </a:t>
            </a:r>
            <a:r>
              <a:rPr lang="es-AR" sz="1800" dirty="0" err="1" smtClean="0">
                <a:latin typeface="Consolas" charset="0"/>
                <a:cs typeface="Monaco" charset="0"/>
              </a:rPr>
              <a:t>dtype</a:t>
            </a:r>
            <a:r>
              <a:rPr lang="es-AR" sz="1800" dirty="0" smtClean="0">
                <a:latin typeface="Consolas" charset="0"/>
                <a:cs typeface="Monaco" charset="0"/>
              </a:rPr>
              <a:t>=np.float32)</a:t>
            </a:r>
            <a:endParaRPr lang="es-AR" sz="1800" dirty="0">
              <a:latin typeface="Consolas" charset="0"/>
              <a:cs typeface="Monaco" charset="0"/>
            </a:endParaRP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krnl</a:t>
            </a:r>
            <a:r>
              <a:rPr lang="es-AR" sz="1800" dirty="0">
                <a:latin typeface="Consolas" charset="0"/>
                <a:cs typeface="Monaco" charset="0"/>
              </a:rPr>
              <a:t> = </a:t>
            </a:r>
            <a:r>
              <a:rPr lang="es-AR" sz="1800" dirty="0" err="1" smtClean="0">
                <a:latin typeface="Consolas" charset="0"/>
                <a:cs typeface="Monaco" charset="0"/>
              </a:rPr>
              <a:t>ReductionKernel</a:t>
            </a:r>
            <a:r>
              <a:rPr lang="es-AR" sz="1800" dirty="0" smtClean="0">
                <a:latin typeface="Consolas" charset="0"/>
                <a:cs typeface="Monaco" charset="0"/>
              </a:rPr>
              <a:t>(np.float32</a:t>
            </a:r>
            <a:r>
              <a:rPr lang="es-AR" sz="1800" dirty="0">
                <a:latin typeface="Consolas" charset="0"/>
                <a:cs typeface="Monaco" charset="0"/>
              </a:rPr>
              <a:t>, neutral="0",</a:t>
            </a:r>
          </a:p>
          <a:p>
            <a:pPr>
              <a:spcAft>
                <a:spcPts val="400"/>
              </a:spcAft>
            </a:pPr>
            <a:r>
              <a:rPr lang="es-AR" sz="1800" dirty="0">
                <a:latin typeface="Consolas" charset="0"/>
                <a:cs typeface="Monaco" charset="0"/>
              </a:rPr>
              <a:t>			</a:t>
            </a:r>
            <a:r>
              <a:rPr lang="es-AR" sz="1800" dirty="0" err="1">
                <a:latin typeface="Consolas" charset="0"/>
                <a:cs typeface="Monaco" charset="0"/>
              </a:rPr>
              <a:t>reduce_expr</a:t>
            </a:r>
            <a:r>
              <a:rPr lang="es-AR" sz="1800" dirty="0">
                <a:latin typeface="Consolas" charset="0"/>
                <a:cs typeface="Monaco" charset="0"/>
              </a:rPr>
              <a:t>="</a:t>
            </a:r>
            <a:r>
              <a:rPr lang="es-AR" sz="1800" dirty="0" err="1">
                <a:latin typeface="Consolas" charset="0"/>
                <a:cs typeface="Monaco" charset="0"/>
              </a:rPr>
              <a:t>a+b</a:t>
            </a:r>
            <a:r>
              <a:rPr lang="es-AR" sz="1800" dirty="0">
                <a:latin typeface="Consolas" charset="0"/>
                <a:cs typeface="Monaco" charset="0"/>
              </a:rPr>
              <a:t>", </a:t>
            </a:r>
            <a:r>
              <a:rPr lang="es-AR" sz="1800" dirty="0" err="1">
                <a:latin typeface="Consolas" charset="0"/>
                <a:cs typeface="Monaco" charset="0"/>
              </a:rPr>
              <a:t>map_expr</a:t>
            </a:r>
            <a:r>
              <a:rPr lang="es-AR" sz="1800" dirty="0" smtClean="0">
                <a:latin typeface="Consolas" charset="0"/>
                <a:cs typeface="Monaco" charset="0"/>
              </a:rPr>
              <a:t>= </a:t>
            </a:r>
            <a:r>
              <a:rPr lang="es-AR" sz="1800" dirty="0">
                <a:solidFill>
                  <a:schemeClr val="tx1">
                    <a:lumMod val="50000"/>
                    <a:lumOff val="50000"/>
                  </a:schemeClr>
                </a:solidFill>
                <a:latin typeface="Consolas" charset="0"/>
                <a:cs typeface="Monaco" charset="0"/>
              </a:rPr>
              <a:t>"x[i]*y[i</a:t>
            </a:r>
            <a:r>
              <a:rPr lang="es-AR" sz="1800" u="sng" dirty="0" smtClean="0">
                <a:solidFill>
                  <a:schemeClr val="tx1">
                    <a:lumMod val="50000"/>
                    <a:lumOff val="50000"/>
                  </a:schemeClr>
                </a:solidFill>
                <a:latin typeface="Consolas" charset="0"/>
                <a:cs typeface="Monaco" charset="0"/>
              </a:rPr>
              <a:t>]"</a:t>
            </a:r>
            <a:r>
              <a:rPr lang="es-AR" sz="1800" dirty="0" smtClean="0">
                <a:solidFill>
                  <a:schemeClr val="tx1">
                    <a:lumMod val="50000"/>
                    <a:lumOff val="50000"/>
                  </a:schemeClr>
                </a:solidFill>
                <a:latin typeface="Consolas" charset="0"/>
                <a:cs typeface="Monaco" charset="0"/>
              </a:rPr>
              <a:t> </a:t>
            </a:r>
            <a:r>
              <a:rPr lang="es-AR" sz="1800" dirty="0" smtClean="0">
                <a:latin typeface="Consolas" charset="0"/>
                <a:cs typeface="Monaco" charset="0"/>
              </a:rPr>
              <a:t>,</a:t>
            </a:r>
            <a:endParaRPr lang="es-AR" sz="1800" dirty="0">
              <a:latin typeface="Consolas" charset="0"/>
              <a:cs typeface="Monaco" charset="0"/>
            </a:endParaRPr>
          </a:p>
          <a:p>
            <a:pPr>
              <a:spcAft>
                <a:spcPts val="400"/>
              </a:spcAft>
            </a:pPr>
            <a:r>
              <a:rPr lang="es-AR" sz="1800" dirty="0">
                <a:latin typeface="Consolas" charset="0"/>
                <a:cs typeface="Monaco" charset="0"/>
              </a:rPr>
              <a:t>			</a:t>
            </a:r>
            <a:r>
              <a:rPr lang="es-AR" sz="1800" dirty="0" err="1">
                <a:latin typeface="Consolas" charset="0"/>
                <a:cs typeface="Monaco" charset="0"/>
              </a:rPr>
              <a:t>arguments</a:t>
            </a:r>
            <a:r>
              <a:rPr lang="es-AR" sz="1800" dirty="0">
                <a:latin typeface="Consolas" charset="0"/>
                <a:cs typeface="Monaco" charset="0"/>
              </a:rPr>
              <a:t>="</a:t>
            </a:r>
            <a:r>
              <a:rPr lang="es-AR" sz="1800" dirty="0" err="1">
                <a:latin typeface="Consolas" charset="0"/>
                <a:cs typeface="Monaco" charset="0"/>
              </a:rPr>
              <a:t>float</a:t>
            </a:r>
            <a:r>
              <a:rPr lang="es-AR" sz="1800" dirty="0">
                <a:latin typeface="Consolas" charset="0"/>
                <a:cs typeface="Monaco" charset="0"/>
              </a:rPr>
              <a:t> *x, </a:t>
            </a:r>
            <a:r>
              <a:rPr lang="es-AR" sz="1800" dirty="0" err="1">
                <a:latin typeface="Consolas" charset="0"/>
                <a:cs typeface="Monaco" charset="0"/>
              </a:rPr>
              <a:t>float</a:t>
            </a:r>
            <a:r>
              <a:rPr lang="es-AR" sz="1800" dirty="0">
                <a:latin typeface="Consolas" charset="0"/>
                <a:cs typeface="Monaco" charset="0"/>
              </a:rPr>
              <a:t> *y")</a:t>
            </a:r>
          </a:p>
          <a:p>
            <a:pPr>
              <a:spcAft>
                <a:spcPts val="400"/>
              </a:spcAft>
            </a:pPr>
            <a:endParaRPr lang="es-AR" sz="1800" dirty="0">
              <a:latin typeface="Consolas" charset="0"/>
              <a:cs typeface="Monaco" charset="0"/>
            </a:endParaRPr>
          </a:p>
          <a:p>
            <a:pPr>
              <a:spcAft>
                <a:spcPts val="400"/>
              </a:spcAft>
            </a:pPr>
            <a:r>
              <a:rPr lang="es-AR" sz="1800" dirty="0" err="1">
                <a:latin typeface="Consolas" charset="0"/>
                <a:cs typeface="Monaco" charset="0"/>
              </a:rPr>
              <a:t>my_dot_prod</a:t>
            </a:r>
            <a:r>
              <a:rPr lang="es-AR" sz="1800" dirty="0">
                <a:latin typeface="Consolas" charset="0"/>
                <a:cs typeface="Monaco" charset="0"/>
              </a:rPr>
              <a:t> = </a:t>
            </a:r>
            <a:r>
              <a:rPr lang="es-AR" sz="1800" dirty="0" err="1">
                <a:latin typeface="Consolas" charset="0"/>
                <a:cs typeface="Monaco" charset="0"/>
              </a:rPr>
              <a:t>krnl</a:t>
            </a:r>
            <a:r>
              <a:rPr lang="es-AR" sz="1800" dirty="0">
                <a:latin typeface="Consolas" charset="0"/>
                <a:cs typeface="Monaco" charset="0"/>
              </a:rPr>
              <a:t>(a, b).</a:t>
            </a:r>
            <a:r>
              <a:rPr lang="es-AR" sz="1800" dirty="0" err="1">
                <a:latin typeface="Consolas" charset="0"/>
                <a:cs typeface="Monaco" charset="0"/>
              </a:rPr>
              <a:t>get</a:t>
            </a:r>
            <a:r>
              <a:rPr lang="es-AR" sz="1800" dirty="0">
                <a:latin typeface="Consolas" charset="0"/>
                <a:cs typeface="Monaco" charset="0"/>
              </a:rPr>
              <a:t>()</a:t>
            </a:r>
          </a:p>
          <a:p>
            <a:pPr>
              <a:spcAft>
                <a:spcPts val="400"/>
              </a:spcAft>
            </a:pPr>
            <a:r>
              <a:rPr lang="es-AR" sz="1800" b="1" dirty="0" err="1">
                <a:solidFill>
                  <a:srgbClr val="00B050"/>
                </a:solidFill>
                <a:latin typeface="Consolas" charset="0"/>
                <a:cs typeface="Monaco" charset="0"/>
              </a:rPr>
              <a:t>p</a:t>
            </a:r>
            <a:r>
              <a:rPr lang="es-AR" sz="1800" b="1" dirty="0" err="1" smtClean="0">
                <a:solidFill>
                  <a:srgbClr val="00B050"/>
                </a:solidFill>
                <a:latin typeface="Consolas" charset="0"/>
                <a:cs typeface="Monaco" charset="0"/>
              </a:rPr>
              <a:t>rint</a:t>
            </a:r>
            <a:r>
              <a:rPr lang="es-AR" sz="1800" dirty="0" smtClean="0">
                <a:latin typeface="Consolas" charset="0"/>
                <a:cs typeface="Monaco" charset="0"/>
              </a:rPr>
              <a:t>(</a:t>
            </a:r>
            <a:r>
              <a:rPr lang="es-AR" sz="1800" dirty="0" err="1" smtClean="0">
                <a:latin typeface="Consolas" charset="0"/>
                <a:cs typeface="Monaco" charset="0"/>
              </a:rPr>
              <a:t>my_dot_prod</a:t>
            </a:r>
            <a:r>
              <a:rPr lang="es-AR" sz="1800" dirty="0" smtClean="0">
                <a:latin typeface="Consolas" charset="0"/>
                <a:cs typeface="Monaco" charset="0"/>
              </a:rPr>
              <a:t>)</a:t>
            </a:r>
            <a:endParaRPr lang="es-AR" sz="1800" dirty="0">
              <a:latin typeface="Consolas" charset="0"/>
              <a:cs typeface="Monaco" charset="0"/>
            </a:endParaRPr>
          </a:p>
          <a:p>
            <a:pPr>
              <a:spcAft>
                <a:spcPts val="400"/>
              </a:spcAft>
            </a:pPr>
            <a:r>
              <a:rPr lang="en-US" sz="1800" b="1" dirty="0">
                <a:solidFill>
                  <a:srgbClr val="00B050"/>
                </a:solidFill>
                <a:latin typeface="Consolas" charset="0"/>
                <a:cs typeface="Monaco" charset="0"/>
              </a:rPr>
              <a:t>print</a:t>
            </a:r>
            <a:r>
              <a:rPr lang="en-US" sz="1800" dirty="0">
                <a:latin typeface="Consolas" charset="0"/>
                <a:cs typeface="Monaco" charset="0"/>
              </a:rPr>
              <a:t>( (</a:t>
            </a:r>
            <a:r>
              <a:rPr lang="en-US" sz="1800" dirty="0" err="1">
                <a:latin typeface="Consolas" charset="0"/>
                <a:cs typeface="Monaco" charset="0"/>
              </a:rPr>
              <a:t>my_dot_prod</a:t>
            </a:r>
            <a:r>
              <a:rPr lang="en-US" sz="1800" dirty="0">
                <a:latin typeface="Consolas" charset="0"/>
                <a:cs typeface="Monaco" charset="0"/>
              </a:rPr>
              <a:t> - </a:t>
            </a:r>
            <a:r>
              <a:rPr lang="en-US" sz="1800" dirty="0" err="1">
                <a:latin typeface="Consolas" charset="0"/>
                <a:cs typeface="Monaco" charset="0"/>
              </a:rPr>
              <a:t>gpuarray.sum</a:t>
            </a:r>
            <a:r>
              <a:rPr lang="en-US" sz="1800" dirty="0">
                <a:latin typeface="Consolas" charset="0"/>
                <a:cs typeface="Monaco" charset="0"/>
              </a:rPr>
              <a:t>(a*b).get()) &lt; 1e-6)</a:t>
            </a:r>
            <a:endParaRPr lang="es-AR" sz="1800" dirty="0">
              <a:latin typeface="Consolas" charset="0"/>
              <a:cs typeface="Monaco" charset="0"/>
            </a:endParaRPr>
          </a:p>
        </p:txBody>
      </p:sp>
      <p:sp>
        <p:nvSpPr>
          <p:cNvPr id="4" name="Rectángulo 3"/>
          <p:cNvSpPr/>
          <p:nvPr/>
        </p:nvSpPr>
        <p:spPr>
          <a:xfrm>
            <a:off x="7993558" y="168264"/>
            <a:ext cx="1550424" cy="358240"/>
          </a:xfrm>
          <a:prstGeom prst="rect">
            <a:avLst/>
          </a:prstGeom>
        </p:spPr>
        <p:txBody>
          <a:bodyPr wrap="none">
            <a:spAutoFit/>
          </a:bodyPr>
          <a:lstStyle/>
          <a:p>
            <a:pPr marL="107950">
              <a:spcAft>
                <a:spcPts val="875"/>
              </a:spcAft>
              <a:buSzPct val="45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i="1" dirty="0" smtClean="0">
                <a:solidFill>
                  <a:srgbClr val="000000"/>
                </a:solidFill>
                <a:latin typeface="Gill Sans Light"/>
                <a:cs typeface="Gill Sans Light"/>
              </a:rPr>
              <a:t>reduction.py</a:t>
            </a:r>
            <a:endParaRPr lang="en-US" i="1" dirty="0">
              <a:solidFill>
                <a:srgbClr val="000000"/>
              </a:solidFill>
              <a:latin typeface="Gill Sans Light"/>
              <a:cs typeface="Gill Sans Light"/>
            </a:endParaRPr>
          </a:p>
        </p:txBody>
      </p:sp>
    </p:spTree>
    <p:extLst>
      <p:ext uri="{BB962C8B-B14F-4D97-AF65-F5344CB8AC3E}">
        <p14:creationId xmlns:p14="http://schemas.microsoft.com/office/powerpoint/2010/main" val="231459560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95956" y="611485"/>
            <a:ext cx="8856663" cy="7921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FFFFFF"/>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57096" rIns="90000" bIns="45000" anchor="ctr" anchorCtr="1"/>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5pPr>
            <a:lvl6pPr marL="25146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6pPr>
            <a:lvl7pPr marL="29718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7pPr>
            <a:lvl8pPr marL="34290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8pPr>
            <a:lvl9pPr marL="3886200" indent="-228600" defTabSz="449263" fontAlgn="base" hangingPunct="0">
              <a:lnSpc>
                <a:spcPct val="96000"/>
              </a:lnSpc>
              <a:spcBef>
                <a:spcPct val="0"/>
              </a:spcBef>
              <a:spcAft>
                <a:spcPct val="0"/>
              </a:spcAft>
              <a:buClr>
                <a:srgbClr val="000000"/>
              </a:buClr>
              <a:buSzPct val="100000"/>
              <a:buFont typeface="Times New Roman"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Gill Sans" charset="0"/>
                <a:ea typeface="SimSun" charset="0"/>
                <a:cs typeface="SimSun" charset="0"/>
              </a:defRPr>
            </a:lvl9pPr>
          </a:lstStyle>
          <a:p>
            <a:r>
              <a:rPr lang="en-US" sz="2400" dirty="0"/>
              <a:t>GPGPU Algorithms</a:t>
            </a:r>
          </a:p>
        </p:txBody>
      </p:sp>
      <p:sp>
        <p:nvSpPr>
          <p:cNvPr id="6" name="Rectángulo 5"/>
          <p:cNvSpPr/>
          <p:nvPr/>
        </p:nvSpPr>
        <p:spPr>
          <a:xfrm>
            <a:off x="1223888" y="1763613"/>
            <a:ext cx="7632848" cy="890052"/>
          </a:xfrm>
          <a:prstGeom prst="rect">
            <a:avLst/>
          </a:prstGeom>
        </p:spPr>
        <p:txBody>
          <a:bodyPr wrap="square">
            <a:spAutoFit/>
          </a:bodyPr>
          <a:lstStyle/>
          <a:p>
            <a:r>
              <a:rPr lang="en-US" dirty="0" smtClean="0"/>
              <a:t>Bogdan </a:t>
            </a:r>
            <a:r>
              <a:rPr lang="en-US" dirty="0" err="1" smtClean="0"/>
              <a:t>Opanchuk’s</a:t>
            </a:r>
            <a:r>
              <a:rPr lang="en-US" dirty="0" smtClean="0"/>
              <a:t> </a:t>
            </a:r>
            <a:r>
              <a:rPr lang="en-US" b="1" dirty="0" err="1" smtClean="0"/>
              <a:t>reikna</a:t>
            </a:r>
            <a:r>
              <a:rPr lang="en-US" dirty="0" smtClean="0"/>
              <a:t> offers a variety of GPU-based algorithms (FFT, RNG, matrix multiplication) designed to work with </a:t>
            </a:r>
            <a:r>
              <a:rPr lang="en-US" dirty="0" err="1" smtClean="0"/>
              <a:t>pycuda.gpuarray.GPUArray</a:t>
            </a:r>
            <a:r>
              <a:rPr lang="en-US" dirty="0" smtClean="0"/>
              <a:t> objects.</a:t>
            </a:r>
            <a:endParaRPr lang="en-US" dirty="0"/>
          </a:p>
        </p:txBody>
      </p:sp>
      <p:sp>
        <p:nvSpPr>
          <p:cNvPr id="7" name="Rectangle 3"/>
          <p:cNvSpPr>
            <a:spLocks noChangeArrowheads="1"/>
          </p:cNvSpPr>
          <p:nvPr/>
        </p:nvSpPr>
        <p:spPr bwMode="auto">
          <a:xfrm>
            <a:off x="575816" y="3774320"/>
            <a:ext cx="9108850" cy="3152753"/>
          </a:xfrm>
          <a:prstGeom prst="rect">
            <a:avLst/>
          </a:prstGeom>
          <a:solidFill>
            <a:srgbClr val="FDFDF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7113" tIns="104742" rIns="0" bIns="0" numCol="1" anchor="ctr" anchorCtr="0" compatLnSpc="1">
            <a:prstTxWarp prst="textNoShape">
              <a:avLst/>
            </a:prstTxWarp>
            <a:spAutoFit/>
          </a:bodyPr>
          <a:lstStyle>
            <a:lvl1pPr eaLnBrk="0">
              <a:defRPr>
                <a:solidFill>
                  <a:schemeClr val="tx1"/>
                </a:solidFill>
                <a:latin typeface="Arial" panose="020B0604020202020204" pitchFamily="34" charset="0"/>
              </a:defRPr>
            </a:lvl1pPr>
            <a:lvl2pPr marL="457200" eaLnBrk="0">
              <a:defRPr>
                <a:solidFill>
                  <a:schemeClr val="tx1"/>
                </a:solidFill>
                <a:latin typeface="Arial" panose="020B0604020202020204" pitchFamily="34" charset="0"/>
              </a:defRPr>
            </a:lvl2pPr>
            <a:lvl3pPr marL="914400" eaLnBrk="0">
              <a:defRPr>
                <a:solidFill>
                  <a:schemeClr val="tx1"/>
                </a:solidFill>
                <a:latin typeface="Arial" panose="020B0604020202020204" pitchFamily="34" charset="0"/>
              </a:defRPr>
            </a:lvl3pPr>
            <a:lvl4pPr marL="1371600" eaLnBrk="0">
              <a:defRPr>
                <a:solidFill>
                  <a:schemeClr val="tx1"/>
                </a:solidFill>
                <a:latin typeface="Arial" panose="020B0604020202020204" pitchFamily="34" charset="0"/>
              </a:defRPr>
            </a:lvl4pPr>
            <a:lvl5pPr marL="1828800" eaLnBrk="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smtClean="0">
                <a:latin typeface="Gill Sans" charset="0"/>
              </a:rPr>
              <a:t>Reikna</a:t>
            </a:r>
            <a:r>
              <a:rPr lang="en-US" altLang="en-US" dirty="0">
                <a:latin typeface="Gill Sans" charset="0"/>
              </a:rPr>
              <a:t> is a library containing various GPU algorithms built on </a:t>
            </a:r>
            <a:r>
              <a:rPr lang="en-US" altLang="en-US" dirty="0" smtClean="0">
                <a:latin typeface="Gill Sans" charset="0"/>
              </a:rPr>
              <a:t>top of</a:t>
            </a:r>
            <a:r>
              <a:rPr lang="en-US" altLang="en-US" dirty="0">
                <a:latin typeface="Gill Sans" charset="0"/>
              </a:rPr>
              <a:t> </a:t>
            </a:r>
            <a:r>
              <a:rPr lang="en-US" altLang="en-US" dirty="0" err="1">
                <a:latin typeface="Gill Sans" charset="0"/>
                <a:hlinkClick r:id="rId3"/>
              </a:rPr>
              <a:t>PyCUDA</a:t>
            </a:r>
            <a:r>
              <a:rPr lang="en-US" altLang="en-US" dirty="0">
                <a:latin typeface="Gill Sans" charset="0"/>
              </a:rPr>
              <a:t> and </a:t>
            </a:r>
            <a:r>
              <a:rPr lang="en-US" altLang="en-US" dirty="0" err="1">
                <a:latin typeface="Gill Sans" charset="0"/>
                <a:hlinkClick r:id="rId4"/>
              </a:rPr>
              <a:t>PyOpenCL</a:t>
            </a:r>
            <a:r>
              <a:rPr lang="en-US" altLang="en-US" dirty="0">
                <a:latin typeface="Gill Sans" charset="0"/>
              </a:rPr>
              <a:t>. </a:t>
            </a:r>
            <a:r>
              <a:rPr lang="en-US" altLang="en-US" dirty="0">
                <a:latin typeface="Gill Sans" charset="0"/>
              </a:rPr>
              <a:t>The main design goals </a:t>
            </a:r>
            <a:r>
              <a:rPr lang="en-US" altLang="en-US" dirty="0" smtClean="0">
                <a:latin typeface="Gill Sans" charset="0"/>
              </a:rPr>
              <a:t>are: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smtClean="0">
              <a:latin typeface="Gill Sans"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smtClean="0">
                <a:latin typeface="Gill Sans" charset="0"/>
              </a:rPr>
              <a:t>separation </a:t>
            </a:r>
            <a:r>
              <a:rPr lang="en-US" altLang="en-US" dirty="0">
                <a:latin typeface="Gill Sans" charset="0"/>
              </a:rPr>
              <a:t>of computation cores (matrix multiplication, random numbers generation </a:t>
            </a:r>
            <a:r>
              <a:rPr lang="en-US" altLang="en-US" dirty="0" err="1">
                <a:latin typeface="Gill Sans" charset="0"/>
              </a:rPr>
              <a:t>etc</a:t>
            </a:r>
            <a:r>
              <a:rPr lang="en-US" altLang="en-US" dirty="0">
                <a:latin typeface="Gill Sans" charset="0"/>
              </a:rPr>
              <a:t>) from simple transformations on their input and output values (scaling, typecast </a:t>
            </a:r>
            <a:r>
              <a:rPr lang="en-US" altLang="en-US" dirty="0" err="1">
                <a:latin typeface="Gill Sans" charset="0"/>
              </a:rPr>
              <a:t>etc</a:t>
            </a:r>
            <a:r>
              <a:rPr lang="en-US" altLang="en-US" dirty="0" smtClean="0">
                <a:latin typeface="Gill Sans"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smtClean="0">
                <a:latin typeface="Gill Sans" charset="0"/>
              </a:rPr>
              <a:t>separation </a:t>
            </a:r>
            <a:r>
              <a:rPr lang="en-US" altLang="en-US" dirty="0">
                <a:latin typeface="Gill Sans" charset="0"/>
              </a:rPr>
              <a:t>of the preparation and execution stage, maximizing the performance of the execution stage at the expense of the preparation stage (in other words, aiming at large </a:t>
            </a:r>
            <a:r>
              <a:rPr lang="en-US" altLang="en-US" dirty="0" smtClean="0">
                <a:latin typeface="Gill Sans" charset="0"/>
              </a:rPr>
              <a:t>simulations)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smtClean="0">
                <a:latin typeface="Gill Sans" charset="0"/>
              </a:rPr>
              <a:t>partial </a:t>
            </a:r>
            <a:r>
              <a:rPr lang="en-US" altLang="en-US" dirty="0">
                <a:latin typeface="Gill Sans" charset="0"/>
              </a:rPr>
              <a:t>abstraction from CUDA/</a:t>
            </a:r>
            <a:r>
              <a:rPr lang="en-US" altLang="en-US" dirty="0" err="1">
                <a:latin typeface="Gill Sans" charset="0"/>
              </a:rPr>
              <a:t>OpenCL</a:t>
            </a:r>
            <a:endParaRPr lang="en-US" altLang="en-US" dirty="0">
              <a:latin typeface="Gill Sans"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ángulo 7"/>
          <p:cNvSpPr/>
          <p:nvPr/>
        </p:nvSpPr>
        <p:spPr>
          <a:xfrm>
            <a:off x="3434744" y="2889647"/>
            <a:ext cx="3211135" cy="358240"/>
          </a:xfrm>
          <a:prstGeom prst="rect">
            <a:avLst/>
          </a:prstGeom>
        </p:spPr>
        <p:txBody>
          <a:bodyPr wrap="none">
            <a:spAutoFit/>
          </a:bodyPr>
          <a:lstStyle/>
          <a:p>
            <a:r>
              <a:rPr lang="en-US" dirty="0">
                <a:solidFill>
                  <a:schemeClr val="accent2"/>
                </a:solidFill>
                <a:hlinkClick r:id="rId5"/>
              </a:rPr>
              <a:t>https://pypi.org/project/reikna</a:t>
            </a:r>
            <a:r>
              <a:rPr lang="en-US" dirty="0">
                <a:hlinkClick r:id="rId5"/>
              </a:rPr>
              <a:t>/</a:t>
            </a:r>
            <a:endParaRPr lang="en-US" dirty="0"/>
          </a:p>
        </p:txBody>
      </p:sp>
    </p:spTree>
    <p:extLst>
      <p:ext uri="{BB962C8B-B14F-4D97-AF65-F5344CB8AC3E}">
        <p14:creationId xmlns:p14="http://schemas.microsoft.com/office/powerpoint/2010/main" val="818227023"/>
      </p:ext>
    </p:extLst>
  </p:cSld>
  <p:clrMapOvr>
    <a:masterClrMapping/>
  </p:clrMapOvr>
</p:sld>
</file>

<file path=ppt/theme/theme1.xml><?xml version="1.0" encoding="utf-8"?>
<a:theme xmlns:a="http://schemas.openxmlformats.org/drawingml/2006/main" name="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Gill Sans"/>
        <a:ea typeface="SimSun"/>
        <a:cs typeface="SimSun"/>
      </a:majorFont>
      <a:minorFont>
        <a:latin typeface="Gill Sans"/>
        <a:ea typeface="SimSun"/>
        <a:cs typeface="SimSu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6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effectLst/>
            <a:latin typeface="Gill Sans" charset="0"/>
            <a:ea typeface="SimSun" charset="0"/>
            <a:cs typeface="SimSun"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6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effectLst/>
            <a:latin typeface="Gill Sans" charset="0"/>
            <a:ea typeface="SimSun" charset="0"/>
            <a:cs typeface="SimSun" charset="0"/>
          </a:defRPr>
        </a:defPPr>
      </a:lstStyle>
    </a:lnDef>
    <a:txDef>
      <a:spPr bwMode="auto">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a:spPr>
      <a:bodyPr wrap="none" lIns="90000" tIns="54072" rIns="90000" bIns="45000"/>
      <a:lstStyle>
        <a:defPPr algn="r">
          <a:defRPr dirty="0">
            <a:latin typeface="Gill Sans Light" charset="0"/>
          </a:defRPr>
        </a:defPPr>
      </a:lstStyle>
    </a:tx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3485</TotalTime>
  <Words>1438</Words>
  <Application>Microsoft Office PowerPoint</Application>
  <PresentationFormat>Personalizado</PresentationFormat>
  <Paragraphs>323</Paragraphs>
  <Slides>22</Slides>
  <Notes>21</Notes>
  <HiddenSlides>0</HiddenSlides>
  <MMClips>0</MMClips>
  <ScaleCrop>false</ScaleCrop>
  <HeadingPairs>
    <vt:vector size="6" baseType="variant">
      <vt:variant>
        <vt:lpstr>Fuentes usadas</vt:lpstr>
      </vt:variant>
      <vt:variant>
        <vt:i4>10</vt:i4>
      </vt:variant>
      <vt:variant>
        <vt:lpstr>Tema</vt:lpstr>
      </vt:variant>
      <vt:variant>
        <vt:i4>3</vt:i4>
      </vt:variant>
      <vt:variant>
        <vt:lpstr>Títulos de diapositiva</vt:lpstr>
      </vt:variant>
      <vt:variant>
        <vt:i4>22</vt:i4>
      </vt:variant>
    </vt:vector>
  </HeadingPairs>
  <TitlesOfParts>
    <vt:vector size="35" baseType="lpstr">
      <vt:lpstr>MS PGothic</vt:lpstr>
      <vt:lpstr>SimSun</vt:lpstr>
      <vt:lpstr>Arial</vt:lpstr>
      <vt:lpstr>Calibri</vt:lpstr>
      <vt:lpstr>Consolas</vt:lpstr>
      <vt:lpstr>Gill Sans</vt:lpstr>
      <vt:lpstr>Gill Sans Light</vt:lpstr>
      <vt:lpstr>Monaco</vt:lpstr>
      <vt:lpstr>Tahoma</vt:lpstr>
      <vt:lpstr>Times New Roman</vt:lpstr>
      <vt:lpstr>Tema de Office</vt:lpstr>
      <vt:lpstr>1_Diseño personalizado</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Pablo Cappagli</dc:creator>
  <cp:lastModifiedBy>Usuario de Windows</cp:lastModifiedBy>
  <cp:revision>167</cp:revision>
  <cp:lastPrinted>1601-01-01T00:00:00Z</cp:lastPrinted>
  <dcterms:created xsi:type="dcterms:W3CDTF">2013-09-13T11:22:45Z</dcterms:created>
  <dcterms:modified xsi:type="dcterms:W3CDTF">2019-04-30T17:06:47Z</dcterms:modified>
</cp:coreProperties>
</file>